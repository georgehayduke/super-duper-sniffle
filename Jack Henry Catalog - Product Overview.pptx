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5216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8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58968" y="-9144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888736" y="-9144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318504" y="-9144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748272" y="-9144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78040" y="-9144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0" y="42976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58968" y="42976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88736" y="42976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18504" y="42976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748272" y="42976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78040" y="42976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0" y="95097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58968" y="95097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888736" y="95097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18504" y="95097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748272" y="95097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78040" y="95097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0" y="147218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58968" y="147218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888736" y="147218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18504" y="147218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748272" y="147218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178040" y="147218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29200" y="199339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58968" y="199339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888736" y="199339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18504" y="199339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48272" y="199339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178040" y="199339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029200" y="251460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458968" y="251460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888736" y="251460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18504" y="251460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748272" y="251460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178040" y="251460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029200" y="303580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458968" y="303580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888736" y="303580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318504" y="303580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748272" y="303580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178040" y="303580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029200" y="355701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458968" y="355701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888736" y="355701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318504" y="355701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748272" y="355701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178040" y="355701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029200" y="407822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458968" y="407822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888736" y="407822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318504" y="407822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748272" y="407822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178040" y="407822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029200" y="459943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458968" y="459943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888736" y="459943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318504" y="459943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748272" y="459943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178040" y="459943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84048" y="50292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Data.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Your Data.</a:t>
            </a:r>
            <a:endParaRPr lang="en-US" sz="5200" dirty="0"/>
          </a:p>
        </p:txBody>
      </p:sp>
      <p:sp>
        <p:nvSpPr>
          <p:cNvPr id="65" name="Shape 63"/>
          <p:cNvSpPr/>
          <p:nvPr/>
        </p:nvSpPr>
        <p:spPr>
          <a:xfrm>
            <a:off x="384048" y="2596896"/>
            <a:ext cx="2377440" cy="64008"/>
          </a:xfrm>
          <a:prstGeom prst="rect">
            <a:avLst/>
          </a:prstGeom>
          <a:solidFill>
            <a:srgbClr val="76DCFD">
              <a:alpha val="70000"/>
            </a:srgbClr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84048" y="2761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Catalog  ·  Powered by Alation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384048" y="32186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 and governance built for financial institutions.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384048" y="3858768"/>
            <a:ext cx="2286000" cy="347472"/>
          </a:xfrm>
          <a:prstGeom prst="rect">
            <a:avLst/>
          </a:prstGeom>
          <a:solidFill>
            <a:srgbClr val="085CE5"/>
          </a:solidFill>
          <a:ln w="1524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84048" y="38587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Professional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2852928" y="3858768"/>
            <a:ext cx="2286000" cy="347472"/>
          </a:xfrm>
          <a:prstGeom prst="rect">
            <a:avLst/>
          </a:prstGeom>
          <a:solidFill>
            <a:srgbClr val="06185F"/>
          </a:solidFill>
          <a:ln w="1524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852928" y="38587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Enterprise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84048" y="485089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Alation · JHBI Data &amp; Analytics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8874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Problem Every FI Faces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everywhere — but finding trustworthy data takes too long, costs too much, and carries real compliance risk.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206240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4206240" cy="54864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02336" y="1243584"/>
            <a:ext cx="402336" cy="402336"/>
          </a:xfrm>
          <a:prstGeom prst="ellipse">
            <a:avLst/>
          </a:prstGeom>
          <a:solidFill>
            <a:srgbClr val="CC2200">
              <a:alpha val="85000"/>
            </a:srgbClr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844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32688" y="1207008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Scattered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0624" y="1627632"/>
            <a:ext cx="38770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data in Symitar. Loan data in SilverLake. Payments in JHA PayCenter. No unified view — analysts spend more time finding data than analyzing it.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1078992"/>
            <a:ext cx="4206240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54880" y="1078992"/>
            <a:ext cx="4206240" cy="54864"/>
          </a:xfrm>
          <a:prstGeom prst="rect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82896" y="1243584"/>
            <a:ext cx="402336" cy="402336"/>
          </a:xfrm>
          <a:prstGeom prst="ellipse">
            <a:avLst/>
          </a:prstGeom>
          <a:solidFill>
            <a:srgbClr val="CC7700">
              <a:alpha val="85000"/>
            </a:srgbClr>
          </a:solidFill>
          <a:ln w="12700">
            <a:solidFill>
              <a:srgbClr val="CC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98448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13248" y="1207008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Know What to Trust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01184" y="1627632"/>
            <a:ext cx="38770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versions of the same report. No indication of which dataset is current, certified, or owned by anyone.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74320" y="2944368"/>
            <a:ext cx="4206240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74320" y="2944368"/>
            <a:ext cx="4206240" cy="54864"/>
          </a:xfrm>
          <a:prstGeom prst="rect">
            <a:avLst/>
          </a:prstGeom>
          <a:solidFill>
            <a:srgbClr val="CC7700"/>
          </a:solidFill>
          <a:ln w="12700">
            <a:solidFill>
              <a:srgbClr val="CC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02336" y="3108960"/>
            <a:ext cx="402336" cy="402336"/>
          </a:xfrm>
          <a:prstGeom prst="ellipse">
            <a:avLst/>
          </a:prstGeom>
          <a:solidFill>
            <a:srgbClr val="CC7700">
              <a:alpha val="85000"/>
            </a:srgbClr>
          </a:solidFill>
          <a:ln w="12700">
            <a:solidFill>
              <a:srgbClr val="CC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163824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32688" y="3072384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Exposure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20624" y="3493008"/>
            <a:ext cx="38770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fields — PII, PCI card numbers, ACH account numbers — accessed without audit trails. Regulators ask questions; teams scramble for answers.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754880" y="2944368"/>
            <a:ext cx="4206240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754880" y="2944368"/>
            <a:ext cx="4206240" cy="54864"/>
          </a:xfrm>
          <a:prstGeom prst="rect">
            <a:avLst/>
          </a:prstGeom>
          <a:solidFill>
            <a:srgbClr val="575A5D"/>
          </a:solidFill>
          <a:ln w="12700">
            <a:solidFill>
              <a:srgbClr val="575A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882896" y="3108960"/>
            <a:ext cx="402336" cy="402336"/>
          </a:xfrm>
          <a:prstGeom prst="ellipse">
            <a:avLst/>
          </a:prstGeom>
          <a:solidFill>
            <a:srgbClr val="575A5D">
              <a:alpha val="85000"/>
            </a:srgbClr>
          </a:solidFill>
          <a:ln w="12700">
            <a:solidFill>
              <a:srgbClr val="575A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163824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13248" y="3072384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Prep Takes Weeks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901184" y="3493008"/>
            <a:ext cx="38770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NCUA call report support or FFIEC documentation is a manual, error-prone process that consumes compliance team bandwidth every quarter.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8874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Platform: Alation Data Intelligence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Alation is the #1 rated data catalog and governance platform. Jack Henry has selected Alation as the engine behind Jack Henry Catalog.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52144"/>
            <a:ext cx="4206240" cy="3547872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52144"/>
            <a:ext cx="4206240" cy="40233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2336" y="1152144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Alation Does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" y="1792224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1682496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Catalogues every data asset — tables, reports, dashboards, columns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2231136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121408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and classifies sensitive data: PII, PCI, ACH, and custom types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" y="2670048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2560320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governance policies automatically at the data access layer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3108960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2999232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data lineage end-to-end — from source to report to decision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" y="3547872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3438144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collaboration between analysts, stewards, and compliance teams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" y="3986784"/>
            <a:ext cx="91440" cy="9144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" y="3877056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Number Station AI — ask questions in English, get governed answers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1152144"/>
            <a:ext cx="4206240" cy="354787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1152144"/>
            <a:ext cx="4206240" cy="402336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9744" y="1152144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Alation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9744" y="16824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272784" y="1719072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Intelligence Platform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(Gartner &amp; Forrester)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9744" y="2304288"/>
            <a:ext cx="3913632" cy="18288"/>
          </a:xfrm>
          <a:prstGeom prst="rect">
            <a:avLst/>
          </a:prstGeom>
          <a:solidFill>
            <a:srgbClr val="085CE5">
              <a:alpha val="40000"/>
            </a:srgbClr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9744" y="243230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272784" y="2468880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customers in financial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healthcare &amp; government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9744" y="3054096"/>
            <a:ext cx="3913632" cy="18288"/>
          </a:xfrm>
          <a:prstGeom prst="rect">
            <a:avLst/>
          </a:prstGeom>
          <a:solidFill>
            <a:srgbClr val="085CE5">
              <a:alpha val="40000"/>
            </a:srgbClr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9744" y="31821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272784" y="321868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rate —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real outcomes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9744" y="3803904"/>
            <a:ext cx="3913632" cy="18288"/>
          </a:xfrm>
          <a:prstGeom prst="rect">
            <a:avLst/>
          </a:prstGeom>
          <a:solidFill>
            <a:srgbClr val="085CE5">
              <a:alpha val="40000"/>
            </a:srgbClr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9744" y="39319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6272784" y="3968496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regulatory audit prep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automated lineage tracking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8874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91440" y="-9144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38328" y="-91440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8096" y="-91440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97864" y="-9144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-91440" y="42976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" y="429768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8096" y="429768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97864" y="42976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-91440" y="95097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8328" y="950976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68096" y="950976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97864" y="95097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-91440" y="1472184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8328" y="1472184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68096" y="1472184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97864" y="1472184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-91440" y="1993392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8328" y="1993392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8096" y="1993392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97864" y="1993392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-91440" y="2514600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38328" y="251460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68096" y="2514600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197864" y="2514600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-91440" y="3035808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8328" y="303580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68096" y="3035808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97864" y="3035808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-91440" y="3557016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38328" y="355701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68096" y="3557016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97864" y="3557016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502920"/>
            <a:ext cx="512064" cy="512064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320040" y="117043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Discovery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Search</a:t>
            </a:r>
            <a:endParaRPr lang="en-US" sz="3200" dirty="0"/>
          </a:p>
        </p:txBody>
      </p:sp>
      <p:sp>
        <p:nvSpPr>
          <p:cNvPr id="39" name="Shape 36"/>
          <p:cNvSpPr/>
          <p:nvPr/>
        </p:nvSpPr>
        <p:spPr>
          <a:xfrm>
            <a:off x="320040" y="2249424"/>
            <a:ext cx="1828800" cy="54864"/>
          </a:xfrm>
          <a:prstGeom prst="rect">
            <a:avLst/>
          </a:prstGeom>
          <a:solidFill>
            <a:srgbClr val="76DCFD">
              <a:alpha val="70000"/>
            </a:srgbClr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320040" y="2377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right data in seconds — not days.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320040" y="2999232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93776" y="2907792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catalog spanning cores, digital, payments &amp; lending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320040" y="347472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93776" y="3383280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 with auto-complete and relevance ranking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320040" y="3950208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493776" y="3858768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glossary with certified definitions &amp; steward ownership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320040" y="4425696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93776" y="4334256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indicators — Endorsed ✓ · Warned ⚠ · Deprecated ✗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5303520" y="0"/>
            <a:ext cx="3840480" cy="82296"/>
          </a:xfrm>
          <a:prstGeom prst="rect">
            <a:avLst/>
          </a:prstGeom>
          <a:solidFill>
            <a:srgbClr val="FEFDF8"/>
          </a:solidFill>
          <a:ln w="12700">
            <a:solidFill>
              <a:srgbClr val="FEF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5577840" y="3474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analysts can do: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5577840" y="731520"/>
            <a:ext cx="3200400" cy="36576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5577840" y="841248"/>
            <a:ext cx="3291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5577840" y="841248"/>
            <a:ext cx="54864" cy="91440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5705856" y="90525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like Google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5705856" y="1161288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'net interest income' — see every certified table, column, and report that contains it, ranked by trust and usage.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5577840" y="1847088"/>
            <a:ext cx="3291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5577840" y="1847088"/>
            <a:ext cx="54864" cy="91440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5705856" y="191109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before you query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5705856" y="2167128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flags tell you whether a dataset is endorsed by a steward, warned, or deprecated — before you write a single line of SQL.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5577840" y="2852928"/>
            <a:ext cx="3291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5577840" y="2852928"/>
            <a:ext cx="54864" cy="91440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5705856" y="291693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definitions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5705856" y="3172968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glossary links terms like 'call report asset category' directly to the tables that implement them. One definition, company-wide.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5577840" y="3858768"/>
            <a:ext cx="3291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5577840" y="3858768"/>
            <a:ext cx="54864" cy="91440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5705856" y="392277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analytics</a:t>
            </a:r>
            <a:endParaRPr lang="en-US" sz="1050" dirty="0"/>
          </a:p>
        </p:txBody>
      </p:sp>
      <p:sp>
        <p:nvSpPr>
          <p:cNvPr id="67" name="Text 64"/>
          <p:cNvSpPr/>
          <p:nvPr/>
        </p:nvSpPr>
        <p:spPr>
          <a:xfrm>
            <a:off x="5705856" y="4178808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datasets are most-used by your best analysts — discover high-value data assets you didn't know existed.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8874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91440" y="-9144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38328" y="-91440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8096" y="-91440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97864" y="-9144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-91440" y="42976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" y="429768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8096" y="429768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97864" y="42976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-91440" y="95097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8328" y="950976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68096" y="950976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97864" y="95097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-91440" y="1472184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8328" y="1472184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68096" y="1472184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97864" y="1472184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-91440" y="1993392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8328" y="1993392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8096" y="1993392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97864" y="1993392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-91440" y="2514600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38328" y="251460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68096" y="2514600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197864" y="2514600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-91440" y="3035808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8328" y="303580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68096" y="3035808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97864" y="3035808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-91440" y="3557016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38328" y="355701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68096" y="3557016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97864" y="3557016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502920"/>
            <a:ext cx="512064" cy="512064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320040" y="117043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Policies</a:t>
            </a:r>
            <a:endParaRPr lang="en-US" sz="3200" dirty="0"/>
          </a:p>
        </p:txBody>
      </p:sp>
      <p:sp>
        <p:nvSpPr>
          <p:cNvPr id="39" name="Shape 36"/>
          <p:cNvSpPr/>
          <p:nvPr/>
        </p:nvSpPr>
        <p:spPr>
          <a:xfrm>
            <a:off x="320040" y="2249424"/>
            <a:ext cx="1828800" cy="54864"/>
          </a:xfrm>
          <a:prstGeom prst="rect">
            <a:avLst/>
          </a:prstGeom>
          <a:solidFill>
            <a:srgbClr val="76DCFD">
              <a:alpha val="70000"/>
            </a:srgbClr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320040" y="2377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rules once. Enforce them everywhere.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320040" y="2999232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93776" y="2907792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Auto-classify PII, PCI, ACH account numbers at ingestion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320040" y="347472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93776" y="3383280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policies to classifications — not individual tables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320040" y="3950208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493776" y="3858768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masking &amp; tokenization enforced at query time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320040" y="4425696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93776" y="4334256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templates for NCUA, FFIEC, SOX compliance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5303520" y="0"/>
            <a:ext cx="3840480" cy="82296"/>
          </a:xfrm>
          <a:prstGeom prst="rect">
            <a:avLst/>
          </a:prstGeom>
          <a:solidFill>
            <a:srgbClr val="FEFDF8"/>
          </a:solidFill>
          <a:ln w="12700">
            <a:solidFill>
              <a:srgbClr val="FEF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5577840" y="3474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in practice: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5577840" y="731520"/>
            <a:ext cx="3200400" cy="36576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5577840" y="841248"/>
            <a:ext cx="3291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5577840" y="841248"/>
            <a:ext cx="54864" cy="91440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5705856" y="90525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policy, platform-wide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5705856" y="1161288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 column as PCI — the enforcement policy follows it across every table, view, and report automatically. No re-wiring.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5577840" y="1847088"/>
            <a:ext cx="3291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5577840" y="1847088"/>
            <a:ext cx="54864" cy="91440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5705856" y="191109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 model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5705856" y="2167128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provides the tooling. Your team controls who sees what: mask data for analysts, show full values to DBAs — same query, different result.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5577840" y="2852928"/>
            <a:ext cx="3291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5577840" y="2852928"/>
            <a:ext cx="54864" cy="91440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5705856" y="291693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account tokenization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5705856" y="3172968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account numbers replaced with irreversible tokens per Nacha AFDS requirements. Vault-stored, never in the warehouse.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5577840" y="3858768"/>
            <a:ext cx="3291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5577840" y="3858768"/>
            <a:ext cx="54864" cy="91440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5705856" y="392277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in one click</a:t>
            </a:r>
            <a:endParaRPr lang="en-US" sz="1050" dirty="0"/>
          </a:p>
        </p:txBody>
      </p:sp>
      <p:sp>
        <p:nvSpPr>
          <p:cNvPr id="67" name="Text 64"/>
          <p:cNvSpPr/>
          <p:nvPr/>
        </p:nvSpPr>
        <p:spPr>
          <a:xfrm>
            <a:off x="5705856" y="4178808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reports pre-formatted for NCUA, FFIEC, and SOX review. Export to PDF — audit prep in minutes, not weeks.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8874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91440" y="-9144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38328" y="-91440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8096" y="-91440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97864" y="-9144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-91440" y="42976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" y="429768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8096" y="429768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97864" y="42976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-91440" y="95097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8328" y="950976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68096" y="950976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97864" y="95097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-91440" y="1472184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8328" y="1472184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68096" y="1472184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97864" y="1472184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-91440" y="1993392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8328" y="1993392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8096" y="1993392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97864" y="1993392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-91440" y="2514600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38328" y="251460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68096" y="2514600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197864" y="2514600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-91440" y="3035808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8328" y="303580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68096" y="3035808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97864" y="3035808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-91440" y="3557016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38328" y="355701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68096" y="3557016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97864" y="3557016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502920"/>
            <a:ext cx="512064" cy="512064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320040" y="117043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Trust Flags</a:t>
            </a:r>
            <a:endParaRPr lang="en-US" sz="3200" dirty="0"/>
          </a:p>
        </p:txBody>
      </p:sp>
      <p:sp>
        <p:nvSpPr>
          <p:cNvPr id="39" name="Shape 36"/>
          <p:cNvSpPr/>
          <p:nvPr/>
        </p:nvSpPr>
        <p:spPr>
          <a:xfrm>
            <a:off x="320040" y="2249424"/>
            <a:ext cx="1828800" cy="54864"/>
          </a:xfrm>
          <a:prstGeom prst="rect">
            <a:avLst/>
          </a:prstGeom>
          <a:solidFill>
            <a:srgbClr val="76DCFD">
              <a:alpha val="70000"/>
            </a:srgbClr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320040" y="2377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number back to its source.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320040" y="2999232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93776" y="2907792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lineage — not just table-to-table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320040" y="347472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93776" y="3383280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lineage graph from source system to dashboard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320040" y="3950208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493776" y="3858768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 — see what breaks before you change anything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320040" y="4425696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93776" y="4334256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Endorsed · Warned · Deprecated trust flags on every asset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5303520" y="0"/>
            <a:ext cx="3840480" cy="82296"/>
          </a:xfrm>
          <a:prstGeom prst="rect">
            <a:avLst/>
          </a:prstGeom>
          <a:solidFill>
            <a:srgbClr val="FEFDF8"/>
          </a:solidFill>
          <a:ln w="12700">
            <a:solidFill>
              <a:srgbClr val="FEF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5577840" y="3474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lineage matters for FIs: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5577840" y="731520"/>
            <a:ext cx="3200400" cy="36576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5577840" y="841248"/>
            <a:ext cx="3291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5577840" y="841248"/>
            <a:ext cx="54864" cy="91440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5705856" y="90525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traceability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5705856" y="1161288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Examiner asks 'where did this number come from?' — show the complete lineage from SilverLake or Symitar to the report in seconds.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5577840" y="1847088"/>
            <a:ext cx="3291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5577840" y="1847088"/>
            <a:ext cx="54864" cy="91440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5705856" y="191109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5705856" y="2167128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changing a Silver layer field, Alation shows every downstream Power BI report affected. No more broken dashboards after schema changes.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5577840" y="2852928"/>
            <a:ext cx="3291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5577840" y="2852928"/>
            <a:ext cx="54864" cy="91440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5705856" y="291693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confidence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5705856" y="3172968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engineers know exactly what will break before they touch anything. Fewer incidents, faster development cycles.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5577840" y="3858768"/>
            <a:ext cx="3291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5577840" y="3858768"/>
            <a:ext cx="54864" cy="91440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5705856" y="392277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at every tier</a:t>
            </a:r>
            <a:endParaRPr lang="en-US" sz="1050" dirty="0"/>
          </a:p>
        </p:txBody>
      </p:sp>
      <p:sp>
        <p:nvSpPr>
          <p:cNvPr id="67" name="Text 64"/>
          <p:cNvSpPr/>
          <p:nvPr/>
        </p:nvSpPr>
        <p:spPr>
          <a:xfrm>
            <a:off x="5705856" y="4178808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Alation-endorsed assets in the Gold layer carry the steward's certification — analysts know what they can rely on for executive reporting.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8874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91440" y="-9144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38328" y="-91440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8096" y="-91440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97864" y="-9144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-91440" y="42976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" y="429768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8096" y="429768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97864" y="42976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-91440" y="95097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8328" y="950976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68096" y="950976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97864" y="95097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-91440" y="1472184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8328" y="1472184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68096" y="1472184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197864" y="1472184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-91440" y="1993392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8328" y="1993392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8096" y="1993392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97864" y="1993392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-91440" y="2514600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38328" y="2514600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68096" y="2514600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197864" y="2514600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-91440" y="3035808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8328" y="3035808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68096" y="3035808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97864" y="3035808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-91440" y="3557016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38328" y="3557016"/>
            <a:ext cx="365760" cy="457200"/>
          </a:xfrm>
          <a:prstGeom prst="rect">
            <a:avLst/>
          </a:prstGeom>
          <a:solidFill>
            <a:srgbClr val="06185F">
              <a:alpha val="8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68096" y="3557016"/>
            <a:ext cx="365760" cy="457200"/>
          </a:xfrm>
          <a:prstGeom prst="rect">
            <a:avLst/>
          </a:prstGeom>
          <a:solidFill>
            <a:srgbClr val="06185F">
              <a:alpha val="22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97864" y="3557016"/>
            <a:ext cx="365760" cy="457200"/>
          </a:xfrm>
          <a:prstGeom prst="rect">
            <a:avLst/>
          </a:prstGeom>
          <a:solidFill>
            <a:srgbClr val="06185F">
              <a:alpha val="14000"/>
            </a:srgbClr>
          </a:solidFill>
          <a:ln w="5080">
            <a:solidFill>
              <a:srgbClr val="06185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502920"/>
            <a:ext cx="512064" cy="512064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320040" y="117043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AI</a:t>
            </a:r>
            <a:endParaRPr lang="en-US" sz="3200" dirty="0"/>
          </a:p>
        </p:txBody>
      </p:sp>
      <p:sp>
        <p:nvSpPr>
          <p:cNvPr id="39" name="Shape 36"/>
          <p:cNvSpPr/>
          <p:nvPr/>
        </p:nvSpPr>
        <p:spPr>
          <a:xfrm>
            <a:off x="320040" y="2249424"/>
            <a:ext cx="1828800" cy="54864"/>
          </a:xfrm>
          <a:prstGeom prst="rect">
            <a:avLst/>
          </a:prstGeom>
          <a:solidFill>
            <a:srgbClr val="76DCFD">
              <a:alpha val="70000"/>
            </a:srgbClr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320040" y="2377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that grows. Questions answered instantly.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320040" y="2999232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93776" y="2907792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threads and Q&amp;A directly on data assets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320040" y="347472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93776" y="3383280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Wiki-style documentation maintained by data stewards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320040" y="3950208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493776" y="3858768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Station AI: ask business questions in plain English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320040" y="4425696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93776" y="4334256"/>
            <a:ext cx="4535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scoped to your access level — governance-enforced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5303520" y="0"/>
            <a:ext cx="3840480" cy="82296"/>
          </a:xfrm>
          <a:prstGeom prst="rect">
            <a:avLst/>
          </a:prstGeom>
          <a:solidFill>
            <a:srgbClr val="FEFDF8"/>
          </a:solidFill>
          <a:ln w="12700">
            <a:solidFill>
              <a:srgbClr val="FEF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5577840" y="3474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knows the rules: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5577840" y="731520"/>
            <a:ext cx="3200400" cy="36576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5577840" y="841248"/>
            <a:ext cx="3291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5577840" y="841248"/>
            <a:ext cx="54864" cy="91440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5705856" y="90525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Station AI</a:t>
            </a:r>
            <a:endParaRPr lang="en-US" sz="1050" dirty="0"/>
          </a:p>
        </p:txBody>
      </p:sp>
      <p:sp>
        <p:nvSpPr>
          <p:cNvPr id="55" name="Text 52"/>
          <p:cNvSpPr/>
          <p:nvPr/>
        </p:nvSpPr>
        <p:spPr>
          <a:xfrm>
            <a:off x="5705856" y="1161288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'What were top loan originations last quarter by region?' — get a working, explainable SQL query over certified Gold layer data.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5577840" y="1847088"/>
            <a:ext cx="3291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5577840" y="1847088"/>
            <a:ext cx="54864" cy="91440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5705856" y="191109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Policy-aware by design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5705856" y="2167128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cannot surface data outside your access policy. PII and PCI are masked before any data reaches the model — guaranteed.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5577840" y="2852928"/>
            <a:ext cx="3291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8"/>
          <p:cNvSpPr/>
          <p:nvPr/>
        </p:nvSpPr>
        <p:spPr>
          <a:xfrm>
            <a:off x="5577840" y="2852928"/>
            <a:ext cx="54864" cy="91440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5705856" y="291693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knowledge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5705856" y="3172968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analyst documents a dataset, that knowledge stays with the asset — not in their head or a Slack thread.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5577840" y="3858768"/>
            <a:ext cx="329184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5577840" y="3858768"/>
            <a:ext cx="54864" cy="91440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5705856" y="3922776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curation nudges</a:t>
            </a:r>
            <a:endParaRPr lang="en-US" sz="1050" dirty="0"/>
          </a:p>
        </p:txBody>
      </p:sp>
      <p:sp>
        <p:nvSpPr>
          <p:cNvPr id="67" name="Text 64"/>
          <p:cNvSpPr/>
          <p:nvPr/>
        </p:nvSpPr>
        <p:spPr>
          <a:xfrm>
            <a:off x="5705856" y="4178808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identifies high-traffic undocumented assets and nudges stewards to add descriptions. Catalog quality improves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8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9768" y="-9144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59536" y="-9144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89304" y="-9144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719072" y="-9144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48840" y="-9144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78608" y="-9144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008376" y="-9144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38144" y="-9144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67912" y="-9144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0" y="-9144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27448" y="-9144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42976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9768" y="42976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59536" y="42976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289304" y="42976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719072" y="42976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148840" y="42976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78608" y="42976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008376" y="42976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38144" y="42976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67912" y="42976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97680" y="42976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27448" y="42976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0" y="95097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29768" y="95097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59536" y="95097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289304" y="95097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719072" y="95097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148840" y="95097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578608" y="95097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008376" y="95097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438144" y="95097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867912" y="95097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297680" y="95097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27448" y="95097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0" y="147218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29768" y="147218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59536" y="147218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289304" y="147218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719072" y="147218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148840" y="147218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578608" y="147218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008376" y="147218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438144" y="147218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867912" y="147218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297680" y="147218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727448" y="147218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0" y="199339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29768" y="199339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59536" y="199339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289304" y="199339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719072" y="199339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2148840" y="199339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2578608" y="199339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3008376" y="199339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3438144" y="199339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3867912" y="199339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297680" y="199339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727448" y="199339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0" y="251460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29768" y="251460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59536" y="251460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289304" y="251460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719072" y="251460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148840" y="251460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578608" y="251460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3008376" y="251460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438144" y="251460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3867912" y="251460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4297680" y="251460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4727448" y="251460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0" y="303580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429768" y="303580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859536" y="303580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289304" y="303580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719072" y="303580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148840" y="303580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2578608" y="303580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3008376" y="303580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3438144" y="303580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3867912" y="303580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4297680" y="303580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4727448" y="303580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0" y="355701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429768" y="355701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859536" y="355701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1289304" y="355701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719072" y="355701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2148840" y="355701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2578608" y="355701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3008376" y="355701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3438144" y="355701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3867912" y="355701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4297680" y="355701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4727448" y="355701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0" y="407822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429768" y="407822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859536" y="407822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1289304" y="407822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1719072" y="407822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2148840" y="407822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2578608" y="407822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3008376" y="407822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3438144" y="407822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3867912" y="407822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4297680" y="407822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4727448" y="407822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0" y="459943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429768" y="459943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859536" y="459943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1289304" y="459943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1719072" y="459943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2148840" y="459943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2578608" y="459943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3008376" y="459943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3438144" y="459943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3867912" y="459943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4297680" y="459943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4727448" y="459943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274320" y="48874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365760" y="18288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Two Tiers.</a:t>
            </a:r>
            <a:endParaRPr lang="en-US" sz="3400" dirty="0"/>
          </a:p>
        </p:txBody>
      </p:sp>
      <p:sp>
        <p:nvSpPr>
          <p:cNvPr id="126" name="Text 124"/>
          <p:cNvSpPr/>
          <p:nvPr/>
        </p:nvSpPr>
        <p:spPr>
          <a:xfrm>
            <a:off x="640080" y="74980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Catalog is built on Alation and pre-integrated with the JH ecosystem — available in two editions to match where you are today.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411480" y="1261872"/>
            <a:ext cx="3931920" cy="3383280"/>
          </a:xfrm>
          <a:prstGeom prst="rect">
            <a:avLst/>
          </a:prstGeom>
          <a:solidFill>
            <a:srgbClr val="0A2070"/>
          </a:solidFill>
          <a:ln w="19050">
            <a:solidFill>
              <a:srgbClr val="76DCFD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411480" y="1261872"/>
            <a:ext cx="3931920" cy="51206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548640" y="126187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Professional</a:t>
            </a:r>
            <a:endParaRPr lang="en-US" sz="1600" dirty="0"/>
          </a:p>
        </p:txBody>
      </p:sp>
      <p:sp>
        <p:nvSpPr>
          <p:cNvPr id="130" name="Text 128"/>
          <p:cNvSpPr/>
          <p:nvPr/>
        </p:nvSpPr>
        <p:spPr>
          <a:xfrm>
            <a:off x="548640" y="1865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Data Sources · Governed from Day One</a:t>
            </a:r>
            <a:endParaRPr lang="en-US" sz="1100" dirty="0"/>
          </a:p>
        </p:txBody>
      </p:sp>
      <p:sp>
        <p:nvSpPr>
          <p:cNvPr id="131" name="Shape 129"/>
          <p:cNvSpPr/>
          <p:nvPr/>
        </p:nvSpPr>
        <p:spPr>
          <a:xfrm>
            <a:off x="603504" y="2322576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786384" y="2231136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for jhaKnow &amp; ARCU data assets</a:t>
            </a:r>
            <a:endParaRPr lang="en-US" sz="1050" dirty="0"/>
          </a:p>
        </p:txBody>
      </p:sp>
      <p:sp>
        <p:nvSpPr>
          <p:cNvPr id="133" name="Shape 131"/>
          <p:cNvSpPr/>
          <p:nvPr/>
        </p:nvSpPr>
        <p:spPr>
          <a:xfrm>
            <a:off x="603504" y="2688336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786384" y="2596896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Pre-classified PII, PCI &amp; ACH fields</a:t>
            </a:r>
            <a:endParaRPr lang="en-US" sz="1050" dirty="0"/>
          </a:p>
        </p:txBody>
      </p:sp>
      <p:sp>
        <p:nvSpPr>
          <p:cNvPr id="135" name="Shape 133"/>
          <p:cNvSpPr/>
          <p:nvPr/>
        </p:nvSpPr>
        <p:spPr>
          <a:xfrm>
            <a:off x="603504" y="3054096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786384" y="2962656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policies &amp; trust flags</a:t>
            </a:r>
            <a:endParaRPr lang="en-US" sz="1050" dirty="0"/>
          </a:p>
        </p:txBody>
      </p:sp>
      <p:sp>
        <p:nvSpPr>
          <p:cNvPr id="137" name="Shape 135"/>
          <p:cNvSpPr/>
          <p:nvPr/>
        </p:nvSpPr>
        <p:spPr>
          <a:xfrm>
            <a:off x="603504" y="3419856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/>
          <p:nvPr/>
        </p:nvSpPr>
        <p:spPr>
          <a:xfrm>
            <a:off x="786384" y="3328416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NCUA / FFIEC compliance reports</a:t>
            </a:r>
            <a:endParaRPr lang="en-US" sz="1050" dirty="0"/>
          </a:p>
        </p:txBody>
      </p:sp>
      <p:sp>
        <p:nvSpPr>
          <p:cNvPr id="139" name="Shape 137"/>
          <p:cNvSpPr/>
          <p:nvPr/>
        </p:nvSpPr>
        <p:spPr>
          <a:xfrm>
            <a:off x="603504" y="3785616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786384" y="3694176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across JH sources</a:t>
            </a:r>
            <a:endParaRPr lang="en-US" sz="1050" dirty="0"/>
          </a:p>
        </p:txBody>
      </p:sp>
      <p:sp>
        <p:nvSpPr>
          <p:cNvPr id="141" name="Shape 139"/>
          <p:cNvSpPr/>
          <p:nvPr/>
        </p:nvSpPr>
        <p:spPr>
          <a:xfrm>
            <a:off x="603504" y="4151376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786384" y="4059936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&amp; steward workflows</a:t>
            </a:r>
            <a:endParaRPr lang="en-US" sz="1050" dirty="0"/>
          </a:p>
        </p:txBody>
      </p:sp>
      <p:sp>
        <p:nvSpPr>
          <p:cNvPr id="143" name="Text 141"/>
          <p:cNvSpPr/>
          <p:nvPr/>
        </p:nvSpPr>
        <p:spPr>
          <a:xfrm>
            <a:off x="548640" y="42428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for: FIs getting started with governed analytics on JH data</a:t>
            </a:r>
            <a:endParaRPr lang="en-US" sz="950" dirty="0"/>
          </a:p>
        </p:txBody>
      </p:sp>
      <p:sp>
        <p:nvSpPr>
          <p:cNvPr id="144" name="Shape 142"/>
          <p:cNvSpPr/>
          <p:nvPr/>
        </p:nvSpPr>
        <p:spPr>
          <a:xfrm>
            <a:off x="4800600" y="1261872"/>
            <a:ext cx="3931920" cy="3383280"/>
          </a:xfrm>
          <a:prstGeom prst="rect">
            <a:avLst/>
          </a:prstGeom>
          <a:solidFill>
            <a:srgbClr val="0A2070"/>
          </a:solidFill>
          <a:ln w="19050">
            <a:solidFill>
              <a:srgbClr val="F5A623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4800600" y="1261872"/>
            <a:ext cx="3931920" cy="512064"/>
          </a:xfrm>
          <a:prstGeom prst="rect">
            <a:avLst/>
          </a:prstGeom>
          <a:solidFill>
            <a:srgbClr val="1A1A50"/>
          </a:solidFill>
          <a:ln w="12700">
            <a:solidFill>
              <a:srgbClr val="1A1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4800600" y="1261872"/>
            <a:ext cx="3931920" cy="512064"/>
          </a:xfrm>
          <a:prstGeom prst="rect">
            <a:avLst/>
          </a:prstGeom>
          <a:solidFill>
            <a:srgbClr val="F5A623">
              <a:alpha val="5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145"/>
          <p:cNvSpPr/>
          <p:nvPr/>
        </p:nvSpPr>
        <p:spPr>
          <a:xfrm>
            <a:off x="4937760" y="126187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Enterprise</a:t>
            </a:r>
            <a:endParaRPr lang="en-US" sz="1600" dirty="0"/>
          </a:p>
        </p:txBody>
      </p:sp>
      <p:sp>
        <p:nvSpPr>
          <p:cNvPr id="148" name="Shape 146"/>
          <p:cNvSpPr/>
          <p:nvPr/>
        </p:nvSpPr>
        <p:spPr>
          <a:xfrm>
            <a:off x="4800600" y="1261872"/>
            <a:ext cx="73152" cy="5120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Text 147"/>
          <p:cNvSpPr/>
          <p:nvPr/>
        </p:nvSpPr>
        <p:spPr>
          <a:xfrm>
            <a:off x="4937760" y="1865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Alation Suite · Bring Your Own Data</a:t>
            </a:r>
            <a:endParaRPr lang="en-US" sz="1100" dirty="0"/>
          </a:p>
        </p:txBody>
      </p:sp>
      <p:sp>
        <p:nvSpPr>
          <p:cNvPr id="150" name="Shape 148"/>
          <p:cNvSpPr/>
          <p:nvPr/>
        </p:nvSpPr>
        <p:spPr>
          <a:xfrm>
            <a:off x="4992624" y="2322576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149"/>
          <p:cNvSpPr/>
          <p:nvPr/>
        </p:nvSpPr>
        <p:spPr>
          <a:xfrm>
            <a:off x="5175504" y="2231136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Professional, plus:</a:t>
            </a:r>
            <a:endParaRPr lang="en-US" sz="1050" dirty="0"/>
          </a:p>
        </p:txBody>
      </p:sp>
      <p:sp>
        <p:nvSpPr>
          <p:cNvPr id="152" name="Shape 150"/>
          <p:cNvSpPr/>
          <p:nvPr/>
        </p:nvSpPr>
        <p:spPr>
          <a:xfrm>
            <a:off x="4992624" y="2688336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151"/>
          <p:cNvSpPr/>
          <p:nvPr/>
        </p:nvSpPr>
        <p:spPr>
          <a:xfrm>
            <a:off x="5175504" y="2596896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 source connectors</a:t>
            </a:r>
            <a:endParaRPr lang="en-US" sz="1050" dirty="0"/>
          </a:p>
        </p:txBody>
      </p:sp>
      <p:sp>
        <p:nvSpPr>
          <p:cNvPr id="154" name="Shape 152"/>
          <p:cNvSpPr/>
          <p:nvPr/>
        </p:nvSpPr>
        <p:spPr>
          <a:xfrm>
            <a:off x="4992624" y="3054096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 153"/>
          <p:cNvSpPr/>
          <p:nvPr/>
        </p:nvSpPr>
        <p:spPr>
          <a:xfrm>
            <a:off x="5175504" y="2962656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data to the catalog</a:t>
            </a:r>
            <a:endParaRPr lang="en-US" sz="1050" dirty="0"/>
          </a:p>
        </p:txBody>
      </p:sp>
      <p:sp>
        <p:nvSpPr>
          <p:cNvPr id="156" name="Shape 154"/>
          <p:cNvSpPr/>
          <p:nvPr/>
        </p:nvSpPr>
        <p:spPr>
          <a:xfrm>
            <a:off x="4992624" y="3419856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155"/>
          <p:cNvSpPr/>
          <p:nvPr/>
        </p:nvSpPr>
        <p:spPr>
          <a:xfrm>
            <a:off x="5175504" y="3328416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Station AI assistant</a:t>
            </a:r>
            <a:endParaRPr lang="en-US" sz="1050" dirty="0"/>
          </a:p>
        </p:txBody>
      </p:sp>
      <p:sp>
        <p:nvSpPr>
          <p:cNvPr id="158" name="Shape 156"/>
          <p:cNvSpPr/>
          <p:nvPr/>
        </p:nvSpPr>
        <p:spPr>
          <a:xfrm>
            <a:off x="4992624" y="3785616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ext 157"/>
          <p:cNvSpPr/>
          <p:nvPr/>
        </p:nvSpPr>
        <p:spPr>
          <a:xfrm>
            <a:off x="5175504" y="3694176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lineage across all sources</a:t>
            </a:r>
            <a:endParaRPr lang="en-US" sz="1050" dirty="0"/>
          </a:p>
        </p:txBody>
      </p:sp>
      <p:sp>
        <p:nvSpPr>
          <p:cNvPr id="160" name="Shape 158"/>
          <p:cNvSpPr/>
          <p:nvPr/>
        </p:nvSpPr>
        <p:spPr>
          <a:xfrm>
            <a:off x="4992624" y="4151376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159"/>
          <p:cNvSpPr/>
          <p:nvPr/>
        </p:nvSpPr>
        <p:spPr>
          <a:xfrm>
            <a:off x="5175504" y="4059936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policies &amp; SIEM integration</a:t>
            </a:r>
            <a:endParaRPr lang="en-US" sz="1050" dirty="0"/>
          </a:p>
        </p:txBody>
      </p:sp>
      <p:sp>
        <p:nvSpPr>
          <p:cNvPr id="162" name="Text 160"/>
          <p:cNvSpPr/>
          <p:nvPr/>
        </p:nvSpPr>
        <p:spPr>
          <a:xfrm>
            <a:off x="4937760" y="42428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for: FIs ready to catalog all data — JH and beyond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8874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82296"/>
            <a:ext cx="9144000" cy="54864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Professional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0" y="164592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Data Sources  ·  Governed from Day One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the Jack Henry data ecosystem — pre-connected, pre-classified, and ready to govern without a complex implementation project.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2724912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115568"/>
            <a:ext cx="2724912" cy="5486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4048" y="1243584"/>
            <a:ext cx="365760" cy="36576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289304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41248" y="124358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jhaKnow Integration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16459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connector to jhaKnow data assets. Analytics tables, reports, and KPIs are automatically catalogued with lineage back to source.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163824" y="1115568"/>
            <a:ext cx="2724912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163824" y="1115568"/>
            <a:ext cx="2724912" cy="5486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73552" y="1243584"/>
            <a:ext cx="365760" cy="36576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289304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30752" y="124358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ARCU Data Catalog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291840" y="16459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ARCU assets catalogued and governed out of the box — including pre-classified sensitive fields relevant to regulatory capital and underwriting.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053328" y="1115568"/>
            <a:ext cx="2724912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053328" y="1115568"/>
            <a:ext cx="2724912" cy="5486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163056" y="1243584"/>
            <a:ext cx="365760" cy="36576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1289304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620256" y="124358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/ PCI / ACH Classification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181344" y="16459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fields across JH sources are pre-tagged at ingestion. Masking and tokenization policies applied automatically — no manual tagging required.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274320" y="2962656"/>
            <a:ext cx="2724912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274320" y="2962656"/>
            <a:ext cx="2724912" cy="5486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384048" y="3090672"/>
            <a:ext cx="365760" cy="36576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136392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41248" y="309067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&amp; Access History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02336" y="34930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access event is captured in an immutable, tamper-proof audit log. Quickly answer examiner questions about who accessed what, when — and export for examination in one click.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3163824" y="2962656"/>
            <a:ext cx="2724912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3163824" y="2962656"/>
            <a:ext cx="2724912" cy="5486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3273552" y="3090672"/>
            <a:ext cx="365760" cy="36576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3136392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730752" y="309067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Flags &amp; Stewardship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3291840" y="34930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stewards can endorse, warn, or deprecate catalog assets. Trust indicators surface in every tool that connects to the catalog.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6053328" y="2962656"/>
            <a:ext cx="2724912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6053328" y="2962656"/>
            <a:ext cx="2724912" cy="5486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6163056" y="3090672"/>
            <a:ext cx="365760" cy="365760"/>
          </a:xfrm>
          <a:prstGeom prst="ellipse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8776" y="3136392"/>
            <a:ext cx="274320" cy="27432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620256" y="309067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Policies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6181344" y="34930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policy creation and enforcement — attach classifications to policies, enforce access controls, and track every data event in the audit log.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8874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82296"/>
            <a:ext cx="9144000" cy="54864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82296"/>
            <a:ext cx="9144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972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Enterprise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0" y="16459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  ·  Bring Your Own 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Professional — plus the ability to connect any data source, catalog all your data assets, and unlock the full power of Alation.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115568"/>
            <a:ext cx="2724912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115568"/>
            <a:ext cx="272491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84048" y="1243584"/>
            <a:ext cx="365760" cy="365760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289304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41248" y="124358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Data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02336" y="16459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any data source — cloud warehouses, on-prem databases, BI tools, APIs. If your team uses it, catalog it.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163824" y="1115568"/>
            <a:ext cx="2724912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163824" y="1115568"/>
            <a:ext cx="272491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273552" y="1243584"/>
            <a:ext cx="365760" cy="365760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289304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730752" y="124358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Connectors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291840" y="16459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Alation's open connector framework supports Snowflake, BigQuery, Databricks, SQL Server, PostgreSQL, and hundreds more.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053328" y="1115568"/>
            <a:ext cx="2724912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053328" y="1115568"/>
            <a:ext cx="272491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6163056" y="1243584"/>
            <a:ext cx="365760" cy="365760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1289304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620256" y="124358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Station AI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181344" y="16459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business questions in plain English — get governed, auditable SQL over any catalogued asset. PII/PCI masked before the LLM sees a single row.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274320" y="2962656"/>
            <a:ext cx="2724912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274320" y="2962656"/>
            <a:ext cx="272491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384048" y="3090672"/>
            <a:ext cx="365760" cy="365760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136392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41248" y="309067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Lineage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02336" y="34930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cross-system lineage — from your core banking system through every transformation layer to the executive dashboard. No gaps.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3163824" y="2962656"/>
            <a:ext cx="2724912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3163824" y="2962656"/>
            <a:ext cx="272491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3273552" y="3090672"/>
            <a:ext cx="365760" cy="365760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3136392"/>
            <a:ext cx="274320" cy="27432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730752" y="309067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Policy Engine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3291840" y="34930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classification taxonomies, multi-tier masking rules, inheritance from IdP roles. Policy complexity scales with your data environment.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6053328" y="2962656"/>
            <a:ext cx="2724912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6053328" y="2962656"/>
            <a:ext cx="272491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5"/>
          <p:cNvSpPr/>
          <p:nvPr/>
        </p:nvSpPr>
        <p:spPr>
          <a:xfrm>
            <a:off x="6163056" y="3090672"/>
            <a:ext cx="365760" cy="365760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8776" y="3136392"/>
            <a:ext cx="274320" cy="27432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620256" y="309067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&amp; API Integration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6181344" y="34930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events stream to Splunk, DataDog, or any SIEM via API. Security teams get real-time visibility into sensitive data access — across all sources.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8874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9184" y="12801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Comparison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9184" y="5303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tier that matches your data strategy — upgrade when you're ready.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9456" y="859536"/>
            <a:ext cx="4443984" cy="256032"/>
          </a:xfrm>
          <a:prstGeom prst="rect">
            <a:avLst/>
          </a:prstGeom>
          <a:solidFill>
            <a:srgbClr val="06185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0896" y="859536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859536"/>
            <a:ext cx="2121408" cy="256032"/>
          </a:xfrm>
          <a:prstGeom prst="rect">
            <a:avLst/>
          </a:prstGeom>
          <a:solidFill>
            <a:srgbClr val="085CE5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85953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Professional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84848" y="859536"/>
            <a:ext cx="2121408" cy="256032"/>
          </a:xfrm>
          <a:prstGeom prst="rect">
            <a:avLst/>
          </a:prstGeom>
          <a:solidFill>
            <a:srgbClr val="06185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76288" y="85953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Enterprise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859536"/>
            <a:ext cx="54864" cy="256032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84848" y="859536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19456" y="1115568"/>
            <a:ext cx="4443984" cy="164592"/>
          </a:xfrm>
          <a:prstGeom prst="rect">
            <a:avLst/>
          </a:prstGeom>
          <a:solidFill>
            <a:srgbClr val="DDE3F0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0896" y="1115568"/>
            <a:ext cx="4261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DISCOVERY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1115568"/>
            <a:ext cx="2121408" cy="164592"/>
          </a:xfrm>
          <a:prstGeom prst="rect">
            <a:avLst/>
          </a:prstGeom>
          <a:solidFill>
            <a:srgbClr val="DDE3F0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84848" y="1115568"/>
            <a:ext cx="2121408" cy="164592"/>
          </a:xfrm>
          <a:prstGeom prst="rect">
            <a:avLst/>
          </a:prstGeom>
          <a:solidFill>
            <a:srgbClr val="DDE3F0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19456" y="1280160"/>
            <a:ext cx="4443984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10896" y="1280160"/>
            <a:ext cx="4261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 catalog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212140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1280160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sources only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84848" y="1280160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76288" y="1280160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9456" y="1435608"/>
            <a:ext cx="4443984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10896" y="1435608"/>
            <a:ext cx="4261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 with relevance ranking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1435608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1435608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84848" y="1435608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76288" y="1435608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9456" y="1591056"/>
            <a:ext cx="4443984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10896" y="1591056"/>
            <a:ext cx="4261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glossary with certified definitions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1591056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1591056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84848" y="1591056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76288" y="1591056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19456" y="1746504"/>
            <a:ext cx="4443984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10896" y="1746504"/>
            <a:ext cx="4261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flags  ✓ Endorsed  ⚠ Warned  ✗ Deprecated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1746504"/>
            <a:ext cx="212140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1746504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784848" y="1746504"/>
            <a:ext cx="212140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876288" y="1746504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19456" y="1901952"/>
            <a:ext cx="4443984" cy="164592"/>
          </a:xfrm>
          <a:prstGeom prst="rect">
            <a:avLst/>
          </a:prstGeom>
          <a:solidFill>
            <a:srgbClr val="DDE3F0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10896" y="1901952"/>
            <a:ext cx="4261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1901952"/>
            <a:ext cx="2121408" cy="164592"/>
          </a:xfrm>
          <a:prstGeom prst="rect">
            <a:avLst/>
          </a:prstGeom>
          <a:solidFill>
            <a:srgbClr val="DDE3F0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784848" y="1901952"/>
            <a:ext cx="2121408" cy="164592"/>
          </a:xfrm>
          <a:prstGeom prst="rect">
            <a:avLst/>
          </a:prstGeom>
          <a:solidFill>
            <a:srgbClr val="DDE3F0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19456" y="2066544"/>
            <a:ext cx="4443984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10896" y="2066544"/>
            <a:ext cx="4261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jhaKnow &amp; ARCU connectors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2066544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54880" y="2066544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784848" y="2066544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876288" y="2066544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19456" y="2221992"/>
            <a:ext cx="4443984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10896" y="2221992"/>
            <a:ext cx="4261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/ third-party connectors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63440" y="2221992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54880" y="2221992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784848" y="2221992"/>
            <a:ext cx="212140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876288" y="2221992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19456" y="2377440"/>
            <a:ext cx="4443984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10896" y="2377440"/>
            <a:ext cx="4261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data (BYOD)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663440" y="2377440"/>
            <a:ext cx="212140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754880" y="2377440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784848" y="2377440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876288" y="2377440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19456" y="2532888"/>
            <a:ext cx="4443984" cy="164592"/>
          </a:xfrm>
          <a:prstGeom prst="rect">
            <a:avLst/>
          </a:prstGeom>
          <a:solidFill>
            <a:srgbClr val="DDE3F0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10896" y="2532888"/>
            <a:ext cx="4261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663440" y="2532888"/>
            <a:ext cx="2121408" cy="164592"/>
          </a:xfrm>
          <a:prstGeom prst="rect">
            <a:avLst/>
          </a:prstGeom>
          <a:solidFill>
            <a:srgbClr val="DDE3F0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784848" y="2532888"/>
            <a:ext cx="2121408" cy="164592"/>
          </a:xfrm>
          <a:prstGeom prst="rect">
            <a:avLst/>
          </a:prstGeom>
          <a:solidFill>
            <a:srgbClr val="DDE3F0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219456" y="2697480"/>
            <a:ext cx="4443984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10896" y="2697480"/>
            <a:ext cx="4261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/ PCI / ACH auto-classification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663440" y="2697480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754880" y="2697480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784848" y="2697480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876288" y="2697480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19456" y="2852928"/>
            <a:ext cx="4443984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10896" y="2852928"/>
            <a:ext cx="4261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creation &amp; enforcement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663440" y="2852928"/>
            <a:ext cx="212140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754880" y="2852928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784848" y="2852928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6876288" y="2852928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19456" y="3008376"/>
            <a:ext cx="4443984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310896" y="3008376"/>
            <a:ext cx="4261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 &amp; access history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663440" y="3008376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754880" y="3008376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6784848" y="3008376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6876288" y="3008376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219456" y="3163824"/>
            <a:ext cx="4443984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310896" y="3163824"/>
            <a:ext cx="4261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 &amp; approval flows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4663440" y="3163824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4754880" y="3163824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6784848" y="3163824"/>
            <a:ext cx="212140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6876288" y="3163824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219456" y="3319272"/>
            <a:ext cx="4443984" cy="164592"/>
          </a:xfrm>
          <a:prstGeom prst="rect">
            <a:avLst/>
          </a:prstGeom>
          <a:solidFill>
            <a:srgbClr val="DDE3F0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310896" y="3319272"/>
            <a:ext cx="4261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&amp; AI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663440" y="3319272"/>
            <a:ext cx="2121408" cy="164592"/>
          </a:xfrm>
          <a:prstGeom prst="rect">
            <a:avLst/>
          </a:prstGeom>
          <a:solidFill>
            <a:srgbClr val="DDE3F0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6784848" y="3319272"/>
            <a:ext cx="2121408" cy="164592"/>
          </a:xfrm>
          <a:prstGeom prst="rect">
            <a:avLst/>
          </a:prstGeom>
          <a:solidFill>
            <a:srgbClr val="DDE3F0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219456" y="3483864"/>
            <a:ext cx="4443984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310896" y="3483864"/>
            <a:ext cx="4261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(column-level)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4663440" y="3483864"/>
            <a:ext cx="212140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4754880" y="3483864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sources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6784848" y="3483864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6876288" y="3483864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19456" y="3639312"/>
            <a:ext cx="4443984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310896" y="3639312"/>
            <a:ext cx="4261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 (pre-change visibility)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4663440" y="3639312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4754880" y="3639312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6784848" y="3639312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6876288" y="3639312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219456" y="3794760"/>
            <a:ext cx="4443984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310896" y="3794760"/>
            <a:ext cx="4261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Station AI (natural-language queries)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4663440" y="3794760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4754880" y="3794760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6784848" y="3794760"/>
            <a:ext cx="212140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6876288" y="3794760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219456" y="3950208"/>
            <a:ext cx="4443984" cy="164592"/>
          </a:xfrm>
          <a:prstGeom prst="rect">
            <a:avLst/>
          </a:prstGeom>
          <a:solidFill>
            <a:srgbClr val="DDE3F0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310896" y="3950208"/>
            <a:ext cx="4261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&amp; SUPPORT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4663440" y="3950208"/>
            <a:ext cx="2121408" cy="164592"/>
          </a:xfrm>
          <a:prstGeom prst="rect">
            <a:avLst/>
          </a:prstGeom>
          <a:solidFill>
            <a:srgbClr val="DDE3F0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6784848" y="3950208"/>
            <a:ext cx="2121408" cy="164592"/>
          </a:xfrm>
          <a:prstGeom prst="rect">
            <a:avLst/>
          </a:prstGeom>
          <a:solidFill>
            <a:srgbClr val="DDE3F0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219456" y="4114800"/>
            <a:ext cx="4443984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310896" y="4114800"/>
            <a:ext cx="4261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&amp; steward workflows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4663440" y="4114800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4754880" y="4114800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2" name="Shape 120"/>
          <p:cNvSpPr/>
          <p:nvPr/>
        </p:nvSpPr>
        <p:spPr>
          <a:xfrm>
            <a:off x="6784848" y="4114800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6876288" y="4114800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219456" y="4270248"/>
            <a:ext cx="4443984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310896" y="4270248"/>
            <a:ext cx="4261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Alation Analytics (catalog health &amp; usage)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4663440" y="4270248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4754880" y="4270248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6784848" y="4270248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6876288" y="4270248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0" name="Shape 128"/>
          <p:cNvSpPr/>
          <p:nvPr/>
        </p:nvSpPr>
        <p:spPr>
          <a:xfrm>
            <a:off x="219456" y="4425696"/>
            <a:ext cx="4443984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310896" y="4425696"/>
            <a:ext cx="4261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&amp; API integration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4663440" y="4425696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4754880" y="4425696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34" name="Shape 132"/>
          <p:cNvSpPr/>
          <p:nvPr/>
        </p:nvSpPr>
        <p:spPr>
          <a:xfrm>
            <a:off x="6784848" y="4425696"/>
            <a:ext cx="212140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6876288" y="4425696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6" name="Shape 134"/>
          <p:cNvSpPr/>
          <p:nvPr/>
        </p:nvSpPr>
        <p:spPr>
          <a:xfrm>
            <a:off x="219456" y="4581144"/>
            <a:ext cx="4443984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310896" y="4581144"/>
            <a:ext cx="4261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support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4663440" y="4581144"/>
            <a:ext cx="2121408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4754880" y="4581144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784848" y="4581144"/>
            <a:ext cx="2121408" cy="155448"/>
          </a:xfrm>
          <a:prstGeom prst="rect">
            <a:avLst/>
          </a:prstGeom>
          <a:solidFill>
            <a:srgbClr val="F4F6FC"/>
          </a:solidFill>
          <a:ln w="6350">
            <a:solidFill>
              <a:srgbClr val="D0D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6876288" y="4581144"/>
            <a:ext cx="19385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219456" y="859536"/>
            <a:ext cx="8686800" cy="38770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4663440" y="859536"/>
            <a:ext cx="9144" cy="387705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6784848" y="859536"/>
            <a:ext cx="9144" cy="387705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8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8874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0" y="-9144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01768" y="-9144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31536" y="-9144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861304" y="-9144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91072" y="-9144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720840" y="-9144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50608" y="-9144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42976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01768" y="42976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31536" y="42976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861304" y="42976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91072" y="42976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20840" y="42976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150608" y="42976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95097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01768" y="95097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31536" y="95097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861304" y="95097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91072" y="95097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720840" y="95097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150608" y="95097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0" y="147218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01768" y="147218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31536" y="147218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861304" y="147218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91072" y="147218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720840" y="147218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150608" y="147218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0" y="199339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001768" y="199339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431536" y="199339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861304" y="199339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291072" y="199339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720840" y="199339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150608" y="199339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572000" y="251460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001768" y="251460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431536" y="251460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861304" y="251460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291072" y="251460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720840" y="251460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150608" y="251460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572000" y="303580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001768" y="303580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431536" y="303580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861304" y="303580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291072" y="303580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720840" y="303580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150608" y="303580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572000" y="355701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001768" y="355701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431536" y="355701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861304" y="355701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291072" y="355701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720840" y="355701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150608" y="355701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572000" y="407822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001768" y="407822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431536" y="407822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861304" y="407822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291072" y="407822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720840" y="407822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7150608" y="407822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572000" y="459943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5001768" y="459943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431536" y="459943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5861304" y="459943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291072" y="459943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720840" y="459943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7150608" y="459943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6576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JH Ecosystem</a:t>
            </a:r>
            <a:endParaRPr lang="en-US" sz="2800" dirty="0"/>
          </a:p>
        </p:txBody>
      </p:sp>
      <p:sp>
        <p:nvSpPr>
          <p:cNvPr id="76" name="Text 74"/>
          <p:cNvSpPr/>
          <p:nvPr/>
        </p:nvSpPr>
        <p:spPr>
          <a:xfrm>
            <a:off x="365760" y="69494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Pre-connected to the Jack Henry stack — no custom integration work required.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329184" y="11338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SOURCE CONNECTIONS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29184" y="1408176"/>
            <a:ext cx="1883664" cy="530352"/>
          </a:xfrm>
          <a:prstGeom prst="rect">
            <a:avLst/>
          </a:prstGeom>
          <a:solidFill>
            <a:srgbClr val="085CE5">
              <a:alpha val="25000"/>
            </a:srgbClr>
          </a:solidFill>
          <a:ln w="6350">
            <a:solidFill>
              <a:srgbClr val="085CE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38912" y="146304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jhaKnow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438912" y="1700784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Reporting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2340864" y="1408176"/>
            <a:ext cx="1883664" cy="530352"/>
          </a:xfrm>
          <a:prstGeom prst="rect">
            <a:avLst/>
          </a:prstGeom>
          <a:solidFill>
            <a:srgbClr val="085CE5">
              <a:alpha val="25000"/>
            </a:srgbClr>
          </a:solidFill>
          <a:ln w="6350">
            <a:solidFill>
              <a:srgbClr val="085CE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2450592" y="146304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ARCU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2450592" y="1700784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Capital &amp; Underwriting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329184" y="2011680"/>
            <a:ext cx="1883664" cy="530352"/>
          </a:xfrm>
          <a:prstGeom prst="rect">
            <a:avLst/>
          </a:prstGeom>
          <a:solidFill>
            <a:srgbClr val="085CE5">
              <a:alpha val="25000"/>
            </a:srgbClr>
          </a:solidFill>
          <a:ln w="6350">
            <a:solidFill>
              <a:srgbClr val="085CE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438912" y="2066544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SilverLake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438912" y="230428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Core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340864" y="2011680"/>
            <a:ext cx="1883664" cy="530352"/>
          </a:xfrm>
          <a:prstGeom prst="rect">
            <a:avLst/>
          </a:prstGeom>
          <a:solidFill>
            <a:srgbClr val="085CE5">
              <a:alpha val="25000"/>
            </a:srgbClr>
          </a:solidFill>
          <a:ln w="6350">
            <a:solidFill>
              <a:srgbClr val="085CE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2450592" y="2066544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Symitar / Episys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2450592" y="230428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Core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29184" y="2615184"/>
            <a:ext cx="1883664" cy="530352"/>
          </a:xfrm>
          <a:prstGeom prst="rect">
            <a:avLst/>
          </a:prstGeom>
          <a:solidFill>
            <a:srgbClr val="085CE5">
              <a:alpha val="25000"/>
            </a:srgbClr>
          </a:solidFill>
          <a:ln w="6350">
            <a:solidFill>
              <a:srgbClr val="085CE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438912" y="267004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 Digital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438912" y="2907792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2340864" y="2615184"/>
            <a:ext cx="1883664" cy="530352"/>
          </a:xfrm>
          <a:prstGeom prst="rect">
            <a:avLst/>
          </a:prstGeom>
          <a:solidFill>
            <a:srgbClr val="085CE5">
              <a:alpha val="25000"/>
            </a:srgbClr>
          </a:solidFill>
          <a:ln w="6350">
            <a:solidFill>
              <a:srgbClr val="085CE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2450592" y="267004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LoanVantage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2450592" y="2907792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Origination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329184" y="3218688"/>
            <a:ext cx="1883664" cy="530352"/>
          </a:xfrm>
          <a:prstGeom prst="rect">
            <a:avLst/>
          </a:prstGeom>
          <a:solidFill>
            <a:srgbClr val="085CE5">
              <a:alpha val="25000"/>
            </a:srgbClr>
          </a:solidFill>
          <a:ln w="6350">
            <a:solidFill>
              <a:srgbClr val="085CE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438912" y="327355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 PayCenter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438912" y="351129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2340864" y="3218688"/>
            <a:ext cx="1883664" cy="530352"/>
          </a:xfrm>
          <a:prstGeom prst="rect">
            <a:avLst/>
          </a:prstGeom>
          <a:solidFill>
            <a:srgbClr val="085CE5">
              <a:alpha val="25000"/>
            </a:srgbClr>
          </a:solidFill>
          <a:ln w="6350">
            <a:solidFill>
              <a:srgbClr val="085CE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2450592" y="327355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Payments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2450592" y="3511296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FedNow / RTP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4498848" y="113385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JH HANDLES FOR YOU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4498848" y="1536192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4681728" y="1444752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connectors maintained by Jack Henry</a:t>
            </a:r>
            <a:endParaRPr lang="en-US" sz="1150" dirty="0"/>
          </a:p>
        </p:txBody>
      </p:sp>
      <p:sp>
        <p:nvSpPr>
          <p:cNvPr id="105" name="Shape 103"/>
          <p:cNvSpPr/>
          <p:nvPr/>
        </p:nvSpPr>
        <p:spPr>
          <a:xfrm>
            <a:off x="4498848" y="2194560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4681728" y="2103120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field classification built into the JH data schema</a:t>
            </a:r>
            <a:endParaRPr lang="en-US" sz="1150" dirty="0"/>
          </a:p>
        </p:txBody>
      </p:sp>
      <p:sp>
        <p:nvSpPr>
          <p:cNvPr id="107" name="Shape 105"/>
          <p:cNvSpPr/>
          <p:nvPr/>
        </p:nvSpPr>
        <p:spPr>
          <a:xfrm>
            <a:off x="4498848" y="2852928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4681728" y="2761488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NCUA / FFIEC compliance templates pre-configured</a:t>
            </a:r>
            <a:endParaRPr lang="en-US" sz="1150" dirty="0"/>
          </a:p>
        </p:txBody>
      </p:sp>
      <p:sp>
        <p:nvSpPr>
          <p:cNvPr id="109" name="Shape 107"/>
          <p:cNvSpPr/>
          <p:nvPr/>
        </p:nvSpPr>
        <p:spPr>
          <a:xfrm>
            <a:off x="4498848" y="3511296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4681728" y="3419856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JH-managed implementation — no internal Alation expertise needed</a:t>
            </a:r>
            <a:endParaRPr lang="en-US" sz="1150" dirty="0"/>
          </a:p>
        </p:txBody>
      </p:sp>
      <p:sp>
        <p:nvSpPr>
          <p:cNvPr id="111" name="Shape 109"/>
          <p:cNvSpPr/>
          <p:nvPr/>
        </p:nvSpPr>
        <p:spPr>
          <a:xfrm>
            <a:off x="4498848" y="4169664"/>
            <a:ext cx="91440" cy="91440"/>
          </a:xfrm>
          <a:prstGeom prst="ellipse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4681728" y="4078224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support from the JHBI Data &amp; Analytics team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8874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Jack Henry Catalog?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7665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Procuring Alation directly is an option — here's what you get when you go through Jack Henry.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" y="1060704"/>
            <a:ext cx="8485632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9184" y="1060704"/>
            <a:ext cx="73152" cy="69494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1155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Pre-connected to your data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0" y="1115568"/>
            <a:ext cx="5468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to jhaKnow, ARCU, SilverLake, Symitar, Banno and the rest of the JH ecosystem are built and maintained by Jack Henry. No integration sprints, no custom pipeline work.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27248" y="1188720"/>
            <a:ext cx="18288" cy="438912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" y="1828800"/>
            <a:ext cx="8485632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" y="1828800"/>
            <a:ext cx="73152" cy="694944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18836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Pre-classified sensitive fields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0" y="1883664"/>
            <a:ext cx="5468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PII, PCI, and ACH-sensitive columns across JH data sources are identified and tagged in the schema before you log in for the first time. Governance starts on day one.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27248" y="1956816"/>
            <a:ext cx="18288" cy="438912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9184" y="2596896"/>
            <a:ext cx="8485632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9184" y="2596896"/>
            <a:ext cx="73152" cy="69494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templates out of the box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0" y="2651760"/>
            <a:ext cx="5468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NCUA call report support, FFIEC examination documentation, and SOX audit trails are pre-configured. You don't build compliance reporting — you run it.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27248" y="2724912"/>
            <a:ext cx="18288" cy="438912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9184" y="3364992"/>
            <a:ext cx="8485632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9184" y="3364992"/>
            <a:ext cx="73152" cy="694944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4198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support, not Alation support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00400" y="3419856"/>
            <a:ext cx="5468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Implementation, onboarding, and ongoing support are provided by the JHBI Data &amp; Analytics team — people who know the JH ecosystem and your data model.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27248" y="3493008"/>
            <a:ext cx="18288" cy="438912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9184" y="4133088"/>
            <a:ext cx="8485632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9184" y="4133088"/>
            <a:ext cx="73152" cy="69494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4187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upgrade path between tiers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00400" y="4187952"/>
            <a:ext cx="5468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Professional for JH data sources. Add Enterprise when you're ready to bring in your own data, unlock AI, and extend governance beyond JH. No migration, no re-implementation.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27248" y="4261104"/>
            <a:ext cx="18288" cy="438912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8874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&amp; Associates  ·  Confidential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9184" y="18288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with Jack Henry Catalog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9184" y="67665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 to governed data — from your first conversation to your first certified dataset.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" y="1078992"/>
            <a:ext cx="2706624" cy="3328416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9184" y="1078992"/>
            <a:ext cx="2706624" cy="7315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" y="11887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93776" y="1700784"/>
            <a:ext cx="2377440" cy="182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17739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Tier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" y="217627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with the JHBI Data &amp; Analytics team about your current data environment. We'll recommend Professional or Enterprise based on your sources, team size, and compliance requirements.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3776" y="3694176"/>
            <a:ext cx="2377440" cy="512064"/>
          </a:xfrm>
          <a:prstGeom prst="rect">
            <a:avLst/>
          </a:prstGeom>
          <a:solidFill>
            <a:srgbClr val="E8F7F7"/>
          </a:solidFill>
          <a:ln w="762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" y="36941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discovery call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" y="39502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data-analytics@jhbi.com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18688" y="1078992"/>
            <a:ext cx="2706624" cy="3328416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18688" y="1078992"/>
            <a:ext cx="2706624" cy="7315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0" y="11887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3383280" y="1700784"/>
            <a:ext cx="2377440" cy="182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83280" y="17739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in Weeks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217627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handles implementation — connector setup, initial classification, policy templates, and user provisioning. Most Professional implementations are live within 3–4 weeks.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83280" y="3694176"/>
            <a:ext cx="2377440" cy="512064"/>
          </a:xfrm>
          <a:prstGeom prst="rect">
            <a:avLst/>
          </a:prstGeom>
          <a:solidFill>
            <a:srgbClr val="E8F7F7"/>
          </a:solidFill>
          <a:ln w="762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83280" y="36941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onboarding guide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39502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data.jhbi.com/catalog/onboarding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08192" y="1078992"/>
            <a:ext cx="2706624" cy="3328416"/>
          </a:xfrm>
          <a:prstGeom prst="rect">
            <a:avLst/>
          </a:prstGeom>
          <a:solidFill>
            <a:srgbClr val="FFFFFF"/>
          </a:solidFill>
          <a:ln w="10160">
            <a:solidFill>
              <a:srgbClr val="E7EC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08192" y="1078992"/>
            <a:ext cx="2706624" cy="7315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72784" y="11887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27" name="Shape 25"/>
          <p:cNvSpPr/>
          <p:nvPr/>
        </p:nvSpPr>
        <p:spPr>
          <a:xfrm>
            <a:off x="6272784" y="1700784"/>
            <a:ext cx="2377440" cy="1828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72784" y="17739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&amp; Grow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72784" y="217627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cataloguing JH data assets, assign stewards, and run your first compliance report. When you're ready to expand, upgrading to Enterprise requires no re-implementation.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72784" y="3694176"/>
            <a:ext cx="2377440" cy="512064"/>
          </a:xfrm>
          <a:prstGeom prst="rect">
            <a:avLst/>
          </a:prstGeom>
          <a:solidFill>
            <a:srgbClr val="E8F7F7"/>
          </a:solidFill>
          <a:ln w="762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72784" y="36941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catalog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2784" y="39502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data.jhbi.com/catalog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4668012"/>
            <a:ext cx="9144000" cy="402336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0" y="4668012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 the JHBI Data &amp; Analytics Team  ·  data-analytics@jhbi.com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8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" y="-9144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46888" y="-9144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76656" y="-9144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06424" y="-9144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36192" y="-9144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65960" y="-9144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395728" y="-9144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825496" y="-9144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55264" y="-9144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85032" y="-9144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0" y="-9144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44568" y="-9144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974336" y="-9144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04104" y="-9144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-182880" y="42976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6888" y="42976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76656" y="42976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06424" y="42976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536192" y="42976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965960" y="42976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395728" y="42976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825496" y="42976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55264" y="42976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85032" y="42976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0" y="42976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44568" y="42976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974336" y="42976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04104" y="42976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-182880" y="95097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46888" y="95097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76656" y="95097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106424" y="95097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536192" y="95097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965960" y="95097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395728" y="95097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825496" y="95097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255264" y="95097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685032" y="95097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114800" y="95097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544568" y="95097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974336" y="95097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404104" y="95097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-182880" y="147218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46888" y="147218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76656" y="147218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106424" y="147218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536192" y="147218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965960" y="147218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395728" y="147218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825496" y="147218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255264" y="147218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685032" y="147218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114800" y="147218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544568" y="147218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974336" y="147218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404104" y="147218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-182880" y="199339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46888" y="199339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76656" y="199339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106424" y="199339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536192" y="199339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965960" y="199339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2395728" y="199339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2825496" y="199339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3255264" y="199339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3685032" y="199339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4114800" y="199339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4544568" y="199339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4974336" y="199339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5404104" y="199339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-182880" y="251460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246888" y="251460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676656" y="251460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106424" y="251460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536192" y="251460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965960" y="251460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395728" y="251460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825496" y="251460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3255264" y="251460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3685032" y="251460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4114800" y="251460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4544568" y="2514600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4974336" y="2514600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5404104" y="2514600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-182880" y="303580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246888" y="303580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676656" y="303580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1106424" y="303580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536192" y="303580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965960" y="303580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2395728" y="303580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2825496" y="303580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3255264" y="303580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3685032" y="303580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4114800" y="303580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4544568" y="3035808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4974336" y="3035808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5404104" y="3035808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-182880" y="355701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246888" y="355701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676656" y="355701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1106424" y="355701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1536192" y="355701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1965960" y="355701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2395728" y="355701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2825496" y="355701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3255264" y="355701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3685032" y="355701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4114800" y="355701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4544568" y="3557016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4974336" y="3557016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5404104" y="3557016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-182880" y="407822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246888" y="407822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676656" y="407822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1106424" y="407822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1536192" y="407822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1965960" y="407822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2395728" y="407822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2825496" y="407822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3255264" y="407822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3685032" y="407822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4114800" y="407822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4544568" y="4078224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4974336" y="4078224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5404104" y="4078224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-182880" y="459943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246888" y="459943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676656" y="459943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1106424" y="459943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1536192" y="459943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1965960" y="459943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2395728" y="459943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2825496" y="459943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3255264" y="459943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3685032" y="459943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4114800" y="459943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4544568" y="4599432"/>
            <a:ext cx="365760" cy="457200"/>
          </a:xfrm>
          <a:prstGeom prst="rect">
            <a:avLst/>
          </a:prstGeom>
          <a:solidFill>
            <a:srgbClr val="085CE5">
              <a:alpha val="8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4974336" y="4599432"/>
            <a:ext cx="365760" cy="457200"/>
          </a:xfrm>
          <a:prstGeom prst="rect">
            <a:avLst/>
          </a:prstGeom>
          <a:solidFill>
            <a:srgbClr val="085CE5">
              <a:alpha val="22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5404104" y="4599432"/>
            <a:ext cx="365760" cy="457200"/>
          </a:xfrm>
          <a:prstGeom prst="rect">
            <a:avLst/>
          </a:prstGeom>
          <a:solidFill>
            <a:srgbClr val="085CE5">
              <a:alpha val="14000"/>
            </a:srgbClr>
          </a:solidFill>
          <a:ln w="5080">
            <a:solidFill>
              <a:srgbClr val="085CE5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0" y="82296"/>
            <a:ext cx="164592" cy="5061204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6400" dirty="0"/>
          </a:p>
        </p:txBody>
      </p:sp>
      <p:sp>
        <p:nvSpPr>
          <p:cNvPr id="145" name="Text 143"/>
          <p:cNvSpPr/>
          <p:nvPr/>
        </p:nvSpPr>
        <p:spPr>
          <a:xfrm>
            <a:off x="457200" y="14813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46" name="Shape 144"/>
          <p:cNvSpPr/>
          <p:nvPr/>
        </p:nvSpPr>
        <p:spPr>
          <a:xfrm>
            <a:off x="2560320" y="2249424"/>
            <a:ext cx="4023360" cy="6400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Text 145"/>
          <p:cNvSpPr/>
          <p:nvPr/>
        </p:nvSpPr>
        <p:spPr>
          <a:xfrm>
            <a:off x="457200" y="23957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Data. Trust Your Data.</a:t>
            </a:r>
            <a:endParaRPr lang="en-US" sz="1600" dirty="0"/>
          </a:p>
        </p:txBody>
      </p:sp>
      <p:sp>
        <p:nvSpPr>
          <p:cNvPr id="148" name="Text 146"/>
          <p:cNvSpPr/>
          <p:nvPr/>
        </p:nvSpPr>
        <p:spPr>
          <a:xfrm>
            <a:off x="457200" y="2999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anytime:</a:t>
            </a:r>
            <a:endParaRPr lang="en-US" sz="1200" dirty="0"/>
          </a:p>
        </p:txBody>
      </p:sp>
      <p:sp>
        <p:nvSpPr>
          <p:cNvPr id="149" name="Text 147"/>
          <p:cNvSpPr/>
          <p:nvPr/>
        </p:nvSpPr>
        <p:spPr>
          <a:xfrm>
            <a:off x="457200" y="3310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data-analytics@jhbi.com   ·   data.jhbi.com/catalog</a:t>
            </a:r>
            <a:endParaRPr lang="en-US" sz="1400" dirty="0"/>
          </a:p>
        </p:txBody>
      </p:sp>
      <p:sp>
        <p:nvSpPr>
          <p:cNvPr id="150" name="Shape 148"/>
          <p:cNvSpPr/>
          <p:nvPr/>
        </p:nvSpPr>
        <p:spPr>
          <a:xfrm>
            <a:off x="2578608" y="3968496"/>
            <a:ext cx="2157984" cy="347472"/>
          </a:xfrm>
          <a:prstGeom prst="rect">
            <a:avLst/>
          </a:prstGeom>
          <a:solidFill>
            <a:srgbClr val="085CE5">
              <a:alpha val="30000"/>
            </a:srgbClr>
          </a:solidFill>
          <a:ln w="1016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Text 149"/>
          <p:cNvSpPr/>
          <p:nvPr/>
        </p:nvSpPr>
        <p:spPr>
          <a:xfrm>
            <a:off x="2578608" y="3968496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Professional</a:t>
            </a:r>
            <a:endParaRPr lang="en-US" sz="1000" dirty="0"/>
          </a:p>
        </p:txBody>
      </p:sp>
      <p:sp>
        <p:nvSpPr>
          <p:cNvPr id="152" name="Shape 150"/>
          <p:cNvSpPr/>
          <p:nvPr/>
        </p:nvSpPr>
        <p:spPr>
          <a:xfrm>
            <a:off x="4919472" y="3968496"/>
            <a:ext cx="2157984" cy="347472"/>
          </a:xfrm>
          <a:prstGeom prst="rect">
            <a:avLst/>
          </a:prstGeom>
          <a:solidFill>
            <a:srgbClr val="085CE5">
              <a:alpha val="30000"/>
            </a:srgbClr>
          </a:solidFill>
          <a:ln w="1016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151"/>
          <p:cNvSpPr/>
          <p:nvPr/>
        </p:nvSpPr>
        <p:spPr>
          <a:xfrm>
            <a:off x="4919472" y="3968496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Enterprise</a:t>
            </a:r>
            <a:endParaRPr lang="en-US" sz="1000" dirty="0"/>
          </a:p>
        </p:txBody>
      </p:sp>
      <p:sp>
        <p:nvSpPr>
          <p:cNvPr id="154" name="Text 152"/>
          <p:cNvSpPr/>
          <p:nvPr/>
        </p:nvSpPr>
        <p:spPr>
          <a:xfrm>
            <a:off x="457200" y="48508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Data &amp; Analytics  ·  Data as a Service  ·  Powered by Alation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2269</Words>
  <Application>Microsoft Macintosh PowerPoint</Application>
  <PresentationFormat>On-screen Show (16:9)</PresentationFormat>
  <Paragraphs>308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Mike Ames</cp:lastModifiedBy>
  <cp:revision>1</cp:revision>
  <dcterms:created xsi:type="dcterms:W3CDTF">2026-05-19T16:36:22Z</dcterms:created>
  <dcterms:modified xsi:type="dcterms:W3CDTF">2026-05-20T00:39:50Z</dcterms:modified>
</cp:coreProperties>
</file>