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3"/>
    <p:restoredTop sz="94610"/>
  </p:normalViewPr>
  <p:slideViewPr>
    <p:cSldViewPr snapToGrid="0" snapToObjects="1">
      <p:cViewPr varScale="1">
        <p:scale>
          <a:sx n="125" d="100"/>
          <a:sy n="125" d="100"/>
        </p:scale>
        <p:origin x="2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7194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our quarterly working session. I want to be direct: we're behind on schedule by roughly two months, and I'll explain exactly why. But I also want to spend most of our time on what's working, what we're learning, and where we're going. We're a new group doing genuinely new things at Jack Henry — that comes with friction, and we'll talk through it together. Plan is roughly: demand story, MVP status, the honest truth on slippage, AI in our SDLC, a roundtable, then the vision. About an hour. Push back any time.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chunks. The first half is about progress and demand. The middle is the honest accounting of where we slipped. The back half is about how we work and where we're going. Hold questions if you can; otherwise jump 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tone. We're going to talk about real, hard things today — slips, blockers, hard tech. Before we do, I want everyone aligned on what the actual job is. Read the four cards aloud — target, crew, play, heat. Tone-wise: this is the Ocean's 13 framing for the meeting. We're the only group at JH doing this. It's audacious, it's hard, and we are absolutely going to pull it off. Saul would be proud.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Candi properly. Format: I'll go around the room and each person says ONE WORD that captures what we're about. Quick — no speeches. Then Candi gets the floor for about 60 seconds. Reminder for the room: Candi joining means we're 13 now. Bring her into the chat threads, the Slack channels, the working sessions. Don't make her ask. Fill in role / team / fun fact in this slide before the meeting if you want — or leave the brackets and improvise.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acknowledgment, not a long thing. Read each name aloud, brief 'happy belated birthday' from the room. Then state the going-forward plan: shared team calendar with birthdays, recurring monthly reminder, cake at the team lunch closest to the date. Fill in the four cards before the meeting — names and dates. If you missed more than four, add slots; if fewer, leave blank slots empty (just delete the cards in PowerPoint).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Crew reveal. Read each code name aloud, then pause for the real name (or improvise — half the fun is everyone arguing about who's The Pickpocket). Before the meeting: fill in real names in the brackets, optionally rename code names — these are just starters. Candi's already pinned to The Wildcard in amber. Heist references encouraged: 'You shake Sinatra's hand, you stand up like a man.' 'Are you in or are you out?' Etc.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start with demand because it sets the table. Before we talk about what we built or where we're behind, I want everyone in this room to feel what the market is telling us. We're not pushing JHBI uphill. The pull is there.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Webinar one packed the room. Webinar two already has more than 100 people pre-registered before we've sent the second push. Two CU presentations, ~100 in each room. And jhaKnow — adjacent product, similar buyer — has 25 new sales this year. I don't have a single demand signal pointing the wrong direction. That matters because everything else we'll talk about today gets easier when the market is pulling.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into your detailed webinar stats deck. Fill in the engagement % and demo-request count if you want a teaser before the deeper dive — or delete the brackets and let your follow-on deck do the work. Hand-off line: 'On the prior slide we said ~200 — let me show you what that ~200 actually looked like.' Then jump to your stats deck. When that's done, return to this deck on the 'What this means for us'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I want every person here to leave with. We're not building speculatively. Speed and quality both matter — they're not in tension when we're disciplined.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scope frame. MVP is not 'everything we want eventually'. It's the smallest credible end-to-end story we can put in front of a buyer.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pillars. We'll walk each one with a status. Then I'll be honest about where we slipped.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progress that doesn't get talked about enough. I wanted these on a single slide so the team sees them collected. None of these were free — they took real work.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lived reality of H1. Onboarding is the long amber bar — that's the slip. Green bars (GCP core, Azure/PowerBI, CI/CD, Portal RBAC + embedded) are done. Teal bars are in flight and on track. The amber today line shows where we are right now. The dots at the bottom are demand events — what the market saw of us during this period. Notice they're real and recent: a webinar landed, two CU rooms, second webinar already pre-registered.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just say it: onboarding contractors took roughly two months longer than I planned for. Some of that is being a new group — we didn't have a paved road. Some is the reality of secure-environment access at a regulated company. What I will not accept is repaying the same tax next quarter. We're writing the runbook now.</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projects are live and useful. PCI and the shared/utility projects are mid-flight. Azure and PowerBI: tenant, capacity, and workspaces are real; embedded auth works against the portal. CI/CD pipelines are baseline-good — IaC, services, dbt — with secret scanning. The honest open risk is PCI scope. We're working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Portal is the surface the buyer touches. RBAC and embedded PowerBI are working. AI query builder is the most exciting piece — NL to SQL against the silver layer, prototype is live, polishing for the demo. Pipeline status page is mid-flight. Alation is in design — catalog model and first sources mapped.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sources for MVP. One has a working CDC prototype. Two are in active design. Three are in discovery. We have real CDC pushback from a couple of source teams — concerns about replication load, ownership, audit trail. We're handling it source-by-source rather than trying to win one big architecture argument.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internalize. First, our CDC framework is real — not a slide. Second, sensitive data has a designed home: tokenized at landing, reversible behind PCI, hashed outside. Third, the medallion gives us a shared vocabulary — bronze raw, silver conformed, gold business-ready, platinum exec-ready. Test data management runs alongside this — synthetic values let us demo and develop without prod sensitive data.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reports planned. Four in active design — the ones we know land in every CU conversation. Six in discovery. I'd rather ship six great reports than ten mediocre ones, and we'll prune based on what real conversations call for.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don't want anyone to leave this room thinking we're hiding it. We're behind, I know it, and I want to walk through why.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causes. Ranked. Onboarding is the big one. Infra ramp-up is real but mostly done. CDC is friction we're working through with the source teams. I want to name the context: we are the only group doing net-new modern-cloud work at this scale at Jack Henry. Some of this is unavoidable first-mover tax.</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actions, each with an owner, each in the next 30 days. The single most important one is the onboarding runbook — we will not pay that tax twice. Pruning is also important: anything not on the demo critical path comes out for now and goes into the post-MVP backlog.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the part that's most fun and most consequential. We have access to a serious AI stack. Most teams don't yet have a shared playbook for using it well. We're going to build one.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Cursor is our IDE. Opus is the hard-reasoning model — pull it in for architecture, ambiguous specs, gnarly debugging, security and data-model reviews. Sonnet is the daily driver — most code generation, tests, SQL, doc writing. The mistake people make is using one model for everything. Pick the right tool for the cognitive lift.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habits I want this team to adopt. The two most underrated: spec before code, and capture the prompts that work. If you write a prompt that produces something genuinely good, that prompt is an artifact — version it, share it. Also: be honest in PRs when something is AI-assisted. It calibrates how reviewers read it.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where I shut up. Mic goes around. We'll do four prompts — quick, ~30 seconds each.</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prompts. Brag, WTF, shout-out, want-to-learn. Mic goes around. About 30 seconds each. Bonus rule: if you steal someone else's answer, you owe them coffee.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section. I want everyone to leave knowing where this is going — not just what's next sprint.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horizons. 90 days, 180 days, 365 days. The frame I want everyone to hold: in 12 months, when someone at Jack Henry asks 'how should we do net-new modern cloud and data?' the answer is JHBI. Not because we won an argument — because the pattern is documented, paved-road, and copyable.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concrete success indicators. I deliberately picked things you'll be able to point at and say 'that happened' or 'that didn't'. If three of these five are true in 12 months, I'm going to call this a hit.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months. Ten work streams. One milestone — the first end-to-end CU demo in early September. I've sequenced backend work source-by-source so we don't fight every team at once. Reference-pattern documentation comes at the end on purpose — we want it written from the real shape of what we built, not what we planned. Three demand events anchor the half: a Q3 webinar, an industry conference, and a year-end CU summit. If we hit the milestone in September, the back half of this Gantt becomes the easiest selling we'll ever do.</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asks. Speak up early. Steal each other's work. Show up for the demo. Each of these compounds. We get a multiplier from a team that does these consistently.</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No question is too small or too obvious. If something didn't make sense, that's on me, not you. Push back, propose, ask. Ocean's 13 closer (optional): 'You shake Sinatra's hand, you stand up like a man.' Or just: 'Crew dismissed. See you next quarter.'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games. Use them however you want. Pictionary is the loudest — best as a warm-up if the room feels tense. Worst Name is the silliest — works as a palate cleanser between honest-truth and AI SDLC. Six Words is the most reflective — best as the closer right before Thank you.</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these terms on slips of paper, fold, drop in a hat or coffee mug. House rule: drawers can use any number of distinct shapes but can't use words or letters. If neither team gets it in 60 seconds, both teams lose the point. Watch the energy in the room — call it after 6 rounds even if you have time for more.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room before sharing inspiration — sometimes it suppresses creativity. If pairs are stuck, the unlock is usually 'lean into the worst possible vibe' (Web3 finance bro, mid-2000s portal, tax software). Save the winners. They're surprisingly useful as cold-open jokes in future stakeholder updates.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Strict on the word count — six exactly. Forces precision. Don't react between answers; let them sit. The scribe is essential — write everything down because the gold lines are unpredictable. Read the top three at the start of next quarter's update as a callback.</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4.png"/><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914400" y="1463040"/>
            <a:ext cx="10058400" cy="1280160"/>
          </a:xfrm>
          <a:prstGeom prst="rect">
            <a:avLst/>
          </a:prstGeom>
          <a:noFill/>
          <a:ln/>
        </p:spPr>
        <p:txBody>
          <a:bodyPr wrap="square" lIns="0" tIns="0" rIns="0" bIns="0" rtlCol="0" anchor="ctr"/>
          <a:lstStyle/>
          <a:p>
            <a:pPr marL="0" indent="0">
              <a:buNone/>
            </a:pPr>
            <a:r>
              <a:rPr lang="en-US" sz="9600" b="1" kern="0" spc="-400" dirty="0">
                <a:solidFill>
                  <a:srgbClr val="FFFFFF"/>
                </a:solidFill>
                <a:latin typeface="Calibri" pitchFamily="34" charset="0"/>
                <a:ea typeface="Calibri" pitchFamily="34" charset="-122"/>
                <a:cs typeface="Calibri" pitchFamily="34" charset="-120"/>
              </a:rPr>
              <a:t>JHBI</a:t>
            </a:r>
            <a:endParaRPr lang="en-US" sz="9600" dirty="0"/>
          </a:p>
        </p:txBody>
      </p:sp>
      <p:sp>
        <p:nvSpPr>
          <p:cNvPr id="4" name="Text 2"/>
          <p:cNvSpPr/>
          <p:nvPr/>
        </p:nvSpPr>
        <p:spPr>
          <a:xfrm>
            <a:off x="914400" y="2743200"/>
            <a:ext cx="10058400" cy="640080"/>
          </a:xfrm>
          <a:prstGeom prst="rect">
            <a:avLst/>
          </a:prstGeom>
          <a:noFill/>
          <a:ln/>
        </p:spPr>
        <p:txBody>
          <a:bodyPr wrap="square" lIns="0" tIns="0" rIns="0" bIns="0" rtlCol="0" anchor="ctr"/>
          <a:lstStyle/>
          <a:p>
            <a:pPr marL="0" indent="0">
              <a:buNone/>
            </a:pPr>
            <a:r>
              <a:rPr lang="en-US" sz="3600" dirty="0">
                <a:solidFill>
                  <a:srgbClr val="CCFBF1"/>
                </a:solidFill>
                <a:latin typeface="Calibri" pitchFamily="34" charset="0"/>
                <a:ea typeface="Calibri" pitchFamily="34" charset="-122"/>
                <a:cs typeface="Calibri" pitchFamily="34" charset="-120"/>
              </a:rPr>
              <a:t>Quarterly Update</a:t>
            </a:r>
            <a:endParaRPr lang="en-US" sz="3600" dirty="0"/>
          </a:p>
        </p:txBody>
      </p:sp>
      <p:sp>
        <p:nvSpPr>
          <p:cNvPr id="5" name="Text 3"/>
          <p:cNvSpPr/>
          <p:nvPr/>
        </p:nvSpPr>
        <p:spPr>
          <a:xfrm>
            <a:off x="914400" y="3474720"/>
            <a:ext cx="10058400" cy="457200"/>
          </a:xfrm>
          <a:prstGeom prst="rect">
            <a:avLst/>
          </a:prstGeom>
          <a:noFill/>
          <a:ln/>
        </p:spPr>
        <p:txBody>
          <a:bodyPr wrap="square" lIns="0" tIns="0" rIns="0" bIns="0" rtlCol="0" anchor="ctr"/>
          <a:lstStyle/>
          <a:p>
            <a:pPr marL="0" indent="0">
              <a:buNone/>
            </a:pPr>
            <a:r>
              <a:rPr lang="en-US" sz="1800" i="1" dirty="0">
                <a:solidFill>
                  <a:srgbClr val="94A3B8"/>
                </a:solidFill>
                <a:latin typeface="Calibri" pitchFamily="34" charset="0"/>
                <a:ea typeface="Calibri" pitchFamily="34" charset="-122"/>
                <a:cs typeface="Calibri" pitchFamily="34" charset="-120"/>
              </a:rPr>
              <a:t>Where we are. What slipped. What's next.</a:t>
            </a:r>
            <a:endParaRPr lang="en-US" sz="1800" dirty="0"/>
          </a:p>
        </p:txBody>
      </p:sp>
      <p:sp>
        <p:nvSpPr>
          <p:cNvPr id="6" name="Shape 4"/>
          <p:cNvSpPr/>
          <p:nvPr/>
        </p:nvSpPr>
        <p:spPr>
          <a:xfrm>
            <a:off x="914400" y="4114800"/>
            <a:ext cx="4754880" cy="411480"/>
          </a:xfrm>
          <a:prstGeom prst="roundRect">
            <a:avLst>
              <a:gd name="adj" fmla="val 48889"/>
            </a:avLst>
          </a:prstGeom>
          <a:solidFill>
            <a:srgbClr val="F59E0B"/>
          </a:solidFill>
          <a:ln w="12700">
            <a:solidFill>
              <a:srgbClr val="F59E0B"/>
            </a:solidFill>
            <a:prstDash val="solid"/>
          </a:ln>
        </p:spPr>
        <p:txBody>
          <a:bodyPr/>
          <a:lstStyle/>
          <a:p>
            <a:endParaRPr lang="en-US"/>
          </a:p>
        </p:txBody>
      </p:sp>
      <p:sp>
        <p:nvSpPr>
          <p:cNvPr id="7" name="Text 5"/>
          <p:cNvSpPr/>
          <p:nvPr/>
        </p:nvSpPr>
        <p:spPr>
          <a:xfrm>
            <a:off x="914400" y="4114800"/>
            <a:ext cx="4754880" cy="411480"/>
          </a:xfrm>
          <a:prstGeom prst="rect">
            <a:avLst/>
          </a:prstGeom>
          <a:noFill/>
          <a:ln/>
        </p:spPr>
        <p:txBody>
          <a:bodyPr wrap="square" lIns="0" tIns="0" rIns="0" bIns="0" rtlCol="0" anchor="ctr"/>
          <a:lstStyle/>
          <a:p>
            <a:pPr marL="0" indent="0" algn="ctr">
              <a:buNone/>
            </a:pPr>
            <a:r>
              <a:rPr lang="en-US" sz="1100" b="1" kern="0" spc="300" dirty="0">
                <a:solidFill>
                  <a:srgbClr val="0F172A"/>
                </a:solidFill>
                <a:latin typeface="Calibri" pitchFamily="34" charset="0"/>
                <a:ea typeface="Calibri" pitchFamily="34" charset="-122"/>
                <a:cs typeface="Calibri" pitchFamily="34" charset="-120"/>
              </a:rPr>
              <a:t>OCEAN'S 13 EDITION  ·  13 PEOPLE  ·  1 AUDACIOUS PLAY</a:t>
            </a:r>
            <a:endParaRPr lang="en-US" sz="1100" dirty="0"/>
          </a:p>
        </p:txBody>
      </p:sp>
      <p:sp>
        <p:nvSpPr>
          <p:cNvPr id="8" name="Text 6"/>
          <p:cNvSpPr/>
          <p:nvPr/>
        </p:nvSpPr>
        <p:spPr>
          <a:xfrm>
            <a:off x="914400" y="5760720"/>
            <a:ext cx="100584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Mike Ames</a:t>
            </a:r>
            <a:r>
              <a:rPr lang="en-US" sz="1400" dirty="0">
                <a:solidFill>
                  <a:srgbClr val="94A3B8"/>
                </a:solidFill>
                <a:latin typeface="Calibri" pitchFamily="34" charset="0"/>
                <a:ea typeface="Calibri" pitchFamily="34" charset="-122"/>
                <a:cs typeface="Calibri" pitchFamily="34" charset="-120"/>
              </a:rPr>
              <a:t>   ·   Q2 2026   ·   Internal Team Working Session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AGENDA</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What we'll cover today</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Roughly 60 minutes — discussion encouraged throughout</a:t>
            </a:r>
            <a:endParaRPr lang="en-US" sz="1400" dirty="0"/>
          </a:p>
        </p:txBody>
      </p:sp>
      <p:sp>
        <p:nvSpPr>
          <p:cNvPr id="8" name="Shape 6"/>
          <p:cNvSpPr/>
          <p:nvPr/>
        </p:nvSpPr>
        <p:spPr>
          <a:xfrm>
            <a:off x="457200" y="2103120"/>
            <a:ext cx="3576218" cy="17830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9" name="Shape 7"/>
          <p:cNvSpPr/>
          <p:nvPr/>
        </p:nvSpPr>
        <p:spPr>
          <a:xfrm>
            <a:off x="457200" y="2103120"/>
            <a:ext cx="73152" cy="1783080"/>
          </a:xfrm>
          <a:prstGeom prst="rect">
            <a:avLst/>
          </a:prstGeom>
          <a:solidFill>
            <a:srgbClr val="0D9488"/>
          </a:solidFill>
          <a:ln w="12700">
            <a:solidFill>
              <a:srgbClr val="0D9488"/>
            </a:solidFill>
            <a:prstDash val="solid"/>
          </a:ln>
        </p:spPr>
        <p:txBody>
          <a:bodyPr/>
          <a:lstStyle/>
          <a:p>
            <a:endParaRPr lang="en-US"/>
          </a:p>
        </p:txBody>
      </p:sp>
      <p:sp>
        <p:nvSpPr>
          <p:cNvPr id="10" name="Text 8"/>
          <p:cNvSpPr/>
          <p:nvPr/>
        </p:nvSpPr>
        <p:spPr>
          <a:xfrm>
            <a:off x="685800" y="2286000"/>
            <a:ext cx="1097280" cy="548640"/>
          </a:xfrm>
          <a:prstGeom prst="rect">
            <a:avLst/>
          </a:prstGeom>
          <a:noFill/>
          <a:ln/>
        </p:spPr>
        <p:txBody>
          <a:bodyPr wrap="square" lIns="0" tIns="0" rIns="0" bIns="0" rtlCol="0" anchor="ctr"/>
          <a:lstStyle/>
          <a:p>
            <a:pPr marL="0" indent="0">
              <a:buNone/>
            </a:pPr>
            <a:r>
              <a:rPr lang="en-US" sz="2800" b="1" dirty="0">
                <a:solidFill>
                  <a:srgbClr val="0D9488"/>
                </a:solidFill>
                <a:latin typeface="Calibri" pitchFamily="34" charset="0"/>
                <a:ea typeface="Calibri" pitchFamily="34" charset="-122"/>
                <a:cs typeface="Calibri" pitchFamily="34" charset="-120"/>
              </a:rPr>
              <a:t>01</a:t>
            </a:r>
            <a:endParaRPr lang="en-US" sz="2800" dirty="0"/>
          </a:p>
        </p:txBody>
      </p:sp>
      <p:sp>
        <p:nvSpPr>
          <p:cNvPr id="11" name="Text 9"/>
          <p:cNvSpPr/>
          <p:nvPr/>
        </p:nvSpPr>
        <p:spPr>
          <a:xfrm>
            <a:off x="685800" y="2788920"/>
            <a:ext cx="3347618" cy="41148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The demand story</a:t>
            </a:r>
            <a:endParaRPr lang="en-US" sz="1600" dirty="0"/>
          </a:p>
        </p:txBody>
      </p:sp>
      <p:sp>
        <p:nvSpPr>
          <p:cNvPr id="12" name="Text 10"/>
          <p:cNvSpPr/>
          <p:nvPr/>
        </p:nvSpPr>
        <p:spPr>
          <a:xfrm>
            <a:off x="685800" y="3200400"/>
            <a:ext cx="3347618" cy="6400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Why JHBI matters and what the market is telling us</a:t>
            </a:r>
            <a:endParaRPr lang="en-US" sz="1100" dirty="0"/>
          </a:p>
        </p:txBody>
      </p:sp>
      <p:sp>
        <p:nvSpPr>
          <p:cNvPr id="13" name="Shape 11"/>
          <p:cNvSpPr/>
          <p:nvPr/>
        </p:nvSpPr>
        <p:spPr>
          <a:xfrm>
            <a:off x="4216298" y="2103120"/>
            <a:ext cx="3576218" cy="17830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4" name="Shape 12"/>
          <p:cNvSpPr/>
          <p:nvPr/>
        </p:nvSpPr>
        <p:spPr>
          <a:xfrm>
            <a:off x="4216298" y="2103120"/>
            <a:ext cx="73152" cy="1783080"/>
          </a:xfrm>
          <a:prstGeom prst="rect">
            <a:avLst/>
          </a:prstGeom>
          <a:solidFill>
            <a:srgbClr val="0D9488"/>
          </a:solidFill>
          <a:ln w="12700">
            <a:solidFill>
              <a:srgbClr val="0D9488"/>
            </a:solidFill>
            <a:prstDash val="solid"/>
          </a:ln>
        </p:spPr>
        <p:txBody>
          <a:bodyPr/>
          <a:lstStyle/>
          <a:p>
            <a:endParaRPr lang="en-US"/>
          </a:p>
        </p:txBody>
      </p:sp>
      <p:sp>
        <p:nvSpPr>
          <p:cNvPr id="15" name="Text 13"/>
          <p:cNvSpPr/>
          <p:nvPr/>
        </p:nvSpPr>
        <p:spPr>
          <a:xfrm>
            <a:off x="4444898" y="2286000"/>
            <a:ext cx="1097280" cy="548640"/>
          </a:xfrm>
          <a:prstGeom prst="rect">
            <a:avLst/>
          </a:prstGeom>
          <a:noFill/>
          <a:ln/>
        </p:spPr>
        <p:txBody>
          <a:bodyPr wrap="square" lIns="0" tIns="0" rIns="0" bIns="0" rtlCol="0" anchor="ctr"/>
          <a:lstStyle/>
          <a:p>
            <a:pPr marL="0" indent="0">
              <a:buNone/>
            </a:pPr>
            <a:r>
              <a:rPr lang="en-US" sz="2800" b="1" dirty="0">
                <a:solidFill>
                  <a:srgbClr val="0D9488"/>
                </a:solidFill>
                <a:latin typeface="Calibri" pitchFamily="34" charset="0"/>
                <a:ea typeface="Calibri" pitchFamily="34" charset="-122"/>
                <a:cs typeface="Calibri" pitchFamily="34" charset="-120"/>
              </a:rPr>
              <a:t>02</a:t>
            </a:r>
            <a:endParaRPr lang="en-US" sz="2800" dirty="0"/>
          </a:p>
        </p:txBody>
      </p:sp>
      <p:sp>
        <p:nvSpPr>
          <p:cNvPr id="16" name="Text 14"/>
          <p:cNvSpPr/>
          <p:nvPr/>
        </p:nvSpPr>
        <p:spPr>
          <a:xfrm>
            <a:off x="4444898" y="2788920"/>
            <a:ext cx="3347618" cy="41148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MVP at a glance</a:t>
            </a:r>
            <a:endParaRPr lang="en-US" sz="1600" dirty="0"/>
          </a:p>
        </p:txBody>
      </p:sp>
      <p:sp>
        <p:nvSpPr>
          <p:cNvPr id="17" name="Text 15"/>
          <p:cNvSpPr/>
          <p:nvPr/>
        </p:nvSpPr>
        <p:spPr>
          <a:xfrm>
            <a:off x="4444898" y="3200400"/>
            <a:ext cx="3347618" cy="6400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All five pillars and where each one stands</a:t>
            </a:r>
            <a:endParaRPr lang="en-US" sz="1100" dirty="0"/>
          </a:p>
        </p:txBody>
      </p:sp>
      <p:sp>
        <p:nvSpPr>
          <p:cNvPr id="18" name="Shape 16"/>
          <p:cNvSpPr/>
          <p:nvPr/>
        </p:nvSpPr>
        <p:spPr>
          <a:xfrm>
            <a:off x="7975397" y="2103120"/>
            <a:ext cx="3576218" cy="17830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9" name="Shape 17"/>
          <p:cNvSpPr/>
          <p:nvPr/>
        </p:nvSpPr>
        <p:spPr>
          <a:xfrm>
            <a:off x="7975397" y="2103120"/>
            <a:ext cx="73152" cy="1783080"/>
          </a:xfrm>
          <a:prstGeom prst="rect">
            <a:avLst/>
          </a:prstGeom>
          <a:solidFill>
            <a:srgbClr val="0D9488"/>
          </a:solidFill>
          <a:ln w="12700">
            <a:solidFill>
              <a:srgbClr val="0D9488"/>
            </a:solidFill>
            <a:prstDash val="solid"/>
          </a:ln>
        </p:spPr>
        <p:txBody>
          <a:bodyPr/>
          <a:lstStyle/>
          <a:p>
            <a:endParaRPr lang="en-US"/>
          </a:p>
        </p:txBody>
      </p:sp>
      <p:sp>
        <p:nvSpPr>
          <p:cNvPr id="20" name="Text 18"/>
          <p:cNvSpPr/>
          <p:nvPr/>
        </p:nvSpPr>
        <p:spPr>
          <a:xfrm>
            <a:off x="8203997" y="2286000"/>
            <a:ext cx="1097280" cy="548640"/>
          </a:xfrm>
          <a:prstGeom prst="rect">
            <a:avLst/>
          </a:prstGeom>
          <a:noFill/>
          <a:ln/>
        </p:spPr>
        <p:txBody>
          <a:bodyPr wrap="square" lIns="0" tIns="0" rIns="0" bIns="0" rtlCol="0" anchor="ctr"/>
          <a:lstStyle/>
          <a:p>
            <a:pPr marL="0" indent="0">
              <a:buNone/>
            </a:pPr>
            <a:r>
              <a:rPr lang="en-US" sz="2800" b="1" dirty="0">
                <a:solidFill>
                  <a:srgbClr val="0D9488"/>
                </a:solidFill>
                <a:latin typeface="Calibri" pitchFamily="34" charset="0"/>
                <a:ea typeface="Calibri" pitchFamily="34" charset="-122"/>
                <a:cs typeface="Calibri" pitchFamily="34" charset="-120"/>
              </a:rPr>
              <a:t>03</a:t>
            </a:r>
            <a:endParaRPr lang="en-US" sz="2800" dirty="0"/>
          </a:p>
        </p:txBody>
      </p:sp>
      <p:sp>
        <p:nvSpPr>
          <p:cNvPr id="21" name="Text 19"/>
          <p:cNvSpPr/>
          <p:nvPr/>
        </p:nvSpPr>
        <p:spPr>
          <a:xfrm>
            <a:off x="8203997" y="2788920"/>
            <a:ext cx="3347618" cy="41148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The honest truth</a:t>
            </a:r>
            <a:endParaRPr lang="en-US" sz="1600" dirty="0"/>
          </a:p>
        </p:txBody>
      </p:sp>
      <p:sp>
        <p:nvSpPr>
          <p:cNvPr id="22" name="Text 20"/>
          <p:cNvSpPr/>
          <p:nvPr/>
        </p:nvSpPr>
        <p:spPr>
          <a:xfrm>
            <a:off x="8203997" y="3200400"/>
            <a:ext cx="3347618" cy="6400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Where things slipped, why, and what we're doing about it</a:t>
            </a:r>
            <a:endParaRPr lang="en-US" sz="1100" dirty="0"/>
          </a:p>
        </p:txBody>
      </p:sp>
      <p:sp>
        <p:nvSpPr>
          <p:cNvPr id="23" name="Shape 21"/>
          <p:cNvSpPr/>
          <p:nvPr/>
        </p:nvSpPr>
        <p:spPr>
          <a:xfrm>
            <a:off x="457200" y="4114800"/>
            <a:ext cx="3576218" cy="17830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4" name="Shape 22"/>
          <p:cNvSpPr/>
          <p:nvPr/>
        </p:nvSpPr>
        <p:spPr>
          <a:xfrm>
            <a:off x="457200" y="4114800"/>
            <a:ext cx="73152" cy="1783080"/>
          </a:xfrm>
          <a:prstGeom prst="rect">
            <a:avLst/>
          </a:prstGeom>
          <a:solidFill>
            <a:srgbClr val="0D9488"/>
          </a:solidFill>
          <a:ln w="12700">
            <a:solidFill>
              <a:srgbClr val="0D9488"/>
            </a:solidFill>
            <a:prstDash val="solid"/>
          </a:ln>
        </p:spPr>
        <p:txBody>
          <a:bodyPr/>
          <a:lstStyle/>
          <a:p>
            <a:endParaRPr lang="en-US"/>
          </a:p>
        </p:txBody>
      </p:sp>
      <p:sp>
        <p:nvSpPr>
          <p:cNvPr id="25" name="Text 23"/>
          <p:cNvSpPr/>
          <p:nvPr/>
        </p:nvSpPr>
        <p:spPr>
          <a:xfrm>
            <a:off x="685800" y="4297680"/>
            <a:ext cx="1097280" cy="548640"/>
          </a:xfrm>
          <a:prstGeom prst="rect">
            <a:avLst/>
          </a:prstGeom>
          <a:noFill/>
          <a:ln/>
        </p:spPr>
        <p:txBody>
          <a:bodyPr wrap="square" lIns="0" tIns="0" rIns="0" bIns="0" rtlCol="0" anchor="ctr"/>
          <a:lstStyle/>
          <a:p>
            <a:pPr marL="0" indent="0">
              <a:buNone/>
            </a:pPr>
            <a:r>
              <a:rPr lang="en-US" sz="2800" b="1" dirty="0">
                <a:solidFill>
                  <a:srgbClr val="0D9488"/>
                </a:solidFill>
                <a:latin typeface="Calibri" pitchFamily="34" charset="0"/>
                <a:ea typeface="Calibri" pitchFamily="34" charset="-122"/>
                <a:cs typeface="Calibri" pitchFamily="34" charset="-120"/>
              </a:rPr>
              <a:t>04</a:t>
            </a:r>
            <a:endParaRPr lang="en-US" sz="2800" dirty="0"/>
          </a:p>
        </p:txBody>
      </p:sp>
      <p:sp>
        <p:nvSpPr>
          <p:cNvPr id="26" name="Text 24"/>
          <p:cNvSpPr/>
          <p:nvPr/>
        </p:nvSpPr>
        <p:spPr>
          <a:xfrm>
            <a:off x="685800" y="4800600"/>
            <a:ext cx="3347618" cy="41148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AI in our SDLC</a:t>
            </a:r>
            <a:endParaRPr lang="en-US" sz="1600" dirty="0"/>
          </a:p>
        </p:txBody>
      </p:sp>
      <p:sp>
        <p:nvSpPr>
          <p:cNvPr id="27" name="Text 25"/>
          <p:cNvSpPr/>
          <p:nvPr/>
        </p:nvSpPr>
        <p:spPr>
          <a:xfrm>
            <a:off x="685800" y="5212080"/>
            <a:ext cx="3347618" cy="6400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Cursor, Opus, Sonnet — and best practices we're adopting</a:t>
            </a:r>
            <a:endParaRPr lang="en-US" sz="1100" dirty="0"/>
          </a:p>
        </p:txBody>
      </p:sp>
      <p:sp>
        <p:nvSpPr>
          <p:cNvPr id="28" name="Shape 26"/>
          <p:cNvSpPr/>
          <p:nvPr/>
        </p:nvSpPr>
        <p:spPr>
          <a:xfrm>
            <a:off x="4216298" y="4114800"/>
            <a:ext cx="3576218" cy="17830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9" name="Shape 27"/>
          <p:cNvSpPr/>
          <p:nvPr/>
        </p:nvSpPr>
        <p:spPr>
          <a:xfrm>
            <a:off x="4216298" y="4114800"/>
            <a:ext cx="73152" cy="1783080"/>
          </a:xfrm>
          <a:prstGeom prst="rect">
            <a:avLst/>
          </a:prstGeom>
          <a:solidFill>
            <a:srgbClr val="0D9488"/>
          </a:solidFill>
          <a:ln w="12700">
            <a:solidFill>
              <a:srgbClr val="0D9488"/>
            </a:solidFill>
            <a:prstDash val="solid"/>
          </a:ln>
        </p:spPr>
        <p:txBody>
          <a:bodyPr/>
          <a:lstStyle/>
          <a:p>
            <a:endParaRPr lang="en-US"/>
          </a:p>
        </p:txBody>
      </p:sp>
      <p:sp>
        <p:nvSpPr>
          <p:cNvPr id="30" name="Text 28"/>
          <p:cNvSpPr/>
          <p:nvPr/>
        </p:nvSpPr>
        <p:spPr>
          <a:xfrm>
            <a:off x="4444898" y="4297680"/>
            <a:ext cx="1097280" cy="548640"/>
          </a:xfrm>
          <a:prstGeom prst="rect">
            <a:avLst/>
          </a:prstGeom>
          <a:noFill/>
          <a:ln/>
        </p:spPr>
        <p:txBody>
          <a:bodyPr wrap="square" lIns="0" tIns="0" rIns="0" bIns="0" rtlCol="0" anchor="ctr"/>
          <a:lstStyle/>
          <a:p>
            <a:pPr marL="0" indent="0">
              <a:buNone/>
            </a:pPr>
            <a:r>
              <a:rPr lang="en-US" sz="2800" b="1" dirty="0">
                <a:solidFill>
                  <a:srgbClr val="0D9488"/>
                </a:solidFill>
                <a:latin typeface="Calibri" pitchFamily="34" charset="0"/>
                <a:ea typeface="Calibri" pitchFamily="34" charset="-122"/>
                <a:cs typeface="Calibri" pitchFamily="34" charset="-120"/>
              </a:rPr>
              <a:t>05</a:t>
            </a:r>
            <a:endParaRPr lang="en-US" sz="2800" dirty="0"/>
          </a:p>
        </p:txBody>
      </p:sp>
      <p:sp>
        <p:nvSpPr>
          <p:cNvPr id="31" name="Text 29"/>
          <p:cNvSpPr/>
          <p:nvPr/>
        </p:nvSpPr>
        <p:spPr>
          <a:xfrm>
            <a:off x="4444898" y="4800600"/>
            <a:ext cx="3347618" cy="41148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Team roundtable</a:t>
            </a:r>
            <a:endParaRPr lang="en-US" sz="1600" dirty="0"/>
          </a:p>
        </p:txBody>
      </p:sp>
      <p:sp>
        <p:nvSpPr>
          <p:cNvPr id="32" name="Text 30"/>
          <p:cNvSpPr/>
          <p:nvPr/>
        </p:nvSpPr>
        <p:spPr>
          <a:xfrm>
            <a:off x="4444898" y="5212080"/>
            <a:ext cx="3347618" cy="6400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Wins, blockers, and one thing we want to learn</a:t>
            </a:r>
            <a:endParaRPr lang="en-US" sz="1100" dirty="0"/>
          </a:p>
        </p:txBody>
      </p:sp>
      <p:sp>
        <p:nvSpPr>
          <p:cNvPr id="33" name="Shape 31"/>
          <p:cNvSpPr/>
          <p:nvPr/>
        </p:nvSpPr>
        <p:spPr>
          <a:xfrm>
            <a:off x="7975397" y="4114800"/>
            <a:ext cx="3576218" cy="17830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34" name="Shape 32"/>
          <p:cNvSpPr/>
          <p:nvPr/>
        </p:nvSpPr>
        <p:spPr>
          <a:xfrm>
            <a:off x="7975397" y="4114800"/>
            <a:ext cx="73152" cy="1783080"/>
          </a:xfrm>
          <a:prstGeom prst="rect">
            <a:avLst/>
          </a:prstGeom>
          <a:solidFill>
            <a:srgbClr val="0D9488"/>
          </a:solidFill>
          <a:ln w="12700">
            <a:solidFill>
              <a:srgbClr val="0D9488"/>
            </a:solidFill>
            <a:prstDash val="solid"/>
          </a:ln>
        </p:spPr>
        <p:txBody>
          <a:bodyPr/>
          <a:lstStyle/>
          <a:p>
            <a:endParaRPr lang="en-US"/>
          </a:p>
        </p:txBody>
      </p:sp>
      <p:sp>
        <p:nvSpPr>
          <p:cNvPr id="35" name="Text 33"/>
          <p:cNvSpPr/>
          <p:nvPr/>
        </p:nvSpPr>
        <p:spPr>
          <a:xfrm>
            <a:off x="8203997" y="4297680"/>
            <a:ext cx="1097280" cy="548640"/>
          </a:xfrm>
          <a:prstGeom prst="rect">
            <a:avLst/>
          </a:prstGeom>
          <a:noFill/>
          <a:ln/>
        </p:spPr>
        <p:txBody>
          <a:bodyPr wrap="square" lIns="0" tIns="0" rIns="0" bIns="0" rtlCol="0" anchor="ctr"/>
          <a:lstStyle/>
          <a:p>
            <a:pPr marL="0" indent="0">
              <a:buNone/>
            </a:pPr>
            <a:r>
              <a:rPr lang="en-US" sz="2800" b="1" dirty="0">
                <a:solidFill>
                  <a:srgbClr val="0D9488"/>
                </a:solidFill>
                <a:latin typeface="Calibri" pitchFamily="34" charset="0"/>
                <a:ea typeface="Calibri" pitchFamily="34" charset="-122"/>
                <a:cs typeface="Calibri" pitchFamily="34" charset="-120"/>
              </a:rPr>
              <a:t>06</a:t>
            </a:r>
            <a:endParaRPr lang="en-US" sz="2800" dirty="0"/>
          </a:p>
        </p:txBody>
      </p:sp>
      <p:sp>
        <p:nvSpPr>
          <p:cNvPr id="36" name="Text 34"/>
          <p:cNvSpPr/>
          <p:nvPr/>
        </p:nvSpPr>
        <p:spPr>
          <a:xfrm>
            <a:off x="8203997" y="4800600"/>
            <a:ext cx="3347618" cy="41148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The vision</a:t>
            </a:r>
            <a:endParaRPr lang="en-US" sz="1600" dirty="0"/>
          </a:p>
        </p:txBody>
      </p:sp>
      <p:sp>
        <p:nvSpPr>
          <p:cNvPr id="37" name="Text 35"/>
          <p:cNvSpPr/>
          <p:nvPr/>
        </p:nvSpPr>
        <p:spPr>
          <a:xfrm>
            <a:off x="8203997" y="5212080"/>
            <a:ext cx="3347618" cy="6400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What JHBI looks like 12 months from now</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MISSION BRIEFING</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 / 38</a:t>
            </a:r>
            <a:endParaRPr lang="en-US" sz="900" dirty="0"/>
          </a:p>
        </p:txBody>
      </p:sp>
      <p:sp>
        <p:nvSpPr>
          <p:cNvPr id="6" name="Text 4"/>
          <p:cNvSpPr/>
          <p:nvPr/>
        </p:nvSpPr>
        <p:spPr>
          <a:xfrm>
            <a:off x="457200" y="868680"/>
            <a:ext cx="7315200" cy="365760"/>
          </a:xfrm>
          <a:prstGeom prst="rect">
            <a:avLst/>
          </a:prstGeom>
          <a:noFill/>
          <a:ln/>
        </p:spPr>
        <p:txBody>
          <a:bodyPr wrap="square" lIns="0" tIns="0" rIns="0" bIns="0" rtlCol="0" anchor="ctr"/>
          <a:lstStyle/>
          <a:p>
            <a:pPr marL="0" indent="0">
              <a:buNone/>
            </a:pPr>
            <a:r>
              <a:rPr lang="en-US" sz="1100" b="1" kern="0" spc="600" dirty="0">
                <a:solidFill>
                  <a:srgbClr val="F59E0B"/>
                </a:solidFill>
                <a:latin typeface="Calibri" pitchFamily="34" charset="0"/>
                <a:ea typeface="Calibri" pitchFamily="34" charset="-122"/>
                <a:cs typeface="Calibri" pitchFamily="34" charset="-120"/>
              </a:rPr>
              <a:t>MISSION BRIEFING  ·  EYES ONLY</a:t>
            </a:r>
            <a:endParaRPr lang="en-US" sz="1100" dirty="0"/>
          </a:p>
        </p:txBody>
      </p:sp>
      <p:sp>
        <p:nvSpPr>
          <p:cNvPr id="7" name="Text 5"/>
          <p:cNvSpPr/>
          <p:nvPr/>
        </p:nvSpPr>
        <p:spPr>
          <a:xfrm>
            <a:off x="457200" y="1280160"/>
            <a:ext cx="7315200" cy="1188720"/>
          </a:xfrm>
          <a:prstGeom prst="rect">
            <a:avLst/>
          </a:prstGeom>
          <a:noFill/>
          <a:ln/>
        </p:spPr>
        <p:txBody>
          <a:bodyPr wrap="square" lIns="0" tIns="0" rIns="0" bIns="0" rtlCol="0" anchor="ctr"/>
          <a:lstStyle/>
          <a:p>
            <a:pPr marL="0" indent="0">
              <a:buNone/>
            </a:pPr>
            <a:r>
              <a:rPr lang="en-US" sz="7200" b="1" kern="0" spc="-200" dirty="0">
                <a:solidFill>
                  <a:srgbClr val="FFFFFF"/>
                </a:solidFill>
                <a:latin typeface="Calibri" pitchFamily="34" charset="0"/>
                <a:ea typeface="Calibri" pitchFamily="34" charset="-122"/>
                <a:cs typeface="Calibri" pitchFamily="34" charset="-120"/>
              </a:rPr>
              <a:t>The Job.</a:t>
            </a:r>
            <a:endParaRPr lang="en-US" sz="7200" dirty="0"/>
          </a:p>
        </p:txBody>
      </p:sp>
      <p:sp>
        <p:nvSpPr>
          <p:cNvPr id="8" name="Text 6"/>
          <p:cNvSpPr/>
          <p:nvPr/>
        </p:nvSpPr>
        <p:spPr>
          <a:xfrm>
            <a:off x="457200" y="2468880"/>
            <a:ext cx="10972800" cy="411480"/>
          </a:xfrm>
          <a:prstGeom prst="rect">
            <a:avLst/>
          </a:prstGeom>
          <a:noFill/>
          <a:ln/>
        </p:spPr>
        <p:txBody>
          <a:bodyPr wrap="square" lIns="0" tIns="0" rIns="0" bIns="0" rtlCol="0" anchor="ctr"/>
          <a:lstStyle/>
          <a:p>
            <a:pPr marL="0" indent="0">
              <a:buNone/>
            </a:pPr>
            <a:r>
              <a:rPr lang="en-US" sz="1600" i="1" dirty="0">
                <a:solidFill>
                  <a:srgbClr val="94A3B8"/>
                </a:solidFill>
                <a:latin typeface="Calibri" pitchFamily="34" charset="0"/>
                <a:ea typeface="Calibri" pitchFamily="34" charset="-122"/>
                <a:cs typeface="Calibri" pitchFamily="34" charset="-120"/>
              </a:rPr>
              <a:t>Six months. Five pillars. Thirteen of us. One audacious play.</a:t>
            </a:r>
            <a:endParaRPr lang="en-US" sz="1600" dirty="0"/>
          </a:p>
        </p:txBody>
      </p:sp>
      <p:sp>
        <p:nvSpPr>
          <p:cNvPr id="9" name="Shape 7"/>
          <p:cNvSpPr/>
          <p:nvPr/>
        </p:nvSpPr>
        <p:spPr>
          <a:xfrm>
            <a:off x="457200" y="3108960"/>
            <a:ext cx="5455768" cy="1554480"/>
          </a:xfrm>
          <a:prstGeom prst="rect">
            <a:avLst/>
          </a:prstGeom>
          <a:solidFill>
            <a:srgbClr val="1E293B"/>
          </a:solidFill>
          <a:ln w="12700">
            <a:solidFill>
              <a:srgbClr val="F59E0B"/>
            </a:solidFill>
            <a:prstDash val="solid"/>
          </a:ln>
          <a:effectLst>
            <a:outerShdw blurRad="101600" dist="25400" dir="5400000" algn="bl" rotWithShape="0">
              <a:srgbClr val="000000">
                <a:alpha val="10000"/>
              </a:srgbClr>
            </a:outerShdw>
          </a:effectLst>
        </p:spPr>
        <p:txBody>
          <a:bodyPr/>
          <a:lstStyle/>
          <a:p>
            <a:endParaRPr lang="en-US"/>
          </a:p>
        </p:txBody>
      </p:sp>
      <p:sp>
        <p:nvSpPr>
          <p:cNvPr id="10" name="Shape 8"/>
          <p:cNvSpPr/>
          <p:nvPr/>
        </p:nvSpPr>
        <p:spPr>
          <a:xfrm>
            <a:off x="457200" y="3108960"/>
            <a:ext cx="73152" cy="1554480"/>
          </a:xfrm>
          <a:prstGeom prst="rect">
            <a:avLst/>
          </a:prstGeom>
          <a:solidFill>
            <a:srgbClr val="F59E0B"/>
          </a:solidFill>
          <a:ln w="12700">
            <a:solidFill>
              <a:srgbClr val="F59E0B"/>
            </a:solidFill>
            <a:prstDash val="solid"/>
          </a:ln>
        </p:spPr>
        <p:txBody>
          <a:bodyPr/>
          <a:lstStyle/>
          <a:p>
            <a:endParaRPr lang="en-US"/>
          </a:p>
        </p:txBody>
      </p:sp>
      <p:sp>
        <p:nvSpPr>
          <p:cNvPr id="11" name="Text 9"/>
          <p:cNvSpPr/>
          <p:nvPr/>
        </p:nvSpPr>
        <p:spPr>
          <a:xfrm>
            <a:off x="731520" y="3273552"/>
            <a:ext cx="4998568" cy="274320"/>
          </a:xfrm>
          <a:prstGeom prst="rect">
            <a:avLst/>
          </a:prstGeom>
          <a:noFill/>
          <a:ln/>
        </p:spPr>
        <p:txBody>
          <a:bodyPr wrap="square" lIns="0" tIns="0" rIns="0" bIns="0" rtlCol="0" anchor="ctr"/>
          <a:lstStyle/>
          <a:p>
            <a:pPr marL="0" indent="0">
              <a:buNone/>
            </a:pPr>
            <a:r>
              <a:rPr lang="en-US" sz="1000" b="1" kern="0" spc="400" dirty="0">
                <a:solidFill>
                  <a:srgbClr val="F59E0B"/>
                </a:solidFill>
                <a:latin typeface="Calibri" pitchFamily="34" charset="0"/>
                <a:ea typeface="Calibri" pitchFamily="34" charset="-122"/>
                <a:cs typeface="Calibri" pitchFamily="34" charset="-120"/>
              </a:rPr>
              <a:t>TARGET</a:t>
            </a:r>
            <a:endParaRPr lang="en-US" sz="1000" dirty="0"/>
          </a:p>
        </p:txBody>
      </p:sp>
      <p:sp>
        <p:nvSpPr>
          <p:cNvPr id="12" name="Text 10"/>
          <p:cNvSpPr/>
          <p:nvPr/>
        </p:nvSpPr>
        <p:spPr>
          <a:xfrm>
            <a:off x="731520" y="3566160"/>
            <a:ext cx="4998568"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mark.</a:t>
            </a:r>
            <a:endParaRPr lang="en-US" sz="2200" dirty="0"/>
          </a:p>
        </p:txBody>
      </p:sp>
      <p:sp>
        <p:nvSpPr>
          <p:cNvPr id="13" name="Text 11"/>
          <p:cNvSpPr/>
          <p:nvPr/>
        </p:nvSpPr>
        <p:spPr>
          <a:xfrm>
            <a:off x="731520" y="4041648"/>
            <a:ext cx="4998568" cy="64008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A fragmented data landscape inside Jack Henry. Six sources. No unified view. Growing market demand. We consolidate, modernize, and surface it.</a:t>
            </a:r>
            <a:endParaRPr lang="en-US" sz="1100" dirty="0"/>
          </a:p>
        </p:txBody>
      </p:sp>
      <p:sp>
        <p:nvSpPr>
          <p:cNvPr id="14" name="Shape 12"/>
          <p:cNvSpPr/>
          <p:nvPr/>
        </p:nvSpPr>
        <p:spPr>
          <a:xfrm>
            <a:off x="6278728" y="3108960"/>
            <a:ext cx="5455768" cy="1554480"/>
          </a:xfrm>
          <a:prstGeom prst="rect">
            <a:avLst/>
          </a:prstGeom>
          <a:solidFill>
            <a:srgbClr val="1E293B"/>
          </a:solidFill>
          <a:ln w="12700">
            <a:solidFill>
              <a:srgbClr val="F59E0B"/>
            </a:solidFill>
            <a:prstDash val="solid"/>
          </a:ln>
          <a:effectLst>
            <a:outerShdw blurRad="101600" dist="25400" dir="5400000" algn="bl" rotWithShape="0">
              <a:srgbClr val="000000">
                <a:alpha val="10000"/>
              </a:srgbClr>
            </a:outerShdw>
          </a:effectLst>
        </p:spPr>
        <p:txBody>
          <a:bodyPr/>
          <a:lstStyle/>
          <a:p>
            <a:endParaRPr lang="en-US"/>
          </a:p>
        </p:txBody>
      </p:sp>
      <p:sp>
        <p:nvSpPr>
          <p:cNvPr id="15" name="Shape 13"/>
          <p:cNvSpPr/>
          <p:nvPr/>
        </p:nvSpPr>
        <p:spPr>
          <a:xfrm>
            <a:off x="6278728" y="3108960"/>
            <a:ext cx="73152" cy="1554480"/>
          </a:xfrm>
          <a:prstGeom prst="rect">
            <a:avLst/>
          </a:prstGeom>
          <a:solidFill>
            <a:srgbClr val="F59E0B"/>
          </a:solidFill>
          <a:ln w="12700">
            <a:solidFill>
              <a:srgbClr val="F59E0B"/>
            </a:solidFill>
            <a:prstDash val="solid"/>
          </a:ln>
        </p:spPr>
        <p:txBody>
          <a:bodyPr/>
          <a:lstStyle/>
          <a:p>
            <a:endParaRPr lang="en-US"/>
          </a:p>
        </p:txBody>
      </p:sp>
      <p:sp>
        <p:nvSpPr>
          <p:cNvPr id="16" name="Text 14"/>
          <p:cNvSpPr/>
          <p:nvPr/>
        </p:nvSpPr>
        <p:spPr>
          <a:xfrm>
            <a:off x="6553048" y="3273552"/>
            <a:ext cx="4998568" cy="274320"/>
          </a:xfrm>
          <a:prstGeom prst="rect">
            <a:avLst/>
          </a:prstGeom>
          <a:noFill/>
          <a:ln/>
        </p:spPr>
        <p:txBody>
          <a:bodyPr wrap="square" lIns="0" tIns="0" rIns="0" bIns="0" rtlCol="0" anchor="ctr"/>
          <a:lstStyle/>
          <a:p>
            <a:pPr marL="0" indent="0">
              <a:buNone/>
            </a:pPr>
            <a:r>
              <a:rPr lang="en-US" sz="1000" b="1" kern="0" spc="400" dirty="0">
                <a:solidFill>
                  <a:srgbClr val="F59E0B"/>
                </a:solidFill>
                <a:latin typeface="Calibri" pitchFamily="34" charset="0"/>
                <a:ea typeface="Calibri" pitchFamily="34" charset="-122"/>
                <a:cs typeface="Calibri" pitchFamily="34" charset="-120"/>
              </a:rPr>
              <a:t>THE CREW</a:t>
            </a:r>
            <a:endParaRPr lang="en-US" sz="1000" dirty="0"/>
          </a:p>
        </p:txBody>
      </p:sp>
      <p:sp>
        <p:nvSpPr>
          <p:cNvPr id="17" name="Text 15"/>
          <p:cNvSpPr/>
          <p:nvPr/>
        </p:nvSpPr>
        <p:spPr>
          <a:xfrm>
            <a:off x="6553048" y="3566160"/>
            <a:ext cx="4998568"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Thirteen of us.</a:t>
            </a:r>
            <a:endParaRPr lang="en-US" sz="2200" dirty="0"/>
          </a:p>
        </p:txBody>
      </p:sp>
      <p:sp>
        <p:nvSpPr>
          <p:cNvPr id="18" name="Text 16"/>
          <p:cNvSpPr/>
          <p:nvPr/>
        </p:nvSpPr>
        <p:spPr>
          <a:xfrm>
            <a:off x="6553048" y="4041648"/>
            <a:ext cx="4998568" cy="64008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The only group at Jack Henry doing net-new modern cloud at this scale. We move fast, we ship clean, we own outcomes.</a:t>
            </a:r>
            <a:endParaRPr lang="en-US" sz="1100" dirty="0"/>
          </a:p>
        </p:txBody>
      </p:sp>
      <p:sp>
        <p:nvSpPr>
          <p:cNvPr id="19" name="Shape 17"/>
          <p:cNvSpPr/>
          <p:nvPr/>
        </p:nvSpPr>
        <p:spPr>
          <a:xfrm>
            <a:off x="457200" y="4846320"/>
            <a:ext cx="5455768" cy="1554480"/>
          </a:xfrm>
          <a:prstGeom prst="rect">
            <a:avLst/>
          </a:prstGeom>
          <a:solidFill>
            <a:srgbClr val="1E293B"/>
          </a:solidFill>
          <a:ln w="12700">
            <a:solidFill>
              <a:srgbClr val="F59E0B"/>
            </a:solidFill>
            <a:prstDash val="solid"/>
          </a:ln>
          <a:effectLst>
            <a:outerShdw blurRad="101600" dist="25400" dir="5400000" algn="bl" rotWithShape="0">
              <a:srgbClr val="000000">
                <a:alpha val="10000"/>
              </a:srgbClr>
            </a:outerShdw>
          </a:effectLst>
        </p:spPr>
        <p:txBody>
          <a:bodyPr/>
          <a:lstStyle/>
          <a:p>
            <a:endParaRPr lang="en-US"/>
          </a:p>
        </p:txBody>
      </p:sp>
      <p:sp>
        <p:nvSpPr>
          <p:cNvPr id="20" name="Shape 18"/>
          <p:cNvSpPr/>
          <p:nvPr/>
        </p:nvSpPr>
        <p:spPr>
          <a:xfrm>
            <a:off x="457200" y="4846320"/>
            <a:ext cx="73152" cy="1554480"/>
          </a:xfrm>
          <a:prstGeom prst="rect">
            <a:avLst/>
          </a:prstGeom>
          <a:solidFill>
            <a:srgbClr val="F59E0B"/>
          </a:solidFill>
          <a:ln w="12700">
            <a:solidFill>
              <a:srgbClr val="F59E0B"/>
            </a:solidFill>
            <a:prstDash val="solid"/>
          </a:ln>
        </p:spPr>
        <p:txBody>
          <a:bodyPr/>
          <a:lstStyle/>
          <a:p>
            <a:endParaRPr lang="en-US"/>
          </a:p>
        </p:txBody>
      </p:sp>
      <p:sp>
        <p:nvSpPr>
          <p:cNvPr id="21" name="Text 19"/>
          <p:cNvSpPr/>
          <p:nvPr/>
        </p:nvSpPr>
        <p:spPr>
          <a:xfrm>
            <a:off x="731520" y="5010912"/>
            <a:ext cx="4998568" cy="274320"/>
          </a:xfrm>
          <a:prstGeom prst="rect">
            <a:avLst/>
          </a:prstGeom>
          <a:noFill/>
          <a:ln/>
        </p:spPr>
        <p:txBody>
          <a:bodyPr wrap="square" lIns="0" tIns="0" rIns="0" bIns="0" rtlCol="0" anchor="ctr"/>
          <a:lstStyle/>
          <a:p>
            <a:pPr marL="0" indent="0">
              <a:buNone/>
            </a:pPr>
            <a:r>
              <a:rPr lang="en-US" sz="1000" b="1" kern="0" spc="400" dirty="0">
                <a:solidFill>
                  <a:srgbClr val="F59E0B"/>
                </a:solidFill>
                <a:latin typeface="Calibri" pitchFamily="34" charset="0"/>
                <a:ea typeface="Calibri" pitchFamily="34" charset="-122"/>
                <a:cs typeface="Calibri" pitchFamily="34" charset="-120"/>
              </a:rPr>
              <a:t>THE PLAY</a:t>
            </a:r>
            <a:endParaRPr lang="en-US" sz="1000" dirty="0"/>
          </a:p>
        </p:txBody>
      </p:sp>
      <p:sp>
        <p:nvSpPr>
          <p:cNvPr id="22" name="Text 20"/>
          <p:cNvSpPr/>
          <p:nvPr/>
        </p:nvSpPr>
        <p:spPr>
          <a:xfrm>
            <a:off x="731520" y="5303520"/>
            <a:ext cx="4998568"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MVP.</a:t>
            </a:r>
            <a:endParaRPr lang="en-US" sz="2200" dirty="0"/>
          </a:p>
        </p:txBody>
      </p:sp>
      <p:sp>
        <p:nvSpPr>
          <p:cNvPr id="23" name="Text 21"/>
          <p:cNvSpPr/>
          <p:nvPr/>
        </p:nvSpPr>
        <p:spPr>
          <a:xfrm>
            <a:off x="731520" y="5779008"/>
            <a:ext cx="4998568" cy="64008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MVP demo-ready by end of </a:t>
            </a:r>
            <a:r>
              <a:rPr lang="en-US" sz="1100" dirty="0" err="1">
                <a:solidFill>
                  <a:srgbClr val="94A3B8"/>
                </a:solidFill>
                <a:latin typeface="Calibri" pitchFamily="34" charset="0"/>
                <a:ea typeface="Calibri" pitchFamily="34" charset="-122"/>
                <a:cs typeface="Calibri" pitchFamily="34" charset="-120"/>
              </a:rPr>
              <a:t>Qx</a:t>
            </a:r>
            <a:r>
              <a:rPr lang="en-US" sz="1100" dirty="0">
                <a:solidFill>
                  <a:srgbClr val="94A3B8"/>
                </a:solidFill>
                <a:latin typeface="Calibri" pitchFamily="34" charset="0"/>
                <a:ea typeface="Calibri" pitchFamily="34" charset="-122"/>
                <a:cs typeface="Calibri" pitchFamily="34" charset="-120"/>
              </a:rPr>
              <a:t>. First paying client by year-end. Become the reference pattern for the company in 12 months.</a:t>
            </a:r>
            <a:endParaRPr lang="en-US" sz="1100" dirty="0"/>
          </a:p>
        </p:txBody>
      </p:sp>
      <p:sp>
        <p:nvSpPr>
          <p:cNvPr id="24" name="Shape 22"/>
          <p:cNvSpPr/>
          <p:nvPr/>
        </p:nvSpPr>
        <p:spPr>
          <a:xfrm>
            <a:off x="6278728" y="4846320"/>
            <a:ext cx="5455768" cy="1554480"/>
          </a:xfrm>
          <a:prstGeom prst="rect">
            <a:avLst/>
          </a:prstGeom>
          <a:solidFill>
            <a:srgbClr val="1E293B"/>
          </a:solidFill>
          <a:ln w="12700">
            <a:solidFill>
              <a:srgbClr val="F59E0B"/>
            </a:solidFill>
            <a:prstDash val="solid"/>
          </a:ln>
          <a:effectLst>
            <a:outerShdw blurRad="101600" dist="25400" dir="5400000" algn="bl" rotWithShape="0">
              <a:srgbClr val="000000">
                <a:alpha val="10000"/>
              </a:srgbClr>
            </a:outerShdw>
          </a:effectLst>
        </p:spPr>
        <p:txBody>
          <a:bodyPr/>
          <a:lstStyle/>
          <a:p>
            <a:endParaRPr lang="en-US"/>
          </a:p>
        </p:txBody>
      </p:sp>
      <p:sp>
        <p:nvSpPr>
          <p:cNvPr id="25" name="Shape 23"/>
          <p:cNvSpPr/>
          <p:nvPr/>
        </p:nvSpPr>
        <p:spPr>
          <a:xfrm>
            <a:off x="6278728" y="4846320"/>
            <a:ext cx="73152" cy="1554480"/>
          </a:xfrm>
          <a:prstGeom prst="rect">
            <a:avLst/>
          </a:prstGeom>
          <a:solidFill>
            <a:srgbClr val="F59E0B"/>
          </a:solidFill>
          <a:ln w="12700">
            <a:solidFill>
              <a:srgbClr val="F59E0B"/>
            </a:solidFill>
            <a:prstDash val="solid"/>
          </a:ln>
        </p:spPr>
        <p:txBody>
          <a:bodyPr/>
          <a:lstStyle/>
          <a:p>
            <a:endParaRPr lang="en-US"/>
          </a:p>
        </p:txBody>
      </p:sp>
      <p:sp>
        <p:nvSpPr>
          <p:cNvPr id="26" name="Text 24"/>
          <p:cNvSpPr/>
          <p:nvPr/>
        </p:nvSpPr>
        <p:spPr>
          <a:xfrm>
            <a:off x="6553048" y="5010912"/>
            <a:ext cx="4998568" cy="274320"/>
          </a:xfrm>
          <a:prstGeom prst="rect">
            <a:avLst/>
          </a:prstGeom>
          <a:noFill/>
          <a:ln/>
        </p:spPr>
        <p:txBody>
          <a:bodyPr wrap="square" lIns="0" tIns="0" rIns="0" bIns="0" rtlCol="0" anchor="ctr"/>
          <a:lstStyle/>
          <a:p>
            <a:pPr marL="0" indent="0">
              <a:buNone/>
            </a:pPr>
            <a:r>
              <a:rPr lang="en-US" sz="1000" b="1" kern="0" spc="400" dirty="0">
                <a:solidFill>
                  <a:srgbClr val="F59E0B"/>
                </a:solidFill>
                <a:latin typeface="Calibri" pitchFamily="34" charset="0"/>
                <a:ea typeface="Calibri" pitchFamily="34" charset="-122"/>
                <a:cs typeface="Calibri" pitchFamily="34" charset="-120"/>
              </a:rPr>
              <a:t>THE HEAT</a:t>
            </a:r>
            <a:endParaRPr lang="en-US" sz="1000" dirty="0"/>
          </a:p>
        </p:txBody>
      </p:sp>
      <p:sp>
        <p:nvSpPr>
          <p:cNvPr id="27" name="Text 25"/>
          <p:cNvSpPr/>
          <p:nvPr/>
        </p:nvSpPr>
        <p:spPr>
          <a:xfrm>
            <a:off x="6553048" y="5303520"/>
            <a:ext cx="4998568"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could blow it.</a:t>
            </a:r>
            <a:endParaRPr lang="en-US" sz="2200" dirty="0"/>
          </a:p>
        </p:txBody>
      </p:sp>
      <p:sp>
        <p:nvSpPr>
          <p:cNvPr id="28" name="Text 26"/>
          <p:cNvSpPr/>
          <p:nvPr/>
        </p:nvSpPr>
        <p:spPr>
          <a:xfrm>
            <a:off x="6553048" y="5779008"/>
            <a:ext cx="4998568" cy="64008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Scope. Source-team CDC pushback. The internal tax. We name the heat out loud so it can't surprise us.</a:t>
            </a:r>
            <a:endParaRPr lang="en-US" sz="1100" dirty="0"/>
          </a:p>
        </p:txBody>
      </p:sp>
      <p:pic>
        <p:nvPicPr>
          <p:cNvPr id="30" name="Picture 29" descr="Why Julia Roberts Didn't Return For Ocean's 13">
            <a:extLst>
              <a:ext uri="{FF2B5EF4-FFF2-40B4-BE49-F238E27FC236}">
                <a16:creationId xmlns:a16="http://schemas.microsoft.com/office/drawing/2014/main" id="{76CAF574-03C4-4FE3-598B-91A8E24409B9}"/>
              </a:ext>
            </a:extLst>
          </p:cNvPr>
          <p:cNvPicPr>
            <a:picLocks noChangeAspect="1"/>
          </p:cNvPicPr>
          <p:nvPr/>
        </p:nvPicPr>
        <p:blipFill>
          <a:blip r:embed="rId3">
            <a:alphaModFix amt="70000"/>
          </a:blip>
          <a:stretch>
            <a:fillRect/>
          </a:stretch>
        </p:blipFill>
        <p:spPr>
          <a:xfrm>
            <a:off x="6278728" y="38162"/>
            <a:ext cx="5655208" cy="31810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TEAM</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 / 38</a:t>
            </a:r>
            <a:endParaRPr lang="en-US" sz="900" dirty="0"/>
          </a:p>
        </p:txBody>
      </p:sp>
      <p:sp>
        <p:nvSpPr>
          <p:cNvPr id="6" name="Text 4"/>
          <p:cNvSpPr/>
          <p:nvPr/>
        </p:nvSpPr>
        <p:spPr>
          <a:xfrm>
            <a:off x="457200" y="914400"/>
            <a:ext cx="5486400" cy="457200"/>
          </a:xfrm>
          <a:prstGeom prst="rect">
            <a:avLst/>
          </a:prstGeom>
          <a:noFill/>
          <a:ln/>
        </p:spPr>
        <p:txBody>
          <a:bodyPr wrap="square" lIns="0" tIns="0" rIns="0" bIns="0" rtlCol="0" anchor="ctr"/>
          <a:lstStyle/>
          <a:p>
            <a:pPr marL="0" indent="0">
              <a:buNone/>
            </a:pPr>
            <a:r>
              <a:rPr lang="en-US" sz="1600" b="1" kern="0" spc="600" dirty="0">
                <a:solidFill>
                  <a:srgbClr val="F59E0B"/>
                </a:solidFill>
                <a:latin typeface="Calibri" pitchFamily="34" charset="0"/>
                <a:ea typeface="Calibri" pitchFamily="34" charset="-122"/>
                <a:cs typeface="Calibri" pitchFamily="34" charset="-120"/>
              </a:rPr>
              <a:t>WELCOME</a:t>
            </a:r>
            <a:endParaRPr lang="en-US" sz="1600" dirty="0"/>
          </a:p>
        </p:txBody>
      </p:sp>
      <p:sp>
        <p:nvSpPr>
          <p:cNvPr id="7" name="Text 5"/>
          <p:cNvSpPr/>
          <p:nvPr/>
        </p:nvSpPr>
        <p:spPr>
          <a:xfrm>
            <a:off x="457200" y="1417320"/>
            <a:ext cx="6858000" cy="1280160"/>
          </a:xfrm>
          <a:prstGeom prst="rect">
            <a:avLst/>
          </a:prstGeom>
          <a:noFill/>
          <a:ln/>
        </p:spPr>
        <p:txBody>
          <a:bodyPr wrap="square" lIns="0" tIns="0" rIns="0" bIns="0" rtlCol="0" anchor="ctr"/>
          <a:lstStyle/>
          <a:p>
            <a:pPr marL="0" indent="0">
              <a:buNone/>
            </a:pPr>
            <a:r>
              <a:rPr lang="en-US" sz="7200" b="1" kern="0" spc="-200" dirty="0">
                <a:solidFill>
                  <a:srgbClr val="1E293B"/>
                </a:solidFill>
                <a:latin typeface="Calibri" pitchFamily="34" charset="0"/>
                <a:ea typeface="Calibri" pitchFamily="34" charset="-122"/>
                <a:cs typeface="Calibri" pitchFamily="34" charset="-120"/>
              </a:rPr>
              <a:t>Candi Westin</a:t>
            </a:r>
            <a:endParaRPr lang="en-US" sz="7200" dirty="0"/>
          </a:p>
        </p:txBody>
      </p:sp>
      <p:sp>
        <p:nvSpPr>
          <p:cNvPr id="8" name="Text 6"/>
          <p:cNvSpPr/>
          <p:nvPr/>
        </p:nvSpPr>
        <p:spPr>
          <a:xfrm>
            <a:off x="457200" y="2743200"/>
            <a:ext cx="6858000" cy="457200"/>
          </a:xfrm>
          <a:prstGeom prst="rect">
            <a:avLst/>
          </a:prstGeom>
          <a:noFill/>
          <a:ln/>
        </p:spPr>
        <p:txBody>
          <a:bodyPr wrap="square" lIns="0" tIns="0" rIns="0" bIns="0" rtlCol="0" anchor="ctr"/>
          <a:lstStyle/>
          <a:p>
            <a:pPr marL="0" indent="0">
              <a:buNone/>
            </a:pPr>
            <a:r>
              <a:rPr lang="en-US" sz="2000" i="1" dirty="0">
                <a:solidFill>
                  <a:srgbClr val="64748B"/>
                </a:solidFill>
                <a:latin typeface="Calibri" pitchFamily="34" charset="0"/>
                <a:ea typeface="Calibri" pitchFamily="34" charset="-122"/>
                <a:cs typeface="Calibri" pitchFamily="34" charset="-120"/>
              </a:rPr>
              <a:t>Newest member of the JHBI team — we're 13.</a:t>
            </a:r>
            <a:endParaRPr lang="en-US" sz="2000" dirty="0"/>
          </a:p>
        </p:txBody>
      </p:sp>
      <p:sp>
        <p:nvSpPr>
          <p:cNvPr id="9" name="Shape 7"/>
          <p:cNvSpPr/>
          <p:nvPr/>
        </p:nvSpPr>
        <p:spPr>
          <a:xfrm>
            <a:off x="457200" y="3657600"/>
            <a:ext cx="6858000" cy="22860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0" name="Shape 8"/>
          <p:cNvSpPr/>
          <p:nvPr/>
        </p:nvSpPr>
        <p:spPr>
          <a:xfrm>
            <a:off x="457200" y="3657600"/>
            <a:ext cx="73152" cy="2286000"/>
          </a:xfrm>
          <a:prstGeom prst="rect">
            <a:avLst/>
          </a:prstGeom>
          <a:solidFill>
            <a:srgbClr val="F59E0B"/>
          </a:solidFill>
          <a:ln w="12700">
            <a:solidFill>
              <a:srgbClr val="F59E0B"/>
            </a:solidFill>
            <a:prstDash val="solid"/>
          </a:ln>
        </p:spPr>
        <p:txBody>
          <a:bodyPr/>
          <a:lstStyle/>
          <a:p>
            <a:endParaRPr lang="en-US"/>
          </a:p>
        </p:txBody>
      </p:sp>
      <p:sp>
        <p:nvSpPr>
          <p:cNvPr id="11" name="Text 9"/>
          <p:cNvSpPr/>
          <p:nvPr/>
        </p:nvSpPr>
        <p:spPr>
          <a:xfrm>
            <a:off x="685800" y="3794760"/>
            <a:ext cx="6400800" cy="365760"/>
          </a:xfrm>
          <a:prstGeom prst="rect">
            <a:avLst/>
          </a:prstGeom>
          <a:noFill/>
          <a:ln/>
        </p:spPr>
        <p:txBody>
          <a:bodyPr wrap="square" lIns="0" tIns="0" rIns="0" bIns="0" rtlCol="0" anchor="ctr"/>
          <a:lstStyle/>
          <a:p>
            <a:pPr marL="0" indent="0">
              <a:buNone/>
            </a:pPr>
            <a:r>
              <a:rPr lang="en-US" sz="1200" b="1" kern="0" spc="300" dirty="0">
                <a:solidFill>
                  <a:srgbClr val="64748B"/>
                </a:solidFill>
                <a:latin typeface="Calibri" pitchFamily="34" charset="0"/>
                <a:ea typeface="Calibri" pitchFamily="34" charset="-122"/>
                <a:cs typeface="Calibri" pitchFamily="34" charset="-120"/>
              </a:rPr>
              <a:t>Round of welcome</a:t>
            </a:r>
            <a:endParaRPr lang="en-US" sz="1200" dirty="0"/>
          </a:p>
        </p:txBody>
      </p:sp>
      <p:sp>
        <p:nvSpPr>
          <p:cNvPr id="12" name="Text 10"/>
          <p:cNvSpPr/>
          <p:nvPr/>
        </p:nvSpPr>
        <p:spPr>
          <a:xfrm>
            <a:off x="685800" y="4160520"/>
            <a:ext cx="6400800" cy="502920"/>
          </a:xfrm>
          <a:prstGeom prst="rect">
            <a:avLst/>
          </a:prstGeom>
          <a:noFill/>
          <a:ln/>
        </p:spPr>
        <p:txBody>
          <a:bodyPr wrap="square" lIns="0" tIns="0" rIns="0" bIns="0" rtlCol="0" anchor="ctr"/>
          <a:lstStyle/>
          <a:p>
            <a:pPr marL="0" indent="0">
              <a:buNone/>
            </a:pPr>
            <a:r>
              <a:rPr lang="en-US" sz="2200" b="1" dirty="0">
                <a:solidFill>
                  <a:srgbClr val="1E293B"/>
                </a:solidFill>
                <a:latin typeface="Calibri" pitchFamily="34" charset="0"/>
                <a:ea typeface="Calibri" pitchFamily="34" charset="-122"/>
                <a:cs typeface="Calibri" pitchFamily="34" charset="-120"/>
              </a:rPr>
              <a:t>Mic goes around. One word each.</a:t>
            </a:r>
            <a:endParaRPr lang="en-US" sz="2200" dirty="0"/>
          </a:p>
        </p:txBody>
      </p:sp>
      <p:sp>
        <p:nvSpPr>
          <p:cNvPr id="13" name="Text 11"/>
          <p:cNvSpPr/>
          <p:nvPr/>
        </p:nvSpPr>
        <p:spPr>
          <a:xfrm>
            <a:off x="685800" y="4754880"/>
            <a:ext cx="6400800" cy="109728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Everyone says one word that captures what we're about as a team — what we want Candi to feel walking in. Candi goes last and gets the floor for ~60 seconds: who you are, what brought you here, anything we should know.</a:t>
            </a:r>
            <a:endParaRPr lang="en-US" sz="1200" dirty="0"/>
          </a:p>
        </p:txBody>
      </p:sp>
      <p:sp>
        <p:nvSpPr>
          <p:cNvPr id="14" name="Shape 12"/>
          <p:cNvSpPr/>
          <p:nvPr/>
        </p:nvSpPr>
        <p:spPr>
          <a:xfrm>
            <a:off x="7589520" y="914400"/>
            <a:ext cx="4144975" cy="50292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5" name="Shape 13"/>
          <p:cNvSpPr/>
          <p:nvPr/>
        </p:nvSpPr>
        <p:spPr>
          <a:xfrm>
            <a:off x="7589520" y="914400"/>
            <a:ext cx="73152" cy="5029200"/>
          </a:xfrm>
          <a:prstGeom prst="rect">
            <a:avLst/>
          </a:prstGeom>
          <a:solidFill>
            <a:srgbClr val="0D9488"/>
          </a:solidFill>
          <a:ln w="12700">
            <a:solidFill>
              <a:srgbClr val="0D9488"/>
            </a:solidFill>
            <a:prstDash val="solid"/>
          </a:ln>
        </p:spPr>
        <p:txBody>
          <a:bodyPr/>
          <a:lstStyle/>
          <a:p>
            <a:endParaRPr lang="en-US"/>
          </a:p>
        </p:txBody>
      </p:sp>
      <p:sp>
        <p:nvSpPr>
          <p:cNvPr id="16" name="Shape 14"/>
          <p:cNvSpPr/>
          <p:nvPr/>
        </p:nvSpPr>
        <p:spPr>
          <a:xfrm>
            <a:off x="9159088" y="1371600"/>
            <a:ext cx="1463040" cy="1463040"/>
          </a:xfrm>
          <a:prstGeom prst="ellipse">
            <a:avLst/>
          </a:prstGeom>
          <a:solidFill>
            <a:srgbClr val="0D9488"/>
          </a:solidFill>
          <a:ln w="12700">
            <a:solidFill>
              <a:srgbClr val="0D9488"/>
            </a:solidFill>
            <a:prstDash val="solid"/>
          </a:ln>
        </p:spPr>
        <p:txBody>
          <a:bodyPr/>
          <a:lstStyle/>
          <a:p>
            <a:endParaRPr lang="en-US"/>
          </a:p>
        </p:txBody>
      </p:sp>
      <p:pic>
        <p:nvPicPr>
          <p:cNvPr id="17" name="Image 0" descr="preencoded.png"/>
          <p:cNvPicPr>
            <a:picLocks noChangeAspect="1"/>
          </p:cNvPicPr>
          <p:nvPr/>
        </p:nvPicPr>
        <p:blipFill>
          <a:blip r:embed="rId3"/>
          <a:stretch>
            <a:fillRect/>
          </a:stretch>
        </p:blipFill>
        <p:spPr>
          <a:xfrm>
            <a:off x="9524848" y="1737360"/>
            <a:ext cx="731520" cy="731520"/>
          </a:xfrm>
          <a:prstGeom prst="rect">
            <a:avLst/>
          </a:prstGeom>
        </p:spPr>
      </p:pic>
      <p:sp>
        <p:nvSpPr>
          <p:cNvPr id="18" name="Text 15"/>
          <p:cNvSpPr/>
          <p:nvPr/>
        </p:nvSpPr>
        <p:spPr>
          <a:xfrm>
            <a:off x="7818120" y="3017520"/>
            <a:ext cx="3870655" cy="457200"/>
          </a:xfrm>
          <a:prstGeom prst="rect">
            <a:avLst/>
          </a:prstGeom>
          <a:noFill/>
          <a:ln/>
        </p:spPr>
        <p:txBody>
          <a:bodyPr wrap="square" lIns="0" tIns="0" rIns="0" bIns="0" rtlCol="0" anchor="ctr"/>
          <a:lstStyle/>
          <a:p>
            <a:pPr marL="0" indent="0" algn="ctr">
              <a:buNone/>
            </a:pPr>
            <a:r>
              <a:rPr lang="en-US" sz="2200" b="1" dirty="0">
                <a:solidFill>
                  <a:srgbClr val="1E293B"/>
                </a:solidFill>
                <a:latin typeface="Calibri" pitchFamily="34" charset="0"/>
                <a:ea typeface="Calibri" pitchFamily="34" charset="-122"/>
                <a:cs typeface="Calibri" pitchFamily="34" charset="-120"/>
              </a:rPr>
              <a:t>Candi Westin</a:t>
            </a:r>
            <a:endParaRPr lang="en-US" sz="2200" dirty="0"/>
          </a:p>
        </p:txBody>
      </p:sp>
      <p:sp>
        <p:nvSpPr>
          <p:cNvPr id="19" name="Text 16"/>
          <p:cNvSpPr/>
          <p:nvPr/>
        </p:nvSpPr>
        <p:spPr>
          <a:xfrm>
            <a:off x="7818120" y="3474720"/>
            <a:ext cx="3870655" cy="365760"/>
          </a:xfrm>
          <a:prstGeom prst="rect">
            <a:avLst/>
          </a:prstGeom>
          <a:noFill/>
          <a:ln/>
        </p:spPr>
        <p:txBody>
          <a:bodyPr wrap="square" lIns="0" tIns="0" rIns="0" bIns="0" rtlCol="0" anchor="ctr"/>
          <a:lstStyle/>
          <a:p>
            <a:pPr marL="0" indent="0" algn="ctr">
              <a:buNone/>
            </a:pPr>
            <a:r>
              <a:rPr lang="en-US" sz="1300" i="1" dirty="0">
                <a:solidFill>
                  <a:srgbClr val="64748B"/>
                </a:solidFill>
                <a:latin typeface="Calibri" pitchFamily="34" charset="0"/>
                <a:ea typeface="Calibri" pitchFamily="34" charset="-122"/>
                <a:cs typeface="Calibri" pitchFamily="34" charset="-120"/>
              </a:rPr>
              <a:t>[ AI/ML Data Engineer]</a:t>
            </a:r>
            <a:endParaRPr lang="en-US" sz="1300" dirty="0"/>
          </a:p>
        </p:txBody>
      </p:sp>
      <p:sp>
        <p:nvSpPr>
          <p:cNvPr id="20" name="Text 17"/>
          <p:cNvSpPr/>
          <p:nvPr/>
        </p:nvSpPr>
        <p:spPr>
          <a:xfrm>
            <a:off x="7818120" y="4069080"/>
            <a:ext cx="1188720" cy="320040"/>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JOINED</a:t>
            </a:r>
            <a:endParaRPr lang="en-US" sz="900" dirty="0"/>
          </a:p>
        </p:txBody>
      </p:sp>
      <p:sp>
        <p:nvSpPr>
          <p:cNvPr id="21" name="Text 18"/>
          <p:cNvSpPr/>
          <p:nvPr/>
        </p:nvSpPr>
        <p:spPr>
          <a:xfrm>
            <a:off x="9006840" y="4069080"/>
            <a:ext cx="2681935" cy="320040"/>
          </a:xfrm>
          <a:prstGeom prst="rect">
            <a:avLst/>
          </a:prstGeom>
          <a:noFill/>
          <a:ln/>
        </p:spPr>
        <p:txBody>
          <a:bodyPr wrap="square" lIns="0" tIns="0" rIns="0" bIns="0" rtlCol="0" anchor="ctr"/>
          <a:lstStyle/>
          <a:p>
            <a:pPr marL="0" indent="0">
              <a:buNone/>
            </a:pPr>
            <a:r>
              <a:rPr lang="en-US" sz="1100" i="1" dirty="0">
                <a:solidFill>
                  <a:srgbClr val="334155"/>
                </a:solidFill>
                <a:latin typeface="Calibri" pitchFamily="34" charset="0"/>
                <a:ea typeface="Calibri" pitchFamily="34" charset="-122"/>
                <a:cs typeface="Calibri" pitchFamily="34" charset="-120"/>
              </a:rPr>
              <a:t>[ Last Monday ]</a:t>
            </a:r>
            <a:endParaRPr lang="en-US" sz="1100" dirty="0"/>
          </a:p>
        </p:txBody>
      </p:sp>
      <p:sp>
        <p:nvSpPr>
          <p:cNvPr id="22" name="Text 19"/>
          <p:cNvSpPr/>
          <p:nvPr/>
        </p:nvSpPr>
        <p:spPr>
          <a:xfrm>
            <a:off x="7818120" y="4572000"/>
            <a:ext cx="1188720" cy="320040"/>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WORKING ON</a:t>
            </a:r>
            <a:endParaRPr lang="en-US" sz="900" dirty="0"/>
          </a:p>
        </p:txBody>
      </p:sp>
      <p:sp>
        <p:nvSpPr>
          <p:cNvPr id="23" name="Text 20"/>
          <p:cNvSpPr/>
          <p:nvPr/>
        </p:nvSpPr>
        <p:spPr>
          <a:xfrm>
            <a:off x="9006840" y="4572000"/>
            <a:ext cx="2681935" cy="320040"/>
          </a:xfrm>
          <a:prstGeom prst="rect">
            <a:avLst/>
          </a:prstGeom>
          <a:noFill/>
          <a:ln/>
        </p:spPr>
        <p:txBody>
          <a:bodyPr wrap="square" lIns="0" tIns="0" rIns="0" bIns="0" rtlCol="0" anchor="ctr"/>
          <a:lstStyle/>
          <a:p>
            <a:pPr marL="0" indent="0">
              <a:buNone/>
            </a:pPr>
            <a:r>
              <a:rPr lang="en-US" sz="1100" i="1" dirty="0">
                <a:solidFill>
                  <a:srgbClr val="334155"/>
                </a:solidFill>
                <a:latin typeface="Calibri" pitchFamily="34" charset="0"/>
                <a:ea typeface="Calibri" pitchFamily="34" charset="-122"/>
                <a:cs typeface="Calibri" pitchFamily="34" charset="-120"/>
              </a:rPr>
              <a:t>[ Data Science AI/ML Stuff ]</a:t>
            </a:r>
            <a:endParaRPr lang="en-US" sz="1100" dirty="0"/>
          </a:p>
        </p:txBody>
      </p:sp>
      <p:sp>
        <p:nvSpPr>
          <p:cNvPr id="24" name="Text 21"/>
          <p:cNvSpPr/>
          <p:nvPr/>
        </p:nvSpPr>
        <p:spPr>
          <a:xfrm>
            <a:off x="7818120" y="5074920"/>
            <a:ext cx="1188720" cy="320040"/>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FUN FACT</a:t>
            </a:r>
            <a:endParaRPr lang="en-US" sz="900" dirty="0"/>
          </a:p>
        </p:txBody>
      </p:sp>
      <p:sp>
        <p:nvSpPr>
          <p:cNvPr id="25" name="Text 22"/>
          <p:cNvSpPr/>
          <p:nvPr/>
        </p:nvSpPr>
        <p:spPr>
          <a:xfrm>
            <a:off x="9006840" y="5074920"/>
            <a:ext cx="2681935" cy="320040"/>
          </a:xfrm>
          <a:prstGeom prst="rect">
            <a:avLst/>
          </a:prstGeom>
          <a:noFill/>
          <a:ln/>
        </p:spPr>
        <p:txBody>
          <a:bodyPr wrap="square" lIns="0" tIns="0" rIns="0" bIns="0" rtlCol="0" anchor="ctr"/>
          <a:lstStyle/>
          <a:p>
            <a:pPr marL="0" indent="0">
              <a:buNone/>
            </a:pPr>
            <a:r>
              <a:rPr lang="en-US" sz="1100" i="1" dirty="0">
                <a:solidFill>
                  <a:srgbClr val="334155"/>
                </a:solidFill>
                <a:latin typeface="Calibri" pitchFamily="34" charset="0"/>
                <a:ea typeface="Calibri" pitchFamily="34" charset="-122"/>
                <a:cs typeface="Calibri" pitchFamily="34" charset="-120"/>
              </a:rPr>
              <a:t>Knows Lewis </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TEAM</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Birthdays we missed</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We owe you cake. Filing this under things we won't let happen again.</a:t>
            </a:r>
            <a:endParaRPr lang="en-US" sz="1400" dirty="0"/>
          </a:p>
        </p:txBody>
      </p:sp>
      <p:sp>
        <p:nvSpPr>
          <p:cNvPr id="8" name="Shape 6"/>
          <p:cNvSpPr/>
          <p:nvPr/>
        </p:nvSpPr>
        <p:spPr>
          <a:xfrm>
            <a:off x="457200" y="2194560"/>
            <a:ext cx="2682164" cy="27432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9" name="Shape 7"/>
          <p:cNvSpPr/>
          <p:nvPr/>
        </p:nvSpPr>
        <p:spPr>
          <a:xfrm>
            <a:off x="457200" y="2194560"/>
            <a:ext cx="73152" cy="2743200"/>
          </a:xfrm>
          <a:prstGeom prst="rect">
            <a:avLst/>
          </a:prstGeom>
          <a:solidFill>
            <a:srgbClr val="F59E0B"/>
          </a:solidFill>
          <a:ln w="12700">
            <a:solidFill>
              <a:srgbClr val="F59E0B"/>
            </a:solidFill>
            <a:prstDash val="solid"/>
          </a:ln>
        </p:spPr>
        <p:txBody>
          <a:bodyPr/>
          <a:lstStyle/>
          <a:p>
            <a:endParaRPr lang="en-US"/>
          </a:p>
        </p:txBody>
      </p:sp>
      <p:sp>
        <p:nvSpPr>
          <p:cNvPr id="10" name="Shape 8"/>
          <p:cNvSpPr/>
          <p:nvPr/>
        </p:nvSpPr>
        <p:spPr>
          <a:xfrm>
            <a:off x="1341082" y="2468880"/>
            <a:ext cx="914400" cy="914400"/>
          </a:xfrm>
          <a:prstGeom prst="ellipse">
            <a:avLst/>
          </a:prstGeom>
          <a:solidFill>
            <a:srgbClr val="F59E0B"/>
          </a:solidFill>
          <a:ln w="12700">
            <a:solidFill>
              <a:srgbClr val="F59E0B"/>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1505674" y="2633472"/>
            <a:ext cx="585216" cy="585216"/>
          </a:xfrm>
          <a:prstGeom prst="rect">
            <a:avLst/>
          </a:prstGeom>
        </p:spPr>
      </p:pic>
      <p:sp>
        <p:nvSpPr>
          <p:cNvPr id="12" name="Text 9"/>
          <p:cNvSpPr/>
          <p:nvPr/>
        </p:nvSpPr>
        <p:spPr>
          <a:xfrm>
            <a:off x="594360" y="3657600"/>
            <a:ext cx="2407844" cy="457200"/>
          </a:xfrm>
          <a:prstGeom prst="rect">
            <a:avLst/>
          </a:prstGeom>
          <a:noFill/>
          <a:ln/>
        </p:spPr>
        <p:txBody>
          <a:bodyPr wrap="square" lIns="0" tIns="0" rIns="0" bIns="0" rtlCol="0" anchor="ctr"/>
          <a:lstStyle/>
          <a:p>
            <a:pPr marL="0" indent="0" algn="ctr">
              <a:buNone/>
            </a:pPr>
            <a:r>
              <a:rPr lang="en-US" sz="1600" b="1" dirty="0">
                <a:solidFill>
                  <a:srgbClr val="1E293B"/>
                </a:solidFill>
                <a:latin typeface="Calibri" pitchFamily="34" charset="0"/>
                <a:ea typeface="Calibri" pitchFamily="34" charset="-122"/>
                <a:cs typeface="Calibri" pitchFamily="34" charset="-120"/>
              </a:rPr>
              <a:t>[ Name ]</a:t>
            </a:r>
            <a:endParaRPr lang="en-US" sz="1600" dirty="0"/>
          </a:p>
        </p:txBody>
      </p:sp>
      <p:sp>
        <p:nvSpPr>
          <p:cNvPr id="13" name="Text 10"/>
          <p:cNvSpPr/>
          <p:nvPr/>
        </p:nvSpPr>
        <p:spPr>
          <a:xfrm>
            <a:off x="594360" y="4160520"/>
            <a:ext cx="2407844" cy="36576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 Date ]</a:t>
            </a:r>
            <a:endParaRPr lang="en-US" sz="1200" dirty="0"/>
          </a:p>
        </p:txBody>
      </p:sp>
      <p:sp>
        <p:nvSpPr>
          <p:cNvPr id="14" name="Text 11"/>
          <p:cNvSpPr/>
          <p:nvPr/>
        </p:nvSpPr>
        <p:spPr>
          <a:xfrm>
            <a:off x="594360" y="4572000"/>
            <a:ext cx="2407844" cy="274320"/>
          </a:xfrm>
          <a:prstGeom prst="rect">
            <a:avLst/>
          </a:prstGeom>
          <a:noFill/>
          <a:ln/>
        </p:spPr>
        <p:txBody>
          <a:bodyPr wrap="square" lIns="0" tIns="0" rIns="0" bIns="0" rtlCol="0" anchor="ctr"/>
          <a:lstStyle/>
          <a:p>
            <a:pPr marL="0" indent="0" algn="ctr">
              <a:buNone/>
            </a:pPr>
            <a:r>
              <a:rPr lang="en-US" sz="1000" i="1" dirty="0">
                <a:solidFill>
                  <a:srgbClr val="F59E0B"/>
                </a:solidFill>
                <a:latin typeface="Calibri" pitchFamily="34" charset="0"/>
                <a:ea typeface="Calibri" pitchFamily="34" charset="-122"/>
                <a:cs typeface="Calibri" pitchFamily="34" charset="-120"/>
              </a:rPr>
              <a:t>Cake at next team lunch.</a:t>
            </a:r>
            <a:endParaRPr lang="en-US" sz="1000" dirty="0"/>
          </a:p>
        </p:txBody>
      </p:sp>
      <p:sp>
        <p:nvSpPr>
          <p:cNvPr id="15" name="Shape 12"/>
          <p:cNvSpPr/>
          <p:nvPr/>
        </p:nvSpPr>
        <p:spPr>
          <a:xfrm>
            <a:off x="3322244" y="2194560"/>
            <a:ext cx="2682164" cy="27432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6" name="Shape 13"/>
          <p:cNvSpPr/>
          <p:nvPr/>
        </p:nvSpPr>
        <p:spPr>
          <a:xfrm>
            <a:off x="3322244" y="2194560"/>
            <a:ext cx="73152" cy="2743200"/>
          </a:xfrm>
          <a:prstGeom prst="rect">
            <a:avLst/>
          </a:prstGeom>
          <a:solidFill>
            <a:srgbClr val="F59E0B"/>
          </a:solidFill>
          <a:ln w="12700">
            <a:solidFill>
              <a:srgbClr val="F59E0B"/>
            </a:solidFill>
            <a:prstDash val="solid"/>
          </a:ln>
        </p:spPr>
        <p:txBody>
          <a:bodyPr/>
          <a:lstStyle/>
          <a:p>
            <a:endParaRPr lang="en-US"/>
          </a:p>
        </p:txBody>
      </p:sp>
      <p:sp>
        <p:nvSpPr>
          <p:cNvPr id="17" name="Shape 14"/>
          <p:cNvSpPr/>
          <p:nvPr/>
        </p:nvSpPr>
        <p:spPr>
          <a:xfrm>
            <a:off x="4206126" y="2468880"/>
            <a:ext cx="914400" cy="914400"/>
          </a:xfrm>
          <a:prstGeom prst="ellipse">
            <a:avLst/>
          </a:prstGeom>
          <a:solidFill>
            <a:srgbClr val="F59E0B"/>
          </a:solidFill>
          <a:ln w="12700">
            <a:solidFill>
              <a:srgbClr val="F59E0B"/>
            </a:solidFill>
            <a:prstDash val="solid"/>
          </a:ln>
        </p:spPr>
        <p:txBody>
          <a:bodyPr/>
          <a:lstStyle/>
          <a:p>
            <a:endParaRPr lang="en-US"/>
          </a:p>
        </p:txBody>
      </p:sp>
      <p:pic>
        <p:nvPicPr>
          <p:cNvPr id="18" name="Image 1" descr="preencoded.png"/>
          <p:cNvPicPr>
            <a:picLocks noChangeAspect="1"/>
          </p:cNvPicPr>
          <p:nvPr/>
        </p:nvPicPr>
        <p:blipFill>
          <a:blip r:embed="rId3"/>
          <a:stretch>
            <a:fillRect/>
          </a:stretch>
        </p:blipFill>
        <p:spPr>
          <a:xfrm>
            <a:off x="4370718" y="2633472"/>
            <a:ext cx="585216" cy="585216"/>
          </a:xfrm>
          <a:prstGeom prst="rect">
            <a:avLst/>
          </a:prstGeom>
        </p:spPr>
      </p:pic>
      <p:sp>
        <p:nvSpPr>
          <p:cNvPr id="19" name="Text 15"/>
          <p:cNvSpPr/>
          <p:nvPr/>
        </p:nvSpPr>
        <p:spPr>
          <a:xfrm>
            <a:off x="3459404" y="3657600"/>
            <a:ext cx="2407844" cy="457200"/>
          </a:xfrm>
          <a:prstGeom prst="rect">
            <a:avLst/>
          </a:prstGeom>
          <a:noFill/>
          <a:ln/>
        </p:spPr>
        <p:txBody>
          <a:bodyPr wrap="square" lIns="0" tIns="0" rIns="0" bIns="0" rtlCol="0" anchor="ctr"/>
          <a:lstStyle/>
          <a:p>
            <a:pPr marL="0" indent="0" algn="ctr">
              <a:buNone/>
            </a:pPr>
            <a:r>
              <a:rPr lang="en-US" sz="1600" b="1" dirty="0">
                <a:solidFill>
                  <a:srgbClr val="1E293B"/>
                </a:solidFill>
                <a:latin typeface="Calibri" pitchFamily="34" charset="0"/>
                <a:ea typeface="Calibri" pitchFamily="34" charset="-122"/>
                <a:cs typeface="Calibri" pitchFamily="34" charset="-120"/>
              </a:rPr>
              <a:t>[ Name ]</a:t>
            </a:r>
            <a:endParaRPr lang="en-US" sz="1600" dirty="0"/>
          </a:p>
        </p:txBody>
      </p:sp>
      <p:sp>
        <p:nvSpPr>
          <p:cNvPr id="20" name="Text 16"/>
          <p:cNvSpPr/>
          <p:nvPr/>
        </p:nvSpPr>
        <p:spPr>
          <a:xfrm>
            <a:off x="3459404" y="4160520"/>
            <a:ext cx="2407844" cy="36576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 Date ]</a:t>
            </a:r>
            <a:endParaRPr lang="en-US" sz="1200" dirty="0"/>
          </a:p>
        </p:txBody>
      </p:sp>
      <p:sp>
        <p:nvSpPr>
          <p:cNvPr id="21" name="Text 17"/>
          <p:cNvSpPr/>
          <p:nvPr/>
        </p:nvSpPr>
        <p:spPr>
          <a:xfrm>
            <a:off x="3459404" y="4572000"/>
            <a:ext cx="2407844" cy="274320"/>
          </a:xfrm>
          <a:prstGeom prst="rect">
            <a:avLst/>
          </a:prstGeom>
          <a:noFill/>
          <a:ln/>
        </p:spPr>
        <p:txBody>
          <a:bodyPr wrap="square" lIns="0" tIns="0" rIns="0" bIns="0" rtlCol="0" anchor="ctr"/>
          <a:lstStyle/>
          <a:p>
            <a:pPr marL="0" indent="0" algn="ctr">
              <a:buNone/>
            </a:pPr>
            <a:r>
              <a:rPr lang="en-US" sz="1000" i="1" dirty="0">
                <a:solidFill>
                  <a:srgbClr val="F59E0B"/>
                </a:solidFill>
                <a:latin typeface="Calibri" pitchFamily="34" charset="0"/>
                <a:ea typeface="Calibri" pitchFamily="34" charset="-122"/>
                <a:cs typeface="Calibri" pitchFamily="34" charset="-120"/>
              </a:rPr>
              <a:t>Cake at next team lunch.</a:t>
            </a:r>
            <a:endParaRPr lang="en-US" sz="1000" dirty="0"/>
          </a:p>
        </p:txBody>
      </p:sp>
      <p:sp>
        <p:nvSpPr>
          <p:cNvPr id="22" name="Shape 18"/>
          <p:cNvSpPr/>
          <p:nvPr/>
        </p:nvSpPr>
        <p:spPr>
          <a:xfrm>
            <a:off x="6187288" y="2194560"/>
            <a:ext cx="2682164" cy="27432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3" name="Shape 19"/>
          <p:cNvSpPr/>
          <p:nvPr/>
        </p:nvSpPr>
        <p:spPr>
          <a:xfrm>
            <a:off x="6187288" y="2194560"/>
            <a:ext cx="73152" cy="2743200"/>
          </a:xfrm>
          <a:prstGeom prst="rect">
            <a:avLst/>
          </a:prstGeom>
          <a:solidFill>
            <a:srgbClr val="F59E0B"/>
          </a:solidFill>
          <a:ln w="12700">
            <a:solidFill>
              <a:srgbClr val="F59E0B"/>
            </a:solidFill>
            <a:prstDash val="solid"/>
          </a:ln>
        </p:spPr>
        <p:txBody>
          <a:bodyPr/>
          <a:lstStyle/>
          <a:p>
            <a:endParaRPr lang="en-US"/>
          </a:p>
        </p:txBody>
      </p:sp>
      <p:sp>
        <p:nvSpPr>
          <p:cNvPr id="24" name="Shape 20"/>
          <p:cNvSpPr/>
          <p:nvPr/>
        </p:nvSpPr>
        <p:spPr>
          <a:xfrm>
            <a:off x="7071170" y="2468880"/>
            <a:ext cx="914400" cy="914400"/>
          </a:xfrm>
          <a:prstGeom prst="ellipse">
            <a:avLst/>
          </a:prstGeom>
          <a:solidFill>
            <a:srgbClr val="F59E0B"/>
          </a:solidFill>
          <a:ln w="12700">
            <a:solidFill>
              <a:srgbClr val="F59E0B"/>
            </a:solidFill>
            <a:prstDash val="solid"/>
          </a:ln>
        </p:spPr>
        <p:txBody>
          <a:bodyPr/>
          <a:lstStyle/>
          <a:p>
            <a:endParaRPr lang="en-US"/>
          </a:p>
        </p:txBody>
      </p:sp>
      <p:pic>
        <p:nvPicPr>
          <p:cNvPr id="25" name="Image 2" descr="preencoded.png"/>
          <p:cNvPicPr>
            <a:picLocks noChangeAspect="1"/>
          </p:cNvPicPr>
          <p:nvPr/>
        </p:nvPicPr>
        <p:blipFill>
          <a:blip r:embed="rId3"/>
          <a:stretch>
            <a:fillRect/>
          </a:stretch>
        </p:blipFill>
        <p:spPr>
          <a:xfrm>
            <a:off x="7235762" y="2633472"/>
            <a:ext cx="585216" cy="585216"/>
          </a:xfrm>
          <a:prstGeom prst="rect">
            <a:avLst/>
          </a:prstGeom>
        </p:spPr>
      </p:pic>
      <p:sp>
        <p:nvSpPr>
          <p:cNvPr id="26" name="Text 21"/>
          <p:cNvSpPr/>
          <p:nvPr/>
        </p:nvSpPr>
        <p:spPr>
          <a:xfrm>
            <a:off x="6324448" y="3657600"/>
            <a:ext cx="2407844" cy="457200"/>
          </a:xfrm>
          <a:prstGeom prst="rect">
            <a:avLst/>
          </a:prstGeom>
          <a:noFill/>
          <a:ln/>
        </p:spPr>
        <p:txBody>
          <a:bodyPr wrap="square" lIns="0" tIns="0" rIns="0" bIns="0" rtlCol="0" anchor="ctr"/>
          <a:lstStyle/>
          <a:p>
            <a:pPr marL="0" indent="0" algn="ctr">
              <a:buNone/>
            </a:pPr>
            <a:r>
              <a:rPr lang="en-US" sz="1600" b="1" dirty="0">
                <a:solidFill>
                  <a:srgbClr val="1E293B"/>
                </a:solidFill>
                <a:latin typeface="Calibri" pitchFamily="34" charset="0"/>
                <a:ea typeface="Calibri" pitchFamily="34" charset="-122"/>
                <a:cs typeface="Calibri" pitchFamily="34" charset="-120"/>
              </a:rPr>
              <a:t>[ Name ]</a:t>
            </a:r>
            <a:endParaRPr lang="en-US" sz="1600" dirty="0"/>
          </a:p>
        </p:txBody>
      </p:sp>
      <p:sp>
        <p:nvSpPr>
          <p:cNvPr id="27" name="Text 22"/>
          <p:cNvSpPr/>
          <p:nvPr/>
        </p:nvSpPr>
        <p:spPr>
          <a:xfrm>
            <a:off x="6324448" y="4160520"/>
            <a:ext cx="2407844" cy="36576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 Date ]</a:t>
            </a:r>
            <a:endParaRPr lang="en-US" sz="1200" dirty="0"/>
          </a:p>
        </p:txBody>
      </p:sp>
      <p:sp>
        <p:nvSpPr>
          <p:cNvPr id="28" name="Text 23"/>
          <p:cNvSpPr/>
          <p:nvPr/>
        </p:nvSpPr>
        <p:spPr>
          <a:xfrm>
            <a:off x="6324448" y="4572000"/>
            <a:ext cx="2407844" cy="274320"/>
          </a:xfrm>
          <a:prstGeom prst="rect">
            <a:avLst/>
          </a:prstGeom>
          <a:noFill/>
          <a:ln/>
        </p:spPr>
        <p:txBody>
          <a:bodyPr wrap="square" lIns="0" tIns="0" rIns="0" bIns="0" rtlCol="0" anchor="ctr"/>
          <a:lstStyle/>
          <a:p>
            <a:pPr marL="0" indent="0" algn="ctr">
              <a:buNone/>
            </a:pPr>
            <a:r>
              <a:rPr lang="en-US" sz="1000" i="1" dirty="0">
                <a:solidFill>
                  <a:srgbClr val="F59E0B"/>
                </a:solidFill>
                <a:latin typeface="Calibri" pitchFamily="34" charset="0"/>
                <a:ea typeface="Calibri" pitchFamily="34" charset="-122"/>
                <a:cs typeface="Calibri" pitchFamily="34" charset="-120"/>
              </a:rPr>
              <a:t>Cake at next team lunch.</a:t>
            </a:r>
            <a:endParaRPr lang="en-US" sz="1000" dirty="0"/>
          </a:p>
        </p:txBody>
      </p:sp>
      <p:sp>
        <p:nvSpPr>
          <p:cNvPr id="29" name="Shape 24"/>
          <p:cNvSpPr/>
          <p:nvPr/>
        </p:nvSpPr>
        <p:spPr>
          <a:xfrm>
            <a:off x="9052331" y="2194560"/>
            <a:ext cx="2682164" cy="27432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30" name="Shape 25"/>
          <p:cNvSpPr/>
          <p:nvPr/>
        </p:nvSpPr>
        <p:spPr>
          <a:xfrm>
            <a:off x="9052331" y="2194560"/>
            <a:ext cx="73152" cy="2743200"/>
          </a:xfrm>
          <a:prstGeom prst="rect">
            <a:avLst/>
          </a:prstGeom>
          <a:solidFill>
            <a:srgbClr val="F59E0B"/>
          </a:solidFill>
          <a:ln w="12700">
            <a:solidFill>
              <a:srgbClr val="F59E0B"/>
            </a:solidFill>
            <a:prstDash val="solid"/>
          </a:ln>
        </p:spPr>
        <p:txBody>
          <a:bodyPr/>
          <a:lstStyle/>
          <a:p>
            <a:endParaRPr lang="en-US"/>
          </a:p>
        </p:txBody>
      </p:sp>
      <p:sp>
        <p:nvSpPr>
          <p:cNvPr id="31" name="Shape 26"/>
          <p:cNvSpPr/>
          <p:nvPr/>
        </p:nvSpPr>
        <p:spPr>
          <a:xfrm>
            <a:off x="9936213" y="2468880"/>
            <a:ext cx="914400" cy="914400"/>
          </a:xfrm>
          <a:prstGeom prst="ellipse">
            <a:avLst/>
          </a:prstGeom>
          <a:solidFill>
            <a:srgbClr val="F59E0B"/>
          </a:solidFill>
          <a:ln w="12700">
            <a:solidFill>
              <a:srgbClr val="F59E0B"/>
            </a:solidFill>
            <a:prstDash val="solid"/>
          </a:ln>
        </p:spPr>
        <p:txBody>
          <a:bodyPr/>
          <a:lstStyle/>
          <a:p>
            <a:endParaRPr lang="en-US"/>
          </a:p>
        </p:txBody>
      </p:sp>
      <p:pic>
        <p:nvPicPr>
          <p:cNvPr id="32" name="Image 3" descr="preencoded.png"/>
          <p:cNvPicPr>
            <a:picLocks noChangeAspect="1"/>
          </p:cNvPicPr>
          <p:nvPr/>
        </p:nvPicPr>
        <p:blipFill>
          <a:blip r:embed="rId3"/>
          <a:stretch>
            <a:fillRect/>
          </a:stretch>
        </p:blipFill>
        <p:spPr>
          <a:xfrm>
            <a:off x="10100805" y="2633472"/>
            <a:ext cx="585216" cy="585216"/>
          </a:xfrm>
          <a:prstGeom prst="rect">
            <a:avLst/>
          </a:prstGeom>
        </p:spPr>
      </p:pic>
      <p:sp>
        <p:nvSpPr>
          <p:cNvPr id="33" name="Text 27"/>
          <p:cNvSpPr/>
          <p:nvPr/>
        </p:nvSpPr>
        <p:spPr>
          <a:xfrm>
            <a:off x="9189491" y="3657600"/>
            <a:ext cx="2407844" cy="457200"/>
          </a:xfrm>
          <a:prstGeom prst="rect">
            <a:avLst/>
          </a:prstGeom>
          <a:noFill/>
          <a:ln/>
        </p:spPr>
        <p:txBody>
          <a:bodyPr wrap="square" lIns="0" tIns="0" rIns="0" bIns="0" rtlCol="0" anchor="ctr"/>
          <a:lstStyle/>
          <a:p>
            <a:pPr marL="0" indent="0" algn="ctr">
              <a:buNone/>
            </a:pPr>
            <a:r>
              <a:rPr lang="en-US" sz="1600" b="1" dirty="0">
                <a:solidFill>
                  <a:srgbClr val="1E293B"/>
                </a:solidFill>
                <a:latin typeface="Calibri" pitchFamily="34" charset="0"/>
                <a:ea typeface="Calibri" pitchFamily="34" charset="-122"/>
                <a:cs typeface="Calibri" pitchFamily="34" charset="-120"/>
              </a:rPr>
              <a:t>[ Name ]</a:t>
            </a:r>
            <a:endParaRPr lang="en-US" sz="1600" dirty="0"/>
          </a:p>
        </p:txBody>
      </p:sp>
      <p:sp>
        <p:nvSpPr>
          <p:cNvPr id="34" name="Text 28"/>
          <p:cNvSpPr/>
          <p:nvPr/>
        </p:nvSpPr>
        <p:spPr>
          <a:xfrm>
            <a:off x="9189491" y="4160520"/>
            <a:ext cx="2407844" cy="36576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 Date ]</a:t>
            </a:r>
            <a:endParaRPr lang="en-US" sz="1200" dirty="0"/>
          </a:p>
        </p:txBody>
      </p:sp>
      <p:sp>
        <p:nvSpPr>
          <p:cNvPr id="35" name="Text 29"/>
          <p:cNvSpPr/>
          <p:nvPr/>
        </p:nvSpPr>
        <p:spPr>
          <a:xfrm>
            <a:off x="9189491" y="4572000"/>
            <a:ext cx="2407844" cy="274320"/>
          </a:xfrm>
          <a:prstGeom prst="rect">
            <a:avLst/>
          </a:prstGeom>
          <a:noFill/>
          <a:ln/>
        </p:spPr>
        <p:txBody>
          <a:bodyPr wrap="square" lIns="0" tIns="0" rIns="0" bIns="0" rtlCol="0" anchor="ctr"/>
          <a:lstStyle/>
          <a:p>
            <a:pPr marL="0" indent="0" algn="ctr">
              <a:buNone/>
            </a:pPr>
            <a:r>
              <a:rPr lang="en-US" sz="1000" i="1" dirty="0">
                <a:solidFill>
                  <a:srgbClr val="F59E0B"/>
                </a:solidFill>
                <a:latin typeface="Calibri" pitchFamily="34" charset="0"/>
                <a:ea typeface="Calibri" pitchFamily="34" charset="-122"/>
                <a:cs typeface="Calibri" pitchFamily="34" charset="-120"/>
              </a:rPr>
              <a:t>Cake at next team lunch.</a:t>
            </a:r>
            <a:endParaRPr lang="en-US" sz="1000" dirty="0"/>
          </a:p>
        </p:txBody>
      </p:sp>
      <p:sp>
        <p:nvSpPr>
          <p:cNvPr id="36" name="Shape 30"/>
          <p:cNvSpPr/>
          <p:nvPr/>
        </p:nvSpPr>
        <p:spPr>
          <a:xfrm>
            <a:off x="457200" y="5212080"/>
            <a:ext cx="11277295" cy="914400"/>
          </a:xfrm>
          <a:prstGeom prst="rect">
            <a:avLst/>
          </a:prstGeom>
          <a:solidFill>
            <a:srgbClr val="0F172A"/>
          </a:solidFill>
          <a:ln w="12700">
            <a:solidFill>
              <a:srgbClr val="0F172A"/>
            </a:solidFill>
            <a:prstDash val="solid"/>
          </a:ln>
          <a:effectLst>
            <a:outerShdw blurRad="101600" dist="25400" dir="5400000" algn="bl" rotWithShape="0">
              <a:srgbClr val="000000">
                <a:alpha val="10000"/>
              </a:srgbClr>
            </a:outerShdw>
          </a:effectLst>
        </p:spPr>
        <p:txBody>
          <a:bodyPr/>
          <a:lstStyle/>
          <a:p>
            <a:endParaRPr lang="en-US"/>
          </a:p>
        </p:txBody>
      </p:sp>
      <p:sp>
        <p:nvSpPr>
          <p:cNvPr id="37" name="Shape 31"/>
          <p:cNvSpPr/>
          <p:nvPr/>
        </p:nvSpPr>
        <p:spPr>
          <a:xfrm>
            <a:off x="457200" y="5212080"/>
            <a:ext cx="73152" cy="914400"/>
          </a:xfrm>
          <a:prstGeom prst="rect">
            <a:avLst/>
          </a:prstGeom>
          <a:solidFill>
            <a:srgbClr val="F59E0B"/>
          </a:solidFill>
          <a:ln w="12700">
            <a:solidFill>
              <a:srgbClr val="F59E0B"/>
            </a:solidFill>
            <a:prstDash val="solid"/>
          </a:ln>
        </p:spPr>
        <p:txBody>
          <a:bodyPr/>
          <a:lstStyle/>
          <a:p>
            <a:endParaRPr lang="en-US"/>
          </a:p>
        </p:txBody>
      </p:sp>
      <p:pic>
        <p:nvPicPr>
          <p:cNvPr id="38" name="Image 4" descr="preencoded.png"/>
          <p:cNvPicPr>
            <a:picLocks noChangeAspect="1"/>
          </p:cNvPicPr>
          <p:nvPr/>
        </p:nvPicPr>
        <p:blipFill>
          <a:blip r:embed="rId4"/>
          <a:stretch>
            <a:fillRect/>
          </a:stretch>
        </p:blipFill>
        <p:spPr>
          <a:xfrm>
            <a:off x="777240" y="5440680"/>
            <a:ext cx="457200" cy="457200"/>
          </a:xfrm>
          <a:prstGeom prst="rect">
            <a:avLst/>
          </a:prstGeom>
        </p:spPr>
      </p:pic>
      <p:sp>
        <p:nvSpPr>
          <p:cNvPr id="39" name="Text 32"/>
          <p:cNvSpPr/>
          <p:nvPr/>
        </p:nvSpPr>
        <p:spPr>
          <a:xfrm>
            <a:off x="1463040" y="5257800"/>
            <a:ext cx="10180015" cy="868680"/>
          </a:xfrm>
          <a:prstGeom prst="rect">
            <a:avLst/>
          </a:prstGeom>
          <a:noFill/>
          <a:ln/>
        </p:spPr>
        <p:txBody>
          <a:bodyPr wrap="square" lIns="0" tIns="0" rIns="0" bIns="0" rtlCol="0" anchor="ctr"/>
          <a:lstStyle/>
          <a:p>
            <a:pPr marL="0" indent="0">
              <a:buNone/>
            </a:pPr>
            <a:r>
              <a:rPr lang="en-US" sz="1200" b="1" i="1" dirty="0">
                <a:solidFill>
                  <a:srgbClr val="F59E0B"/>
                </a:solidFill>
                <a:latin typeface="Calibri" pitchFamily="34" charset="0"/>
                <a:ea typeface="Calibri" pitchFamily="34" charset="-122"/>
                <a:cs typeface="Calibri" pitchFamily="34" charset="-120"/>
              </a:rPr>
              <a:t>Going forward: </a:t>
            </a:r>
            <a:r>
              <a:rPr lang="en-US" sz="1200" i="1" dirty="0">
                <a:solidFill>
                  <a:srgbClr val="FFFFFF"/>
                </a:solidFill>
                <a:latin typeface="Calibri" pitchFamily="34" charset="0"/>
                <a:ea typeface="Calibri" pitchFamily="34" charset="-122"/>
                <a:cs typeface="Calibri" pitchFamily="34" charset="-120"/>
              </a:rPr>
              <a:t>13 people on the team. ~3–4 birthdays per quarter on average. Calendar reminder going up this week so we celebrate them in real time, not in apologies.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THE CREW</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Meet the Thirteen</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Same crew, same play — now with one more. Real names go where the brackets are.</a:t>
            </a:r>
            <a:endParaRPr lang="en-US" sz="1400" dirty="0"/>
          </a:p>
        </p:txBody>
      </p:sp>
      <p:sp>
        <p:nvSpPr>
          <p:cNvPr id="8" name="Shape 6"/>
          <p:cNvSpPr/>
          <p:nvPr/>
        </p:nvSpPr>
        <p:spPr>
          <a:xfrm>
            <a:off x="623164" y="2057400"/>
            <a:ext cx="2057400"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9" name="Shape 7"/>
          <p:cNvSpPr/>
          <p:nvPr/>
        </p:nvSpPr>
        <p:spPr>
          <a:xfrm>
            <a:off x="623164" y="2057400"/>
            <a:ext cx="73152" cy="1371600"/>
          </a:xfrm>
          <a:prstGeom prst="rect">
            <a:avLst/>
          </a:prstGeom>
          <a:solidFill>
            <a:srgbClr val="0D9488"/>
          </a:solidFill>
          <a:ln w="12700">
            <a:solidFill>
              <a:srgbClr val="0D9488"/>
            </a:solidFill>
            <a:prstDash val="solid"/>
          </a:ln>
        </p:spPr>
        <p:txBody>
          <a:bodyPr/>
          <a:lstStyle/>
          <a:p>
            <a:endParaRPr lang="en-US"/>
          </a:p>
        </p:txBody>
      </p:sp>
      <p:sp>
        <p:nvSpPr>
          <p:cNvPr id="10" name="Shape 8"/>
          <p:cNvSpPr/>
          <p:nvPr/>
        </p:nvSpPr>
        <p:spPr>
          <a:xfrm>
            <a:off x="1359256" y="2194560"/>
            <a:ext cx="585216" cy="585216"/>
          </a:xfrm>
          <a:prstGeom prst="ellipse">
            <a:avLst/>
          </a:prstGeom>
          <a:solidFill>
            <a:srgbClr val="0D9488"/>
          </a:solidFill>
          <a:ln w="12700">
            <a:solidFill>
              <a:srgbClr val="0D9488"/>
            </a:solidFill>
            <a:prstDash val="solid"/>
          </a:ln>
        </p:spPr>
        <p:txBody>
          <a:bodyPr/>
          <a:lstStyle/>
          <a:p>
            <a:endParaRPr lang="en-US"/>
          </a:p>
        </p:txBody>
      </p:sp>
      <p:sp>
        <p:nvSpPr>
          <p:cNvPr id="11" name="Text 9"/>
          <p:cNvSpPr/>
          <p:nvPr/>
        </p:nvSpPr>
        <p:spPr>
          <a:xfrm>
            <a:off x="714604" y="2834640"/>
            <a:ext cx="1874520" cy="32004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The Brain</a:t>
            </a:r>
            <a:endParaRPr lang="en-US" sz="1300" dirty="0"/>
          </a:p>
        </p:txBody>
      </p:sp>
      <p:sp>
        <p:nvSpPr>
          <p:cNvPr id="12" name="Text 10"/>
          <p:cNvSpPr/>
          <p:nvPr/>
        </p:nvSpPr>
        <p:spPr>
          <a:xfrm>
            <a:off x="714604" y="3108960"/>
            <a:ext cx="1874520" cy="22860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 Real name ]</a:t>
            </a:r>
            <a:endParaRPr lang="en-US" sz="1000" dirty="0"/>
          </a:p>
        </p:txBody>
      </p:sp>
      <p:sp>
        <p:nvSpPr>
          <p:cNvPr id="13" name="Text 11"/>
          <p:cNvSpPr/>
          <p:nvPr/>
        </p:nvSpPr>
        <p:spPr>
          <a:xfrm>
            <a:off x="714604" y="3337560"/>
            <a:ext cx="1874520" cy="201168"/>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architecture</a:t>
            </a:r>
            <a:endParaRPr lang="en-US" sz="900" dirty="0"/>
          </a:p>
        </p:txBody>
      </p:sp>
      <p:sp>
        <p:nvSpPr>
          <p:cNvPr id="14" name="Shape 12"/>
          <p:cNvSpPr/>
          <p:nvPr/>
        </p:nvSpPr>
        <p:spPr>
          <a:xfrm>
            <a:off x="2845156" y="2057400"/>
            <a:ext cx="2057400"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5" name="Shape 13"/>
          <p:cNvSpPr/>
          <p:nvPr/>
        </p:nvSpPr>
        <p:spPr>
          <a:xfrm>
            <a:off x="2845156" y="2057400"/>
            <a:ext cx="73152" cy="1371600"/>
          </a:xfrm>
          <a:prstGeom prst="rect">
            <a:avLst/>
          </a:prstGeom>
          <a:solidFill>
            <a:srgbClr val="0D9488"/>
          </a:solidFill>
          <a:ln w="12700">
            <a:solidFill>
              <a:srgbClr val="0D9488"/>
            </a:solidFill>
            <a:prstDash val="solid"/>
          </a:ln>
        </p:spPr>
        <p:txBody>
          <a:bodyPr/>
          <a:lstStyle/>
          <a:p>
            <a:endParaRPr lang="en-US"/>
          </a:p>
        </p:txBody>
      </p:sp>
      <p:sp>
        <p:nvSpPr>
          <p:cNvPr id="16" name="Shape 14"/>
          <p:cNvSpPr/>
          <p:nvPr/>
        </p:nvSpPr>
        <p:spPr>
          <a:xfrm>
            <a:off x="3581248" y="2194560"/>
            <a:ext cx="585216" cy="585216"/>
          </a:xfrm>
          <a:prstGeom prst="ellipse">
            <a:avLst/>
          </a:prstGeom>
          <a:solidFill>
            <a:srgbClr val="0D9488"/>
          </a:solidFill>
          <a:ln w="12700">
            <a:solidFill>
              <a:srgbClr val="0D9488"/>
            </a:solidFill>
            <a:prstDash val="solid"/>
          </a:ln>
        </p:spPr>
        <p:txBody>
          <a:bodyPr/>
          <a:lstStyle/>
          <a:p>
            <a:endParaRPr lang="en-US"/>
          </a:p>
        </p:txBody>
      </p:sp>
      <p:sp>
        <p:nvSpPr>
          <p:cNvPr id="17" name="Text 15"/>
          <p:cNvSpPr/>
          <p:nvPr/>
        </p:nvSpPr>
        <p:spPr>
          <a:xfrm>
            <a:off x="2936596" y="2834640"/>
            <a:ext cx="1874520" cy="32004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The Hacker</a:t>
            </a:r>
            <a:endParaRPr lang="en-US" sz="1300" dirty="0"/>
          </a:p>
        </p:txBody>
      </p:sp>
      <p:sp>
        <p:nvSpPr>
          <p:cNvPr id="18" name="Text 16"/>
          <p:cNvSpPr/>
          <p:nvPr/>
        </p:nvSpPr>
        <p:spPr>
          <a:xfrm>
            <a:off x="2936596" y="3108960"/>
            <a:ext cx="1874520" cy="22860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 Real name ]</a:t>
            </a:r>
            <a:endParaRPr lang="en-US" sz="1000" dirty="0"/>
          </a:p>
        </p:txBody>
      </p:sp>
      <p:sp>
        <p:nvSpPr>
          <p:cNvPr id="19" name="Text 17"/>
          <p:cNvSpPr/>
          <p:nvPr/>
        </p:nvSpPr>
        <p:spPr>
          <a:xfrm>
            <a:off x="2936596" y="3337560"/>
            <a:ext cx="1874520" cy="201168"/>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backend &amp; data</a:t>
            </a:r>
            <a:endParaRPr lang="en-US" sz="900" dirty="0"/>
          </a:p>
        </p:txBody>
      </p:sp>
      <p:sp>
        <p:nvSpPr>
          <p:cNvPr id="20" name="Shape 18"/>
          <p:cNvSpPr/>
          <p:nvPr/>
        </p:nvSpPr>
        <p:spPr>
          <a:xfrm>
            <a:off x="5067148" y="2057400"/>
            <a:ext cx="2057400"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1" name="Shape 19"/>
          <p:cNvSpPr/>
          <p:nvPr/>
        </p:nvSpPr>
        <p:spPr>
          <a:xfrm>
            <a:off x="5067148" y="2057400"/>
            <a:ext cx="73152" cy="1371600"/>
          </a:xfrm>
          <a:prstGeom prst="rect">
            <a:avLst/>
          </a:prstGeom>
          <a:solidFill>
            <a:srgbClr val="0D9488"/>
          </a:solidFill>
          <a:ln w="12700">
            <a:solidFill>
              <a:srgbClr val="0D9488"/>
            </a:solidFill>
            <a:prstDash val="solid"/>
          </a:ln>
        </p:spPr>
        <p:txBody>
          <a:bodyPr/>
          <a:lstStyle/>
          <a:p>
            <a:endParaRPr lang="en-US"/>
          </a:p>
        </p:txBody>
      </p:sp>
      <p:sp>
        <p:nvSpPr>
          <p:cNvPr id="22" name="Shape 20"/>
          <p:cNvSpPr/>
          <p:nvPr/>
        </p:nvSpPr>
        <p:spPr>
          <a:xfrm>
            <a:off x="5803240" y="2194560"/>
            <a:ext cx="585216" cy="585216"/>
          </a:xfrm>
          <a:prstGeom prst="ellipse">
            <a:avLst/>
          </a:prstGeom>
          <a:solidFill>
            <a:srgbClr val="0D9488"/>
          </a:solidFill>
          <a:ln w="12700">
            <a:solidFill>
              <a:srgbClr val="0D9488"/>
            </a:solidFill>
            <a:prstDash val="solid"/>
          </a:ln>
        </p:spPr>
        <p:txBody>
          <a:bodyPr/>
          <a:lstStyle/>
          <a:p>
            <a:endParaRPr lang="en-US"/>
          </a:p>
        </p:txBody>
      </p:sp>
      <p:sp>
        <p:nvSpPr>
          <p:cNvPr id="23" name="Text 21"/>
          <p:cNvSpPr/>
          <p:nvPr/>
        </p:nvSpPr>
        <p:spPr>
          <a:xfrm>
            <a:off x="5158588" y="2834640"/>
            <a:ext cx="1874520" cy="32004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The Inside Man</a:t>
            </a:r>
            <a:endParaRPr lang="en-US" sz="1300" dirty="0"/>
          </a:p>
        </p:txBody>
      </p:sp>
      <p:sp>
        <p:nvSpPr>
          <p:cNvPr id="24" name="Text 22"/>
          <p:cNvSpPr/>
          <p:nvPr/>
        </p:nvSpPr>
        <p:spPr>
          <a:xfrm>
            <a:off x="5158588" y="3108960"/>
            <a:ext cx="1874520" cy="22860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 Real name ]</a:t>
            </a:r>
            <a:endParaRPr lang="en-US" sz="1000" dirty="0"/>
          </a:p>
        </p:txBody>
      </p:sp>
      <p:sp>
        <p:nvSpPr>
          <p:cNvPr id="25" name="Text 23"/>
          <p:cNvSpPr/>
          <p:nvPr/>
        </p:nvSpPr>
        <p:spPr>
          <a:xfrm>
            <a:off x="5158588" y="3337560"/>
            <a:ext cx="1874520" cy="201168"/>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security · PCI</a:t>
            </a:r>
            <a:endParaRPr lang="en-US" sz="900" dirty="0"/>
          </a:p>
        </p:txBody>
      </p:sp>
      <p:sp>
        <p:nvSpPr>
          <p:cNvPr id="26" name="Shape 24"/>
          <p:cNvSpPr/>
          <p:nvPr/>
        </p:nvSpPr>
        <p:spPr>
          <a:xfrm>
            <a:off x="7289140" y="2057400"/>
            <a:ext cx="2057400"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7" name="Shape 25"/>
          <p:cNvSpPr/>
          <p:nvPr/>
        </p:nvSpPr>
        <p:spPr>
          <a:xfrm>
            <a:off x="7289140" y="2057400"/>
            <a:ext cx="73152" cy="1371600"/>
          </a:xfrm>
          <a:prstGeom prst="rect">
            <a:avLst/>
          </a:prstGeom>
          <a:solidFill>
            <a:srgbClr val="0D9488"/>
          </a:solidFill>
          <a:ln w="12700">
            <a:solidFill>
              <a:srgbClr val="0D9488"/>
            </a:solidFill>
            <a:prstDash val="solid"/>
          </a:ln>
        </p:spPr>
        <p:txBody>
          <a:bodyPr/>
          <a:lstStyle/>
          <a:p>
            <a:endParaRPr lang="en-US"/>
          </a:p>
        </p:txBody>
      </p:sp>
      <p:sp>
        <p:nvSpPr>
          <p:cNvPr id="28" name="Shape 26"/>
          <p:cNvSpPr/>
          <p:nvPr/>
        </p:nvSpPr>
        <p:spPr>
          <a:xfrm>
            <a:off x="8025232" y="2194560"/>
            <a:ext cx="585216" cy="585216"/>
          </a:xfrm>
          <a:prstGeom prst="ellipse">
            <a:avLst/>
          </a:prstGeom>
          <a:solidFill>
            <a:srgbClr val="0D9488"/>
          </a:solidFill>
          <a:ln w="12700">
            <a:solidFill>
              <a:srgbClr val="0D9488"/>
            </a:solidFill>
            <a:prstDash val="solid"/>
          </a:ln>
        </p:spPr>
        <p:txBody>
          <a:bodyPr/>
          <a:lstStyle/>
          <a:p>
            <a:endParaRPr lang="en-US"/>
          </a:p>
        </p:txBody>
      </p:sp>
      <p:sp>
        <p:nvSpPr>
          <p:cNvPr id="29" name="Text 27"/>
          <p:cNvSpPr/>
          <p:nvPr/>
        </p:nvSpPr>
        <p:spPr>
          <a:xfrm>
            <a:off x="7380580" y="2834640"/>
            <a:ext cx="1874520" cy="32004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The Wheelman</a:t>
            </a:r>
            <a:endParaRPr lang="en-US" sz="1300" dirty="0"/>
          </a:p>
        </p:txBody>
      </p:sp>
      <p:sp>
        <p:nvSpPr>
          <p:cNvPr id="30" name="Text 28"/>
          <p:cNvSpPr/>
          <p:nvPr/>
        </p:nvSpPr>
        <p:spPr>
          <a:xfrm>
            <a:off x="7380580" y="3108960"/>
            <a:ext cx="1874520" cy="22860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 Real name ]</a:t>
            </a:r>
            <a:endParaRPr lang="en-US" sz="1000" dirty="0"/>
          </a:p>
        </p:txBody>
      </p:sp>
      <p:sp>
        <p:nvSpPr>
          <p:cNvPr id="31" name="Text 29"/>
          <p:cNvSpPr/>
          <p:nvPr/>
        </p:nvSpPr>
        <p:spPr>
          <a:xfrm>
            <a:off x="7380580" y="3337560"/>
            <a:ext cx="1874520" cy="201168"/>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CI/CD · DevOps</a:t>
            </a:r>
            <a:endParaRPr lang="en-US" sz="900" dirty="0"/>
          </a:p>
        </p:txBody>
      </p:sp>
      <p:sp>
        <p:nvSpPr>
          <p:cNvPr id="32" name="Shape 30"/>
          <p:cNvSpPr/>
          <p:nvPr/>
        </p:nvSpPr>
        <p:spPr>
          <a:xfrm>
            <a:off x="9511132" y="2057400"/>
            <a:ext cx="2057400"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33" name="Shape 31"/>
          <p:cNvSpPr/>
          <p:nvPr/>
        </p:nvSpPr>
        <p:spPr>
          <a:xfrm>
            <a:off x="9511132" y="2057400"/>
            <a:ext cx="73152" cy="1371600"/>
          </a:xfrm>
          <a:prstGeom prst="rect">
            <a:avLst/>
          </a:prstGeom>
          <a:solidFill>
            <a:srgbClr val="0D9488"/>
          </a:solidFill>
          <a:ln w="12700">
            <a:solidFill>
              <a:srgbClr val="0D9488"/>
            </a:solidFill>
            <a:prstDash val="solid"/>
          </a:ln>
        </p:spPr>
        <p:txBody>
          <a:bodyPr/>
          <a:lstStyle/>
          <a:p>
            <a:endParaRPr lang="en-US"/>
          </a:p>
        </p:txBody>
      </p:sp>
      <p:sp>
        <p:nvSpPr>
          <p:cNvPr id="34" name="Shape 32"/>
          <p:cNvSpPr/>
          <p:nvPr/>
        </p:nvSpPr>
        <p:spPr>
          <a:xfrm>
            <a:off x="10247224" y="2194560"/>
            <a:ext cx="585216" cy="585216"/>
          </a:xfrm>
          <a:prstGeom prst="ellipse">
            <a:avLst/>
          </a:prstGeom>
          <a:solidFill>
            <a:srgbClr val="0D9488"/>
          </a:solidFill>
          <a:ln w="12700">
            <a:solidFill>
              <a:srgbClr val="0D9488"/>
            </a:solidFill>
            <a:prstDash val="solid"/>
          </a:ln>
        </p:spPr>
        <p:txBody>
          <a:bodyPr/>
          <a:lstStyle/>
          <a:p>
            <a:endParaRPr lang="en-US"/>
          </a:p>
        </p:txBody>
      </p:sp>
      <p:sp>
        <p:nvSpPr>
          <p:cNvPr id="35" name="Text 33"/>
          <p:cNvSpPr/>
          <p:nvPr/>
        </p:nvSpPr>
        <p:spPr>
          <a:xfrm>
            <a:off x="9602572" y="2834640"/>
            <a:ext cx="1874520" cy="32004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The Pickpocket</a:t>
            </a:r>
            <a:endParaRPr lang="en-US" sz="1300" dirty="0"/>
          </a:p>
        </p:txBody>
      </p:sp>
      <p:sp>
        <p:nvSpPr>
          <p:cNvPr id="36" name="Text 34"/>
          <p:cNvSpPr/>
          <p:nvPr/>
        </p:nvSpPr>
        <p:spPr>
          <a:xfrm>
            <a:off x="9602572" y="3108960"/>
            <a:ext cx="1874520" cy="22860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 Real name ]</a:t>
            </a:r>
            <a:endParaRPr lang="en-US" sz="1000" dirty="0"/>
          </a:p>
        </p:txBody>
      </p:sp>
      <p:sp>
        <p:nvSpPr>
          <p:cNvPr id="37" name="Text 35"/>
          <p:cNvSpPr/>
          <p:nvPr/>
        </p:nvSpPr>
        <p:spPr>
          <a:xfrm>
            <a:off x="9602572" y="3337560"/>
            <a:ext cx="1874520" cy="201168"/>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ingestion · CDC</a:t>
            </a:r>
            <a:endParaRPr lang="en-US" sz="900" dirty="0"/>
          </a:p>
        </p:txBody>
      </p:sp>
      <p:sp>
        <p:nvSpPr>
          <p:cNvPr id="38" name="Shape 36"/>
          <p:cNvSpPr/>
          <p:nvPr/>
        </p:nvSpPr>
        <p:spPr>
          <a:xfrm>
            <a:off x="1734160" y="3566160"/>
            <a:ext cx="2057400"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39" name="Shape 37"/>
          <p:cNvSpPr/>
          <p:nvPr/>
        </p:nvSpPr>
        <p:spPr>
          <a:xfrm>
            <a:off x="1734160" y="3566160"/>
            <a:ext cx="73152" cy="1371600"/>
          </a:xfrm>
          <a:prstGeom prst="rect">
            <a:avLst/>
          </a:prstGeom>
          <a:solidFill>
            <a:srgbClr val="0D9488"/>
          </a:solidFill>
          <a:ln w="12700">
            <a:solidFill>
              <a:srgbClr val="0D9488"/>
            </a:solidFill>
            <a:prstDash val="solid"/>
          </a:ln>
        </p:spPr>
        <p:txBody>
          <a:bodyPr/>
          <a:lstStyle/>
          <a:p>
            <a:endParaRPr lang="en-US"/>
          </a:p>
        </p:txBody>
      </p:sp>
      <p:sp>
        <p:nvSpPr>
          <p:cNvPr id="40" name="Shape 38"/>
          <p:cNvSpPr/>
          <p:nvPr/>
        </p:nvSpPr>
        <p:spPr>
          <a:xfrm>
            <a:off x="2470252" y="3703320"/>
            <a:ext cx="585216" cy="585216"/>
          </a:xfrm>
          <a:prstGeom prst="ellipse">
            <a:avLst/>
          </a:prstGeom>
          <a:solidFill>
            <a:srgbClr val="0D9488"/>
          </a:solidFill>
          <a:ln w="12700">
            <a:solidFill>
              <a:srgbClr val="0D9488"/>
            </a:solidFill>
            <a:prstDash val="solid"/>
          </a:ln>
        </p:spPr>
        <p:txBody>
          <a:bodyPr/>
          <a:lstStyle/>
          <a:p>
            <a:endParaRPr lang="en-US"/>
          </a:p>
        </p:txBody>
      </p:sp>
      <p:sp>
        <p:nvSpPr>
          <p:cNvPr id="41" name="Text 39"/>
          <p:cNvSpPr/>
          <p:nvPr/>
        </p:nvSpPr>
        <p:spPr>
          <a:xfrm>
            <a:off x="1825600" y="4343400"/>
            <a:ext cx="1874520" cy="32004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The Locksmith</a:t>
            </a:r>
            <a:endParaRPr lang="en-US" sz="1300" dirty="0"/>
          </a:p>
        </p:txBody>
      </p:sp>
      <p:sp>
        <p:nvSpPr>
          <p:cNvPr id="42" name="Text 40"/>
          <p:cNvSpPr/>
          <p:nvPr/>
        </p:nvSpPr>
        <p:spPr>
          <a:xfrm>
            <a:off x="1825600" y="4617720"/>
            <a:ext cx="1874520" cy="22860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 Real name ]</a:t>
            </a:r>
            <a:endParaRPr lang="en-US" sz="1000" dirty="0"/>
          </a:p>
        </p:txBody>
      </p:sp>
      <p:sp>
        <p:nvSpPr>
          <p:cNvPr id="43" name="Text 41"/>
          <p:cNvSpPr/>
          <p:nvPr/>
        </p:nvSpPr>
        <p:spPr>
          <a:xfrm>
            <a:off x="1825600" y="4846320"/>
            <a:ext cx="1874520" cy="201168"/>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auth · RBAC</a:t>
            </a:r>
            <a:endParaRPr lang="en-US" sz="900" dirty="0"/>
          </a:p>
        </p:txBody>
      </p:sp>
      <p:sp>
        <p:nvSpPr>
          <p:cNvPr id="44" name="Shape 42"/>
          <p:cNvSpPr/>
          <p:nvPr/>
        </p:nvSpPr>
        <p:spPr>
          <a:xfrm>
            <a:off x="3956152" y="3566160"/>
            <a:ext cx="2057400"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45" name="Shape 43"/>
          <p:cNvSpPr/>
          <p:nvPr/>
        </p:nvSpPr>
        <p:spPr>
          <a:xfrm>
            <a:off x="3956152" y="3566160"/>
            <a:ext cx="73152" cy="1371600"/>
          </a:xfrm>
          <a:prstGeom prst="rect">
            <a:avLst/>
          </a:prstGeom>
          <a:solidFill>
            <a:srgbClr val="0D9488"/>
          </a:solidFill>
          <a:ln w="12700">
            <a:solidFill>
              <a:srgbClr val="0D9488"/>
            </a:solidFill>
            <a:prstDash val="solid"/>
          </a:ln>
        </p:spPr>
        <p:txBody>
          <a:bodyPr/>
          <a:lstStyle/>
          <a:p>
            <a:endParaRPr lang="en-US"/>
          </a:p>
        </p:txBody>
      </p:sp>
      <p:sp>
        <p:nvSpPr>
          <p:cNvPr id="46" name="Shape 44"/>
          <p:cNvSpPr/>
          <p:nvPr/>
        </p:nvSpPr>
        <p:spPr>
          <a:xfrm>
            <a:off x="4692244" y="3703320"/>
            <a:ext cx="585216" cy="585216"/>
          </a:xfrm>
          <a:prstGeom prst="ellipse">
            <a:avLst/>
          </a:prstGeom>
          <a:solidFill>
            <a:srgbClr val="0D9488"/>
          </a:solidFill>
          <a:ln w="12700">
            <a:solidFill>
              <a:srgbClr val="0D9488"/>
            </a:solidFill>
            <a:prstDash val="solid"/>
          </a:ln>
        </p:spPr>
        <p:txBody>
          <a:bodyPr/>
          <a:lstStyle/>
          <a:p>
            <a:endParaRPr lang="en-US"/>
          </a:p>
        </p:txBody>
      </p:sp>
      <p:sp>
        <p:nvSpPr>
          <p:cNvPr id="47" name="Text 45"/>
          <p:cNvSpPr/>
          <p:nvPr/>
        </p:nvSpPr>
        <p:spPr>
          <a:xfrm>
            <a:off x="4047592" y="4343400"/>
            <a:ext cx="1874520" cy="32004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The Money</a:t>
            </a:r>
            <a:endParaRPr lang="en-US" sz="1300" dirty="0"/>
          </a:p>
        </p:txBody>
      </p:sp>
      <p:sp>
        <p:nvSpPr>
          <p:cNvPr id="48" name="Text 46"/>
          <p:cNvSpPr/>
          <p:nvPr/>
        </p:nvSpPr>
        <p:spPr>
          <a:xfrm>
            <a:off x="4047592" y="4617720"/>
            <a:ext cx="1874520" cy="22860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 Real name ]</a:t>
            </a:r>
            <a:endParaRPr lang="en-US" sz="1000" dirty="0"/>
          </a:p>
        </p:txBody>
      </p:sp>
      <p:sp>
        <p:nvSpPr>
          <p:cNvPr id="49" name="Text 47"/>
          <p:cNvSpPr/>
          <p:nvPr/>
        </p:nvSpPr>
        <p:spPr>
          <a:xfrm>
            <a:off x="4047592" y="4846320"/>
            <a:ext cx="1874520" cy="201168"/>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BI &amp; reports</a:t>
            </a:r>
            <a:endParaRPr lang="en-US" sz="900" dirty="0"/>
          </a:p>
        </p:txBody>
      </p:sp>
      <p:sp>
        <p:nvSpPr>
          <p:cNvPr id="50" name="Shape 48"/>
          <p:cNvSpPr/>
          <p:nvPr/>
        </p:nvSpPr>
        <p:spPr>
          <a:xfrm>
            <a:off x="6178144" y="3566160"/>
            <a:ext cx="2057400"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51" name="Shape 49"/>
          <p:cNvSpPr/>
          <p:nvPr/>
        </p:nvSpPr>
        <p:spPr>
          <a:xfrm>
            <a:off x="6178144" y="3566160"/>
            <a:ext cx="73152" cy="1371600"/>
          </a:xfrm>
          <a:prstGeom prst="rect">
            <a:avLst/>
          </a:prstGeom>
          <a:solidFill>
            <a:srgbClr val="0D9488"/>
          </a:solidFill>
          <a:ln w="12700">
            <a:solidFill>
              <a:srgbClr val="0D9488"/>
            </a:solidFill>
            <a:prstDash val="solid"/>
          </a:ln>
        </p:spPr>
        <p:txBody>
          <a:bodyPr/>
          <a:lstStyle/>
          <a:p>
            <a:endParaRPr lang="en-US"/>
          </a:p>
        </p:txBody>
      </p:sp>
      <p:sp>
        <p:nvSpPr>
          <p:cNvPr id="52" name="Shape 50"/>
          <p:cNvSpPr/>
          <p:nvPr/>
        </p:nvSpPr>
        <p:spPr>
          <a:xfrm>
            <a:off x="6914236" y="3703320"/>
            <a:ext cx="585216" cy="585216"/>
          </a:xfrm>
          <a:prstGeom prst="ellipse">
            <a:avLst/>
          </a:prstGeom>
          <a:solidFill>
            <a:srgbClr val="0D9488"/>
          </a:solidFill>
          <a:ln w="12700">
            <a:solidFill>
              <a:srgbClr val="0D9488"/>
            </a:solidFill>
            <a:prstDash val="solid"/>
          </a:ln>
        </p:spPr>
        <p:txBody>
          <a:bodyPr/>
          <a:lstStyle/>
          <a:p>
            <a:endParaRPr lang="en-US"/>
          </a:p>
        </p:txBody>
      </p:sp>
      <p:sp>
        <p:nvSpPr>
          <p:cNvPr id="53" name="Text 51"/>
          <p:cNvSpPr/>
          <p:nvPr/>
        </p:nvSpPr>
        <p:spPr>
          <a:xfrm>
            <a:off x="6269584" y="4343400"/>
            <a:ext cx="1874520" cy="32004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The Charm</a:t>
            </a:r>
            <a:endParaRPr lang="en-US" sz="1300" dirty="0"/>
          </a:p>
        </p:txBody>
      </p:sp>
      <p:sp>
        <p:nvSpPr>
          <p:cNvPr id="54" name="Text 52"/>
          <p:cNvSpPr/>
          <p:nvPr/>
        </p:nvSpPr>
        <p:spPr>
          <a:xfrm>
            <a:off x="6269584" y="4617720"/>
            <a:ext cx="1874520" cy="22860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 Real name ]</a:t>
            </a:r>
            <a:endParaRPr lang="en-US" sz="1000" dirty="0"/>
          </a:p>
        </p:txBody>
      </p:sp>
      <p:sp>
        <p:nvSpPr>
          <p:cNvPr id="55" name="Text 53"/>
          <p:cNvSpPr/>
          <p:nvPr/>
        </p:nvSpPr>
        <p:spPr>
          <a:xfrm>
            <a:off x="6269584" y="4846320"/>
            <a:ext cx="1874520" cy="201168"/>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portal · UX</a:t>
            </a:r>
            <a:endParaRPr lang="en-US" sz="900" dirty="0"/>
          </a:p>
        </p:txBody>
      </p:sp>
      <p:sp>
        <p:nvSpPr>
          <p:cNvPr id="56" name="Shape 54"/>
          <p:cNvSpPr/>
          <p:nvPr/>
        </p:nvSpPr>
        <p:spPr>
          <a:xfrm>
            <a:off x="8400136" y="3566160"/>
            <a:ext cx="2057400"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57" name="Shape 55"/>
          <p:cNvSpPr/>
          <p:nvPr/>
        </p:nvSpPr>
        <p:spPr>
          <a:xfrm>
            <a:off x="8400136" y="3566160"/>
            <a:ext cx="73152" cy="1371600"/>
          </a:xfrm>
          <a:prstGeom prst="rect">
            <a:avLst/>
          </a:prstGeom>
          <a:solidFill>
            <a:srgbClr val="0D9488"/>
          </a:solidFill>
          <a:ln w="12700">
            <a:solidFill>
              <a:srgbClr val="0D9488"/>
            </a:solidFill>
            <a:prstDash val="solid"/>
          </a:ln>
        </p:spPr>
        <p:txBody>
          <a:bodyPr/>
          <a:lstStyle/>
          <a:p>
            <a:endParaRPr lang="en-US"/>
          </a:p>
        </p:txBody>
      </p:sp>
      <p:sp>
        <p:nvSpPr>
          <p:cNvPr id="58" name="Shape 56"/>
          <p:cNvSpPr/>
          <p:nvPr/>
        </p:nvSpPr>
        <p:spPr>
          <a:xfrm>
            <a:off x="9136228" y="3703320"/>
            <a:ext cx="585216" cy="585216"/>
          </a:xfrm>
          <a:prstGeom prst="ellipse">
            <a:avLst/>
          </a:prstGeom>
          <a:solidFill>
            <a:srgbClr val="0D9488"/>
          </a:solidFill>
          <a:ln w="12700">
            <a:solidFill>
              <a:srgbClr val="0D9488"/>
            </a:solidFill>
            <a:prstDash val="solid"/>
          </a:ln>
        </p:spPr>
        <p:txBody>
          <a:bodyPr/>
          <a:lstStyle/>
          <a:p>
            <a:endParaRPr lang="en-US"/>
          </a:p>
        </p:txBody>
      </p:sp>
      <p:sp>
        <p:nvSpPr>
          <p:cNvPr id="59" name="Text 57"/>
          <p:cNvSpPr/>
          <p:nvPr/>
        </p:nvSpPr>
        <p:spPr>
          <a:xfrm>
            <a:off x="8491576" y="4343400"/>
            <a:ext cx="1874520" cy="32004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The Cleaner</a:t>
            </a:r>
            <a:endParaRPr lang="en-US" sz="1300" dirty="0"/>
          </a:p>
        </p:txBody>
      </p:sp>
      <p:sp>
        <p:nvSpPr>
          <p:cNvPr id="60" name="Text 58"/>
          <p:cNvSpPr/>
          <p:nvPr/>
        </p:nvSpPr>
        <p:spPr>
          <a:xfrm>
            <a:off x="8491576" y="4617720"/>
            <a:ext cx="1874520" cy="22860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 Real name ]</a:t>
            </a:r>
            <a:endParaRPr lang="en-US" sz="1000" dirty="0"/>
          </a:p>
        </p:txBody>
      </p:sp>
      <p:sp>
        <p:nvSpPr>
          <p:cNvPr id="61" name="Text 59"/>
          <p:cNvSpPr/>
          <p:nvPr/>
        </p:nvSpPr>
        <p:spPr>
          <a:xfrm>
            <a:off x="8491576" y="4846320"/>
            <a:ext cx="1874520" cy="201168"/>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data quality</a:t>
            </a:r>
            <a:endParaRPr lang="en-US" sz="900" dirty="0"/>
          </a:p>
        </p:txBody>
      </p:sp>
      <p:sp>
        <p:nvSpPr>
          <p:cNvPr id="62" name="Shape 60"/>
          <p:cNvSpPr/>
          <p:nvPr/>
        </p:nvSpPr>
        <p:spPr>
          <a:xfrm>
            <a:off x="1734160" y="5074920"/>
            <a:ext cx="2057400"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63" name="Shape 61"/>
          <p:cNvSpPr/>
          <p:nvPr/>
        </p:nvSpPr>
        <p:spPr>
          <a:xfrm>
            <a:off x="1734160" y="5074920"/>
            <a:ext cx="73152" cy="1371600"/>
          </a:xfrm>
          <a:prstGeom prst="rect">
            <a:avLst/>
          </a:prstGeom>
          <a:solidFill>
            <a:srgbClr val="0D9488"/>
          </a:solidFill>
          <a:ln w="12700">
            <a:solidFill>
              <a:srgbClr val="0D9488"/>
            </a:solidFill>
            <a:prstDash val="solid"/>
          </a:ln>
        </p:spPr>
        <p:txBody>
          <a:bodyPr/>
          <a:lstStyle/>
          <a:p>
            <a:endParaRPr lang="en-US"/>
          </a:p>
        </p:txBody>
      </p:sp>
      <p:sp>
        <p:nvSpPr>
          <p:cNvPr id="64" name="Shape 62"/>
          <p:cNvSpPr/>
          <p:nvPr/>
        </p:nvSpPr>
        <p:spPr>
          <a:xfrm>
            <a:off x="2470252" y="5212080"/>
            <a:ext cx="585216" cy="585216"/>
          </a:xfrm>
          <a:prstGeom prst="ellipse">
            <a:avLst/>
          </a:prstGeom>
          <a:solidFill>
            <a:srgbClr val="0D9488"/>
          </a:solidFill>
          <a:ln w="12700">
            <a:solidFill>
              <a:srgbClr val="0D9488"/>
            </a:solidFill>
            <a:prstDash val="solid"/>
          </a:ln>
        </p:spPr>
        <p:txBody>
          <a:bodyPr/>
          <a:lstStyle/>
          <a:p>
            <a:endParaRPr lang="en-US"/>
          </a:p>
        </p:txBody>
      </p:sp>
      <p:sp>
        <p:nvSpPr>
          <p:cNvPr id="65" name="Text 63"/>
          <p:cNvSpPr/>
          <p:nvPr/>
        </p:nvSpPr>
        <p:spPr>
          <a:xfrm>
            <a:off x="1825600" y="5852160"/>
            <a:ext cx="1874520" cy="32004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The Grifter</a:t>
            </a:r>
            <a:endParaRPr lang="en-US" sz="1300" dirty="0"/>
          </a:p>
        </p:txBody>
      </p:sp>
      <p:sp>
        <p:nvSpPr>
          <p:cNvPr id="66" name="Text 64"/>
          <p:cNvSpPr/>
          <p:nvPr/>
        </p:nvSpPr>
        <p:spPr>
          <a:xfrm>
            <a:off x="1825600" y="6126480"/>
            <a:ext cx="1874520" cy="22860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 Real name ]</a:t>
            </a:r>
            <a:endParaRPr lang="en-US" sz="1000" dirty="0"/>
          </a:p>
        </p:txBody>
      </p:sp>
      <p:sp>
        <p:nvSpPr>
          <p:cNvPr id="67" name="Text 65"/>
          <p:cNvSpPr/>
          <p:nvPr/>
        </p:nvSpPr>
        <p:spPr>
          <a:xfrm>
            <a:off x="1825600" y="6355080"/>
            <a:ext cx="1874520" cy="201168"/>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GTM · CU presentations</a:t>
            </a:r>
            <a:endParaRPr lang="en-US" sz="900" dirty="0"/>
          </a:p>
        </p:txBody>
      </p:sp>
      <p:sp>
        <p:nvSpPr>
          <p:cNvPr id="68" name="Shape 66"/>
          <p:cNvSpPr/>
          <p:nvPr/>
        </p:nvSpPr>
        <p:spPr>
          <a:xfrm>
            <a:off x="3956152" y="5074920"/>
            <a:ext cx="2057400"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69" name="Shape 67"/>
          <p:cNvSpPr/>
          <p:nvPr/>
        </p:nvSpPr>
        <p:spPr>
          <a:xfrm>
            <a:off x="3956152" y="5074920"/>
            <a:ext cx="73152" cy="1371600"/>
          </a:xfrm>
          <a:prstGeom prst="rect">
            <a:avLst/>
          </a:prstGeom>
          <a:solidFill>
            <a:srgbClr val="0D9488"/>
          </a:solidFill>
          <a:ln w="12700">
            <a:solidFill>
              <a:srgbClr val="0D9488"/>
            </a:solidFill>
            <a:prstDash val="solid"/>
          </a:ln>
        </p:spPr>
        <p:txBody>
          <a:bodyPr/>
          <a:lstStyle/>
          <a:p>
            <a:endParaRPr lang="en-US"/>
          </a:p>
        </p:txBody>
      </p:sp>
      <p:sp>
        <p:nvSpPr>
          <p:cNvPr id="70" name="Shape 68"/>
          <p:cNvSpPr/>
          <p:nvPr/>
        </p:nvSpPr>
        <p:spPr>
          <a:xfrm>
            <a:off x="4692244" y="5212080"/>
            <a:ext cx="585216" cy="585216"/>
          </a:xfrm>
          <a:prstGeom prst="ellipse">
            <a:avLst/>
          </a:prstGeom>
          <a:solidFill>
            <a:srgbClr val="0D9488"/>
          </a:solidFill>
          <a:ln w="12700">
            <a:solidFill>
              <a:srgbClr val="0D9488"/>
            </a:solidFill>
            <a:prstDash val="solid"/>
          </a:ln>
        </p:spPr>
        <p:txBody>
          <a:bodyPr/>
          <a:lstStyle/>
          <a:p>
            <a:endParaRPr lang="en-US"/>
          </a:p>
        </p:txBody>
      </p:sp>
      <p:sp>
        <p:nvSpPr>
          <p:cNvPr id="71" name="Text 69"/>
          <p:cNvSpPr/>
          <p:nvPr/>
        </p:nvSpPr>
        <p:spPr>
          <a:xfrm>
            <a:off x="4047592" y="5852160"/>
            <a:ext cx="1874520" cy="32004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The Lookout</a:t>
            </a:r>
            <a:endParaRPr lang="en-US" sz="1300" dirty="0"/>
          </a:p>
        </p:txBody>
      </p:sp>
      <p:sp>
        <p:nvSpPr>
          <p:cNvPr id="72" name="Text 70"/>
          <p:cNvSpPr/>
          <p:nvPr/>
        </p:nvSpPr>
        <p:spPr>
          <a:xfrm>
            <a:off x="4047592" y="6126480"/>
            <a:ext cx="1874520" cy="22860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 Real name ]</a:t>
            </a:r>
            <a:endParaRPr lang="en-US" sz="1000" dirty="0"/>
          </a:p>
        </p:txBody>
      </p:sp>
      <p:sp>
        <p:nvSpPr>
          <p:cNvPr id="73" name="Text 71"/>
          <p:cNvSpPr/>
          <p:nvPr/>
        </p:nvSpPr>
        <p:spPr>
          <a:xfrm>
            <a:off x="4047592" y="6355080"/>
            <a:ext cx="1874520" cy="201168"/>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observability</a:t>
            </a:r>
            <a:endParaRPr lang="en-US" sz="900" dirty="0"/>
          </a:p>
        </p:txBody>
      </p:sp>
      <p:sp>
        <p:nvSpPr>
          <p:cNvPr id="74" name="Shape 72"/>
          <p:cNvSpPr/>
          <p:nvPr/>
        </p:nvSpPr>
        <p:spPr>
          <a:xfrm>
            <a:off x="6178144" y="5074920"/>
            <a:ext cx="2057400"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75" name="Shape 73"/>
          <p:cNvSpPr/>
          <p:nvPr/>
        </p:nvSpPr>
        <p:spPr>
          <a:xfrm>
            <a:off x="6178144" y="5074920"/>
            <a:ext cx="73152" cy="1371600"/>
          </a:xfrm>
          <a:prstGeom prst="rect">
            <a:avLst/>
          </a:prstGeom>
          <a:solidFill>
            <a:srgbClr val="0D9488"/>
          </a:solidFill>
          <a:ln w="12700">
            <a:solidFill>
              <a:srgbClr val="0D9488"/>
            </a:solidFill>
            <a:prstDash val="solid"/>
          </a:ln>
        </p:spPr>
        <p:txBody>
          <a:bodyPr/>
          <a:lstStyle/>
          <a:p>
            <a:endParaRPr lang="en-US"/>
          </a:p>
        </p:txBody>
      </p:sp>
      <p:sp>
        <p:nvSpPr>
          <p:cNvPr id="76" name="Shape 74"/>
          <p:cNvSpPr/>
          <p:nvPr/>
        </p:nvSpPr>
        <p:spPr>
          <a:xfrm>
            <a:off x="6914236" y="5212080"/>
            <a:ext cx="585216" cy="585216"/>
          </a:xfrm>
          <a:prstGeom prst="ellipse">
            <a:avLst/>
          </a:prstGeom>
          <a:solidFill>
            <a:srgbClr val="0D9488"/>
          </a:solidFill>
          <a:ln w="12700">
            <a:solidFill>
              <a:srgbClr val="0D9488"/>
            </a:solidFill>
            <a:prstDash val="solid"/>
          </a:ln>
        </p:spPr>
        <p:txBody>
          <a:bodyPr/>
          <a:lstStyle/>
          <a:p>
            <a:endParaRPr lang="en-US"/>
          </a:p>
        </p:txBody>
      </p:sp>
      <p:sp>
        <p:nvSpPr>
          <p:cNvPr id="77" name="Text 75"/>
          <p:cNvSpPr/>
          <p:nvPr/>
        </p:nvSpPr>
        <p:spPr>
          <a:xfrm>
            <a:off x="6269584" y="5852160"/>
            <a:ext cx="1874520" cy="32004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The Mastermind</a:t>
            </a:r>
            <a:endParaRPr lang="en-US" sz="1300" dirty="0"/>
          </a:p>
        </p:txBody>
      </p:sp>
      <p:sp>
        <p:nvSpPr>
          <p:cNvPr id="78" name="Text 76"/>
          <p:cNvSpPr/>
          <p:nvPr/>
        </p:nvSpPr>
        <p:spPr>
          <a:xfrm>
            <a:off x="6269584" y="6126480"/>
            <a:ext cx="1874520" cy="22860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 Real name ]</a:t>
            </a:r>
            <a:endParaRPr lang="en-US" sz="1000" dirty="0"/>
          </a:p>
        </p:txBody>
      </p:sp>
      <p:sp>
        <p:nvSpPr>
          <p:cNvPr id="79" name="Text 77"/>
          <p:cNvSpPr/>
          <p:nvPr/>
        </p:nvSpPr>
        <p:spPr>
          <a:xfrm>
            <a:off x="6269584" y="6355080"/>
            <a:ext cx="1874520" cy="201168"/>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PM · strategy</a:t>
            </a:r>
            <a:endParaRPr lang="en-US" sz="900" dirty="0"/>
          </a:p>
        </p:txBody>
      </p:sp>
      <p:sp>
        <p:nvSpPr>
          <p:cNvPr id="80" name="Shape 78"/>
          <p:cNvSpPr/>
          <p:nvPr/>
        </p:nvSpPr>
        <p:spPr>
          <a:xfrm>
            <a:off x="8400136" y="5074920"/>
            <a:ext cx="2057400"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81" name="Shape 79"/>
          <p:cNvSpPr/>
          <p:nvPr/>
        </p:nvSpPr>
        <p:spPr>
          <a:xfrm>
            <a:off x="8400136" y="5074920"/>
            <a:ext cx="73152" cy="1371600"/>
          </a:xfrm>
          <a:prstGeom prst="rect">
            <a:avLst/>
          </a:prstGeom>
          <a:solidFill>
            <a:srgbClr val="F59E0B"/>
          </a:solidFill>
          <a:ln w="12700">
            <a:solidFill>
              <a:srgbClr val="F59E0B"/>
            </a:solidFill>
            <a:prstDash val="solid"/>
          </a:ln>
        </p:spPr>
        <p:txBody>
          <a:bodyPr/>
          <a:lstStyle/>
          <a:p>
            <a:endParaRPr lang="en-US"/>
          </a:p>
        </p:txBody>
      </p:sp>
      <p:sp>
        <p:nvSpPr>
          <p:cNvPr id="82" name="Shape 80"/>
          <p:cNvSpPr/>
          <p:nvPr/>
        </p:nvSpPr>
        <p:spPr>
          <a:xfrm>
            <a:off x="9136228" y="5212080"/>
            <a:ext cx="585216" cy="585216"/>
          </a:xfrm>
          <a:prstGeom prst="ellipse">
            <a:avLst/>
          </a:prstGeom>
          <a:solidFill>
            <a:srgbClr val="F59E0B"/>
          </a:solidFill>
          <a:ln w="12700">
            <a:solidFill>
              <a:srgbClr val="F59E0B"/>
            </a:solidFill>
            <a:prstDash val="solid"/>
          </a:ln>
        </p:spPr>
        <p:txBody>
          <a:bodyPr/>
          <a:lstStyle/>
          <a:p>
            <a:endParaRPr lang="en-US"/>
          </a:p>
        </p:txBody>
      </p:sp>
      <p:sp>
        <p:nvSpPr>
          <p:cNvPr id="83" name="Text 81"/>
          <p:cNvSpPr/>
          <p:nvPr/>
        </p:nvSpPr>
        <p:spPr>
          <a:xfrm>
            <a:off x="8491576" y="5852160"/>
            <a:ext cx="1874520" cy="32004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The Wildcard</a:t>
            </a:r>
            <a:endParaRPr lang="en-US" sz="1300" dirty="0"/>
          </a:p>
        </p:txBody>
      </p:sp>
      <p:sp>
        <p:nvSpPr>
          <p:cNvPr id="84" name="Text 82"/>
          <p:cNvSpPr/>
          <p:nvPr/>
        </p:nvSpPr>
        <p:spPr>
          <a:xfrm>
            <a:off x="8491576" y="6126480"/>
            <a:ext cx="1874520" cy="228600"/>
          </a:xfrm>
          <a:prstGeom prst="rect">
            <a:avLst/>
          </a:prstGeom>
          <a:noFill/>
          <a:ln/>
        </p:spPr>
        <p:txBody>
          <a:bodyPr wrap="square" lIns="0" tIns="0" rIns="0" bIns="0" rtlCol="0" anchor="ctr"/>
          <a:lstStyle/>
          <a:p>
            <a:pPr marL="0" indent="0" algn="ctr">
              <a:buNone/>
            </a:pPr>
            <a:r>
              <a:rPr lang="en-US" sz="1000" i="1" dirty="0">
                <a:solidFill>
                  <a:srgbClr val="F59E0B"/>
                </a:solidFill>
                <a:latin typeface="Calibri" pitchFamily="34" charset="0"/>
                <a:ea typeface="Calibri" pitchFamily="34" charset="-122"/>
                <a:cs typeface="Calibri" pitchFamily="34" charset="-120"/>
              </a:rPr>
              <a:t>Candi Westin</a:t>
            </a:r>
            <a:endParaRPr lang="en-US" sz="1000" dirty="0"/>
          </a:p>
        </p:txBody>
      </p:sp>
      <p:sp>
        <p:nvSpPr>
          <p:cNvPr id="85" name="Text 83"/>
          <p:cNvSpPr/>
          <p:nvPr/>
        </p:nvSpPr>
        <p:spPr>
          <a:xfrm>
            <a:off x="8491576" y="6355080"/>
            <a:ext cx="1874520" cy="201168"/>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Candi · newest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40080" y="1463040"/>
            <a:ext cx="3657600" cy="2286000"/>
          </a:xfrm>
          <a:prstGeom prst="rect">
            <a:avLst/>
          </a:prstGeom>
          <a:noFill/>
          <a:ln/>
        </p:spPr>
        <p:txBody>
          <a:bodyPr wrap="square" lIns="0" tIns="0" rIns="0" bIns="0" rtlCol="0" anchor="ctr"/>
          <a:lstStyle/>
          <a:p>
            <a:pPr marL="0" indent="0">
              <a:buNone/>
            </a:pPr>
            <a:r>
              <a:rPr lang="en-US" sz="20000" b="1" dirty="0">
                <a:solidFill>
                  <a:srgbClr val="0D9488"/>
                </a:solidFill>
                <a:latin typeface="Calibri" pitchFamily="34" charset="0"/>
                <a:ea typeface="Calibri" pitchFamily="34" charset="-122"/>
                <a:cs typeface="Calibri" pitchFamily="34" charset="-120"/>
              </a:rPr>
              <a:t>01</a:t>
            </a:r>
            <a:endParaRPr lang="en-US" sz="20000" dirty="0"/>
          </a:p>
        </p:txBody>
      </p:sp>
      <p:sp>
        <p:nvSpPr>
          <p:cNvPr id="3" name="Text 1"/>
          <p:cNvSpPr/>
          <p:nvPr/>
        </p:nvSpPr>
        <p:spPr>
          <a:xfrm>
            <a:off x="4572000" y="2194560"/>
            <a:ext cx="7315200" cy="91440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The demand</a:t>
            </a:r>
            <a:endParaRPr lang="en-US" sz="5600" dirty="0"/>
          </a:p>
        </p:txBody>
      </p:sp>
      <p:sp>
        <p:nvSpPr>
          <p:cNvPr id="4" name="Text 2"/>
          <p:cNvSpPr/>
          <p:nvPr/>
        </p:nvSpPr>
        <p:spPr>
          <a:xfrm>
            <a:off x="4572000" y="3108960"/>
            <a:ext cx="7315200" cy="914400"/>
          </a:xfrm>
          <a:prstGeom prst="rect">
            <a:avLst/>
          </a:prstGeom>
          <a:noFill/>
          <a:ln/>
        </p:spPr>
        <p:txBody>
          <a:bodyPr wrap="square" lIns="0" tIns="0" rIns="0" bIns="0" rtlCol="0" anchor="ctr"/>
          <a:lstStyle/>
          <a:p>
            <a:pPr marL="0" indent="0">
              <a:buNone/>
            </a:pPr>
            <a:r>
              <a:rPr lang="en-US" sz="5600" b="1" dirty="0">
                <a:solidFill>
                  <a:srgbClr val="CCFBF1"/>
                </a:solidFill>
                <a:latin typeface="Calibri" pitchFamily="34" charset="0"/>
                <a:ea typeface="Calibri" pitchFamily="34" charset="-122"/>
                <a:cs typeface="Calibri" pitchFamily="34" charset="-120"/>
              </a:rPr>
              <a:t>is real.</a:t>
            </a:r>
            <a:endParaRPr lang="en-US" sz="5600" dirty="0"/>
          </a:p>
        </p:txBody>
      </p:sp>
      <p:sp>
        <p:nvSpPr>
          <p:cNvPr id="5" name="Text 3"/>
          <p:cNvSpPr/>
          <p:nvPr/>
        </p:nvSpPr>
        <p:spPr>
          <a:xfrm>
            <a:off x="4572000" y="4206240"/>
            <a:ext cx="7315200" cy="457200"/>
          </a:xfrm>
          <a:prstGeom prst="rect">
            <a:avLst/>
          </a:prstGeom>
          <a:noFill/>
          <a:ln/>
        </p:spPr>
        <p:txBody>
          <a:bodyPr wrap="square" lIns="0" tIns="0" rIns="0" bIns="0" rtlCol="0" anchor="ctr"/>
          <a:lstStyle/>
          <a:p>
            <a:pPr marL="0" indent="0">
              <a:buNone/>
            </a:pPr>
            <a:r>
              <a:rPr lang="en-US" sz="2000" i="1" dirty="0">
                <a:solidFill>
                  <a:srgbClr val="94A3B8"/>
                </a:solidFill>
                <a:latin typeface="Calibri" pitchFamily="34" charset="0"/>
                <a:ea typeface="Calibri" pitchFamily="34" charset="-122"/>
                <a:cs typeface="Calibri" pitchFamily="34" charset="-120"/>
              </a:rPr>
              <a:t>And it's louder than we expected.</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DEMAND</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Demand by the numbers</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Four signals from the last 90 days</a:t>
            </a:r>
            <a:endParaRPr lang="en-US" sz="1400" dirty="0"/>
          </a:p>
        </p:txBody>
      </p:sp>
      <p:sp>
        <p:nvSpPr>
          <p:cNvPr id="8" name="Shape 6"/>
          <p:cNvSpPr/>
          <p:nvPr/>
        </p:nvSpPr>
        <p:spPr>
          <a:xfrm>
            <a:off x="457200" y="2194560"/>
            <a:ext cx="2682164" cy="219456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9" name="Shape 7"/>
          <p:cNvSpPr/>
          <p:nvPr/>
        </p:nvSpPr>
        <p:spPr>
          <a:xfrm>
            <a:off x="457200" y="2194560"/>
            <a:ext cx="73152" cy="2194560"/>
          </a:xfrm>
          <a:prstGeom prst="rect">
            <a:avLst/>
          </a:prstGeom>
          <a:solidFill>
            <a:srgbClr val="0D9488"/>
          </a:solidFill>
          <a:ln w="12700">
            <a:solidFill>
              <a:srgbClr val="0D9488"/>
            </a:solidFill>
            <a:prstDash val="solid"/>
          </a:ln>
        </p:spPr>
        <p:txBody>
          <a:bodyPr/>
          <a:lstStyle/>
          <a:p>
            <a:endParaRPr lang="en-US"/>
          </a:p>
        </p:txBody>
      </p:sp>
      <p:sp>
        <p:nvSpPr>
          <p:cNvPr id="10" name="Text 8"/>
          <p:cNvSpPr/>
          <p:nvPr/>
        </p:nvSpPr>
        <p:spPr>
          <a:xfrm>
            <a:off x="685800" y="2377440"/>
            <a:ext cx="2316404" cy="1207008"/>
          </a:xfrm>
          <a:prstGeom prst="rect">
            <a:avLst/>
          </a:prstGeom>
          <a:noFill/>
          <a:ln/>
        </p:spPr>
        <p:txBody>
          <a:bodyPr wrap="square" lIns="0" tIns="0" rIns="0" bIns="0" rtlCol="0" anchor="ctr"/>
          <a:lstStyle/>
          <a:p>
            <a:pPr marL="0" indent="0">
              <a:buNone/>
            </a:pPr>
            <a:r>
              <a:rPr lang="en-US" sz="5400" b="1" dirty="0">
                <a:solidFill>
                  <a:srgbClr val="0D9488"/>
                </a:solidFill>
                <a:latin typeface="Calibri" pitchFamily="34" charset="0"/>
                <a:ea typeface="Calibri" pitchFamily="34" charset="-122"/>
                <a:cs typeface="Calibri" pitchFamily="34" charset="-120"/>
              </a:rPr>
              <a:t>~200</a:t>
            </a:r>
            <a:endParaRPr lang="en-US" sz="5400" dirty="0"/>
          </a:p>
        </p:txBody>
      </p:sp>
      <p:sp>
        <p:nvSpPr>
          <p:cNvPr id="11" name="Text 9"/>
          <p:cNvSpPr/>
          <p:nvPr/>
        </p:nvSpPr>
        <p:spPr>
          <a:xfrm>
            <a:off x="685800" y="3511296"/>
            <a:ext cx="2316404" cy="833933"/>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Attendees at our first JHBI webinar</a:t>
            </a:r>
            <a:endParaRPr lang="en-US" sz="1200" dirty="0"/>
          </a:p>
        </p:txBody>
      </p:sp>
      <p:sp>
        <p:nvSpPr>
          <p:cNvPr id="12" name="Shape 10"/>
          <p:cNvSpPr/>
          <p:nvPr/>
        </p:nvSpPr>
        <p:spPr>
          <a:xfrm>
            <a:off x="3322244" y="2194560"/>
            <a:ext cx="2682164" cy="219456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3" name="Shape 11"/>
          <p:cNvSpPr/>
          <p:nvPr/>
        </p:nvSpPr>
        <p:spPr>
          <a:xfrm>
            <a:off x="3322244" y="2194560"/>
            <a:ext cx="73152" cy="2194560"/>
          </a:xfrm>
          <a:prstGeom prst="rect">
            <a:avLst/>
          </a:prstGeom>
          <a:solidFill>
            <a:srgbClr val="0D9488"/>
          </a:solidFill>
          <a:ln w="12700">
            <a:solidFill>
              <a:srgbClr val="0D9488"/>
            </a:solidFill>
            <a:prstDash val="solid"/>
          </a:ln>
        </p:spPr>
        <p:txBody>
          <a:bodyPr/>
          <a:lstStyle/>
          <a:p>
            <a:endParaRPr lang="en-US"/>
          </a:p>
        </p:txBody>
      </p:sp>
      <p:sp>
        <p:nvSpPr>
          <p:cNvPr id="14" name="Text 12"/>
          <p:cNvSpPr/>
          <p:nvPr/>
        </p:nvSpPr>
        <p:spPr>
          <a:xfrm>
            <a:off x="3550844" y="2377440"/>
            <a:ext cx="2316404" cy="1207008"/>
          </a:xfrm>
          <a:prstGeom prst="rect">
            <a:avLst/>
          </a:prstGeom>
          <a:noFill/>
          <a:ln/>
        </p:spPr>
        <p:txBody>
          <a:bodyPr wrap="square" lIns="0" tIns="0" rIns="0" bIns="0" rtlCol="0" anchor="ctr"/>
          <a:lstStyle/>
          <a:p>
            <a:pPr marL="0" indent="0">
              <a:buNone/>
            </a:pPr>
            <a:r>
              <a:rPr lang="en-US" sz="5400" b="1" dirty="0">
                <a:solidFill>
                  <a:srgbClr val="0D9488"/>
                </a:solidFill>
                <a:latin typeface="Calibri" pitchFamily="34" charset="0"/>
                <a:ea typeface="Calibri" pitchFamily="34" charset="-122"/>
                <a:cs typeface="Calibri" pitchFamily="34" charset="-120"/>
              </a:rPr>
              <a:t>100+</a:t>
            </a:r>
            <a:endParaRPr lang="en-US" sz="5400" dirty="0"/>
          </a:p>
        </p:txBody>
      </p:sp>
      <p:sp>
        <p:nvSpPr>
          <p:cNvPr id="15" name="Text 13"/>
          <p:cNvSpPr/>
          <p:nvPr/>
        </p:nvSpPr>
        <p:spPr>
          <a:xfrm>
            <a:off x="3550844" y="3511296"/>
            <a:ext cx="2316404" cy="833933"/>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Pre-registrants for our next webinar</a:t>
            </a:r>
            <a:endParaRPr lang="en-US" sz="1200" dirty="0"/>
          </a:p>
        </p:txBody>
      </p:sp>
      <p:sp>
        <p:nvSpPr>
          <p:cNvPr id="16" name="Shape 14"/>
          <p:cNvSpPr/>
          <p:nvPr/>
        </p:nvSpPr>
        <p:spPr>
          <a:xfrm>
            <a:off x="6187288" y="2194560"/>
            <a:ext cx="2682164" cy="219456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7" name="Shape 15"/>
          <p:cNvSpPr/>
          <p:nvPr/>
        </p:nvSpPr>
        <p:spPr>
          <a:xfrm>
            <a:off x="6187288" y="2194560"/>
            <a:ext cx="73152" cy="2194560"/>
          </a:xfrm>
          <a:prstGeom prst="rect">
            <a:avLst/>
          </a:prstGeom>
          <a:solidFill>
            <a:srgbClr val="F59E0B"/>
          </a:solidFill>
          <a:ln w="12700">
            <a:solidFill>
              <a:srgbClr val="F59E0B"/>
            </a:solidFill>
            <a:prstDash val="solid"/>
          </a:ln>
        </p:spPr>
        <p:txBody>
          <a:bodyPr/>
          <a:lstStyle/>
          <a:p>
            <a:endParaRPr lang="en-US"/>
          </a:p>
        </p:txBody>
      </p:sp>
      <p:sp>
        <p:nvSpPr>
          <p:cNvPr id="18" name="Text 16"/>
          <p:cNvSpPr/>
          <p:nvPr/>
        </p:nvSpPr>
        <p:spPr>
          <a:xfrm>
            <a:off x="6415888" y="2377440"/>
            <a:ext cx="2316404" cy="1207008"/>
          </a:xfrm>
          <a:prstGeom prst="rect">
            <a:avLst/>
          </a:prstGeom>
          <a:noFill/>
          <a:ln/>
        </p:spPr>
        <p:txBody>
          <a:bodyPr wrap="square" lIns="0" tIns="0" rIns="0" bIns="0" rtlCol="0" anchor="ctr"/>
          <a:lstStyle/>
          <a:p>
            <a:pPr marL="0" indent="0">
              <a:buNone/>
            </a:pPr>
            <a:r>
              <a:rPr lang="en-US" sz="5400" b="1" dirty="0">
                <a:solidFill>
                  <a:srgbClr val="F59E0B"/>
                </a:solidFill>
                <a:latin typeface="Calibri" pitchFamily="34" charset="0"/>
                <a:ea typeface="Calibri" pitchFamily="34" charset="-122"/>
                <a:cs typeface="Calibri" pitchFamily="34" charset="-120"/>
              </a:rPr>
              <a:t>~200</a:t>
            </a:r>
            <a:endParaRPr lang="en-US" sz="5400" dirty="0"/>
          </a:p>
        </p:txBody>
      </p:sp>
      <p:sp>
        <p:nvSpPr>
          <p:cNvPr id="19" name="Text 17"/>
          <p:cNvSpPr/>
          <p:nvPr/>
        </p:nvSpPr>
        <p:spPr>
          <a:xfrm>
            <a:off x="6415888" y="3511296"/>
            <a:ext cx="2316404" cy="833933"/>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Across two CU presentations delivered</a:t>
            </a:r>
            <a:endParaRPr lang="en-US" sz="1200" dirty="0"/>
          </a:p>
        </p:txBody>
      </p:sp>
      <p:sp>
        <p:nvSpPr>
          <p:cNvPr id="20" name="Shape 18"/>
          <p:cNvSpPr/>
          <p:nvPr/>
        </p:nvSpPr>
        <p:spPr>
          <a:xfrm>
            <a:off x="9052331" y="2194560"/>
            <a:ext cx="2682164" cy="219456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1" name="Shape 19"/>
          <p:cNvSpPr/>
          <p:nvPr/>
        </p:nvSpPr>
        <p:spPr>
          <a:xfrm>
            <a:off x="9052331" y="2194560"/>
            <a:ext cx="73152" cy="2194560"/>
          </a:xfrm>
          <a:prstGeom prst="rect">
            <a:avLst/>
          </a:prstGeom>
          <a:solidFill>
            <a:srgbClr val="F59E0B"/>
          </a:solidFill>
          <a:ln w="12700">
            <a:solidFill>
              <a:srgbClr val="F59E0B"/>
            </a:solidFill>
            <a:prstDash val="solid"/>
          </a:ln>
        </p:spPr>
        <p:txBody>
          <a:bodyPr/>
          <a:lstStyle/>
          <a:p>
            <a:endParaRPr lang="en-US"/>
          </a:p>
        </p:txBody>
      </p:sp>
      <p:sp>
        <p:nvSpPr>
          <p:cNvPr id="22" name="Text 20"/>
          <p:cNvSpPr/>
          <p:nvPr/>
        </p:nvSpPr>
        <p:spPr>
          <a:xfrm>
            <a:off x="9280931" y="2377440"/>
            <a:ext cx="2316404" cy="1207008"/>
          </a:xfrm>
          <a:prstGeom prst="rect">
            <a:avLst/>
          </a:prstGeom>
          <a:noFill/>
          <a:ln/>
        </p:spPr>
        <p:txBody>
          <a:bodyPr wrap="square" lIns="0" tIns="0" rIns="0" bIns="0" rtlCol="0" anchor="ctr"/>
          <a:lstStyle/>
          <a:p>
            <a:pPr marL="0" indent="0">
              <a:buNone/>
            </a:pPr>
            <a:r>
              <a:rPr lang="en-US" sz="5400" b="1" dirty="0">
                <a:solidFill>
                  <a:srgbClr val="F59E0B"/>
                </a:solidFill>
                <a:latin typeface="Calibri" pitchFamily="34" charset="0"/>
                <a:ea typeface="Calibri" pitchFamily="34" charset="-122"/>
                <a:cs typeface="Calibri" pitchFamily="34" charset="-120"/>
              </a:rPr>
              <a:t>25</a:t>
            </a:r>
            <a:endParaRPr lang="en-US" sz="5400" dirty="0"/>
          </a:p>
        </p:txBody>
      </p:sp>
      <p:sp>
        <p:nvSpPr>
          <p:cNvPr id="23" name="Text 21"/>
          <p:cNvSpPr/>
          <p:nvPr/>
        </p:nvSpPr>
        <p:spPr>
          <a:xfrm>
            <a:off x="9280931" y="3511296"/>
            <a:ext cx="2316404" cy="833933"/>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jhaKnow new sales YTD — adjacent demand</a:t>
            </a:r>
            <a:endParaRPr lang="en-US" sz="1200" dirty="0"/>
          </a:p>
        </p:txBody>
      </p:sp>
      <p:sp>
        <p:nvSpPr>
          <p:cNvPr id="24" name="Shape 22"/>
          <p:cNvSpPr/>
          <p:nvPr/>
        </p:nvSpPr>
        <p:spPr>
          <a:xfrm>
            <a:off x="457200" y="4846320"/>
            <a:ext cx="11277295" cy="1188720"/>
          </a:xfrm>
          <a:prstGeom prst="rect">
            <a:avLst/>
          </a:prstGeom>
          <a:solidFill>
            <a:srgbClr val="0F172A"/>
          </a:solidFill>
          <a:ln w="12700">
            <a:solidFill>
              <a:srgbClr val="0F172A"/>
            </a:solidFill>
            <a:prstDash val="solid"/>
          </a:ln>
        </p:spPr>
        <p:txBody>
          <a:bodyPr/>
          <a:lstStyle/>
          <a:p>
            <a:endParaRPr lang="en-US"/>
          </a:p>
        </p:txBody>
      </p:sp>
      <p:pic>
        <p:nvPicPr>
          <p:cNvPr id="25" name="Image 0" descr="preencoded.png"/>
          <p:cNvPicPr>
            <a:picLocks noChangeAspect="1"/>
          </p:cNvPicPr>
          <p:nvPr/>
        </p:nvPicPr>
        <p:blipFill>
          <a:blip r:embed="rId3"/>
          <a:stretch>
            <a:fillRect/>
          </a:stretch>
        </p:blipFill>
        <p:spPr>
          <a:xfrm>
            <a:off x="777240" y="5212080"/>
            <a:ext cx="457200" cy="457200"/>
          </a:xfrm>
          <a:prstGeom prst="rect">
            <a:avLst/>
          </a:prstGeom>
        </p:spPr>
      </p:pic>
      <p:sp>
        <p:nvSpPr>
          <p:cNvPr id="26" name="Text 23"/>
          <p:cNvSpPr/>
          <p:nvPr/>
        </p:nvSpPr>
        <p:spPr>
          <a:xfrm>
            <a:off x="1463040" y="4937760"/>
            <a:ext cx="10180015" cy="100584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Net-net: people are showing up to learn, asking to be on the next call, and buying in adjacent products. The pipeline of attention is real.</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DEMAND · DEEP DIVE</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 / 38</a:t>
            </a:r>
            <a:endParaRPr lang="en-US" sz="900" dirty="0"/>
          </a:p>
        </p:txBody>
      </p:sp>
      <p:sp>
        <p:nvSpPr>
          <p:cNvPr id="6" name="Text 4"/>
          <p:cNvSpPr/>
          <p:nvPr/>
        </p:nvSpPr>
        <p:spPr>
          <a:xfrm>
            <a:off x="640080" y="914400"/>
            <a:ext cx="7315200" cy="457200"/>
          </a:xfrm>
          <a:prstGeom prst="rect">
            <a:avLst/>
          </a:prstGeom>
          <a:noFill/>
          <a:ln/>
        </p:spPr>
        <p:txBody>
          <a:bodyPr wrap="square" lIns="0" tIns="0" rIns="0" bIns="0" rtlCol="0" anchor="ctr"/>
          <a:lstStyle/>
          <a:p>
            <a:pPr marL="0" indent="0">
              <a:buNone/>
            </a:pPr>
            <a:r>
              <a:rPr lang="en-US" sz="1600" b="1" kern="0" spc="600" dirty="0">
                <a:solidFill>
                  <a:srgbClr val="CCFBF1"/>
                </a:solidFill>
                <a:latin typeface="Calibri" pitchFamily="34" charset="0"/>
                <a:ea typeface="Calibri" pitchFamily="34" charset="-122"/>
                <a:cs typeface="Calibri" pitchFamily="34" charset="-120"/>
              </a:rPr>
              <a:t>WEBINAR #1</a:t>
            </a:r>
            <a:endParaRPr lang="en-US" sz="1600" dirty="0"/>
          </a:p>
        </p:txBody>
      </p:sp>
      <p:sp>
        <p:nvSpPr>
          <p:cNvPr id="7" name="Text 5"/>
          <p:cNvSpPr/>
          <p:nvPr/>
        </p:nvSpPr>
        <p:spPr>
          <a:xfrm>
            <a:off x="640080" y="1463040"/>
            <a:ext cx="8229600" cy="1097280"/>
          </a:xfrm>
          <a:prstGeom prst="rect">
            <a:avLst/>
          </a:prstGeom>
          <a:noFill/>
          <a:ln/>
        </p:spPr>
        <p:txBody>
          <a:bodyPr wrap="square" lIns="0" tIns="0" rIns="0" bIns="0" rtlCol="0" anchor="ctr"/>
          <a:lstStyle/>
          <a:p>
            <a:pPr marL="0" indent="0">
              <a:buNone/>
            </a:pPr>
            <a:r>
              <a:rPr lang="en-US" sz="6400" b="1" kern="0" spc="-200" dirty="0">
                <a:solidFill>
                  <a:srgbClr val="FFFFFF"/>
                </a:solidFill>
                <a:latin typeface="Calibri" pitchFamily="34" charset="0"/>
                <a:ea typeface="Calibri" pitchFamily="34" charset="-122"/>
                <a:cs typeface="Calibri" pitchFamily="34" charset="-120"/>
              </a:rPr>
              <a:t>A deeper look.</a:t>
            </a:r>
            <a:endParaRPr lang="en-US" sz="6400" dirty="0"/>
          </a:p>
        </p:txBody>
      </p:sp>
      <p:sp>
        <p:nvSpPr>
          <p:cNvPr id="8" name="Text 6"/>
          <p:cNvSpPr/>
          <p:nvPr/>
        </p:nvSpPr>
        <p:spPr>
          <a:xfrm>
            <a:off x="640080" y="2697480"/>
            <a:ext cx="10972800" cy="457200"/>
          </a:xfrm>
          <a:prstGeom prst="rect">
            <a:avLst/>
          </a:prstGeom>
          <a:noFill/>
          <a:ln/>
        </p:spPr>
        <p:txBody>
          <a:bodyPr wrap="square" lIns="0" tIns="0" rIns="0" bIns="0" rtlCol="0" anchor="ctr"/>
          <a:lstStyle/>
          <a:p>
            <a:pPr marL="0" indent="0">
              <a:buNone/>
            </a:pPr>
            <a:r>
              <a:rPr lang="en-US" sz="2000" i="1" dirty="0">
                <a:solidFill>
                  <a:srgbClr val="94A3B8"/>
                </a:solidFill>
                <a:latin typeface="Calibri" pitchFamily="34" charset="0"/>
                <a:ea typeface="Calibri" pitchFamily="34" charset="-122"/>
                <a:cs typeface="Calibri" pitchFamily="34" charset="-120"/>
              </a:rPr>
              <a:t>Who showed up, what they asked, what we learned.</a:t>
            </a:r>
            <a:endParaRPr lang="en-US" sz="2000" dirty="0"/>
          </a:p>
        </p:txBody>
      </p:sp>
      <p:sp>
        <p:nvSpPr>
          <p:cNvPr id="9" name="Shape 7"/>
          <p:cNvSpPr/>
          <p:nvPr/>
        </p:nvSpPr>
        <p:spPr>
          <a:xfrm>
            <a:off x="883768" y="3657600"/>
            <a:ext cx="3291840" cy="1554480"/>
          </a:xfrm>
          <a:prstGeom prst="rect">
            <a:avLst/>
          </a:prstGeom>
          <a:solidFill>
            <a:srgbClr val="1E293B"/>
          </a:solidFill>
          <a:ln w="12700">
            <a:solidFill>
              <a:srgbClr val="CCFBF1"/>
            </a:solidFill>
            <a:prstDash val="solid"/>
          </a:ln>
        </p:spPr>
        <p:txBody>
          <a:bodyPr/>
          <a:lstStyle/>
          <a:p>
            <a:endParaRPr lang="en-US"/>
          </a:p>
        </p:txBody>
      </p:sp>
      <p:sp>
        <p:nvSpPr>
          <p:cNvPr id="10" name="Shape 8"/>
          <p:cNvSpPr/>
          <p:nvPr/>
        </p:nvSpPr>
        <p:spPr>
          <a:xfrm>
            <a:off x="883768" y="3657600"/>
            <a:ext cx="73152" cy="1554480"/>
          </a:xfrm>
          <a:prstGeom prst="rect">
            <a:avLst/>
          </a:prstGeom>
          <a:solidFill>
            <a:srgbClr val="CCFBF1"/>
          </a:solidFill>
          <a:ln w="12700">
            <a:solidFill>
              <a:srgbClr val="CCFBF1"/>
            </a:solidFill>
            <a:prstDash val="solid"/>
          </a:ln>
        </p:spPr>
        <p:txBody>
          <a:bodyPr/>
          <a:lstStyle/>
          <a:p>
            <a:endParaRPr lang="en-US"/>
          </a:p>
        </p:txBody>
      </p:sp>
      <p:sp>
        <p:nvSpPr>
          <p:cNvPr id="11" name="Text 9"/>
          <p:cNvSpPr/>
          <p:nvPr/>
        </p:nvSpPr>
        <p:spPr>
          <a:xfrm>
            <a:off x="1112368" y="3840480"/>
            <a:ext cx="2926080" cy="777240"/>
          </a:xfrm>
          <a:prstGeom prst="rect">
            <a:avLst/>
          </a:prstGeom>
          <a:noFill/>
          <a:ln/>
        </p:spPr>
        <p:txBody>
          <a:bodyPr wrap="square" lIns="0" tIns="0" rIns="0" bIns="0" rtlCol="0" anchor="ctr"/>
          <a:lstStyle/>
          <a:p>
            <a:pPr marL="0" indent="0">
              <a:buNone/>
            </a:pPr>
            <a:r>
              <a:rPr lang="en-US" sz="4400" b="1" dirty="0">
                <a:solidFill>
                  <a:srgbClr val="CCFBF1"/>
                </a:solidFill>
                <a:latin typeface="Calibri" pitchFamily="34" charset="0"/>
                <a:ea typeface="Calibri" pitchFamily="34" charset="-122"/>
                <a:cs typeface="Calibri" pitchFamily="34" charset="-120"/>
              </a:rPr>
              <a:t>~200</a:t>
            </a:r>
            <a:endParaRPr lang="en-US" sz="4400" dirty="0"/>
          </a:p>
        </p:txBody>
      </p:sp>
      <p:sp>
        <p:nvSpPr>
          <p:cNvPr id="12" name="Text 10"/>
          <p:cNvSpPr/>
          <p:nvPr/>
        </p:nvSpPr>
        <p:spPr>
          <a:xfrm>
            <a:off x="1112368" y="4617720"/>
            <a:ext cx="2926080" cy="5029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Attendees</a:t>
            </a:r>
            <a:endParaRPr lang="en-US" sz="1200" dirty="0"/>
          </a:p>
        </p:txBody>
      </p:sp>
      <p:sp>
        <p:nvSpPr>
          <p:cNvPr id="13" name="Shape 11"/>
          <p:cNvSpPr/>
          <p:nvPr/>
        </p:nvSpPr>
        <p:spPr>
          <a:xfrm>
            <a:off x="4449928" y="3657600"/>
            <a:ext cx="3291840" cy="1554480"/>
          </a:xfrm>
          <a:prstGeom prst="rect">
            <a:avLst/>
          </a:prstGeom>
          <a:solidFill>
            <a:srgbClr val="1E293B"/>
          </a:solidFill>
          <a:ln w="12700">
            <a:solidFill>
              <a:srgbClr val="CCFBF1"/>
            </a:solidFill>
            <a:prstDash val="solid"/>
          </a:ln>
        </p:spPr>
        <p:txBody>
          <a:bodyPr/>
          <a:lstStyle/>
          <a:p>
            <a:endParaRPr lang="en-US"/>
          </a:p>
        </p:txBody>
      </p:sp>
      <p:sp>
        <p:nvSpPr>
          <p:cNvPr id="14" name="Shape 12"/>
          <p:cNvSpPr/>
          <p:nvPr/>
        </p:nvSpPr>
        <p:spPr>
          <a:xfrm>
            <a:off x="4449928" y="3657600"/>
            <a:ext cx="73152" cy="1554480"/>
          </a:xfrm>
          <a:prstGeom prst="rect">
            <a:avLst/>
          </a:prstGeom>
          <a:solidFill>
            <a:srgbClr val="CCFBF1"/>
          </a:solidFill>
          <a:ln w="12700">
            <a:solidFill>
              <a:srgbClr val="CCFBF1"/>
            </a:solidFill>
            <a:prstDash val="solid"/>
          </a:ln>
        </p:spPr>
        <p:txBody>
          <a:bodyPr/>
          <a:lstStyle/>
          <a:p>
            <a:endParaRPr lang="en-US"/>
          </a:p>
        </p:txBody>
      </p:sp>
      <p:sp>
        <p:nvSpPr>
          <p:cNvPr id="15" name="Text 13"/>
          <p:cNvSpPr/>
          <p:nvPr/>
        </p:nvSpPr>
        <p:spPr>
          <a:xfrm>
            <a:off x="4678528" y="3840480"/>
            <a:ext cx="2926080" cy="777240"/>
          </a:xfrm>
          <a:prstGeom prst="rect">
            <a:avLst/>
          </a:prstGeom>
          <a:noFill/>
          <a:ln/>
        </p:spPr>
        <p:txBody>
          <a:bodyPr wrap="square" lIns="0" tIns="0" rIns="0" bIns="0" rtlCol="0" anchor="ctr"/>
          <a:lstStyle/>
          <a:p>
            <a:pPr marL="0" indent="0">
              <a:buNone/>
            </a:pPr>
            <a:r>
              <a:rPr lang="en-US" sz="4400" b="1" dirty="0">
                <a:solidFill>
                  <a:srgbClr val="CCFBF1"/>
                </a:solidFill>
                <a:latin typeface="Calibri" pitchFamily="34" charset="0"/>
                <a:ea typeface="Calibri" pitchFamily="34" charset="-122"/>
                <a:cs typeface="Calibri" pitchFamily="34" charset="-120"/>
              </a:rPr>
              <a:t>[ XX% ]</a:t>
            </a:r>
            <a:endParaRPr lang="en-US" sz="4400" dirty="0"/>
          </a:p>
        </p:txBody>
      </p:sp>
      <p:sp>
        <p:nvSpPr>
          <p:cNvPr id="16" name="Text 14"/>
          <p:cNvSpPr/>
          <p:nvPr/>
        </p:nvSpPr>
        <p:spPr>
          <a:xfrm>
            <a:off x="4678528" y="4617720"/>
            <a:ext cx="2926080" cy="5029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Engagement / stayed to end</a:t>
            </a:r>
            <a:endParaRPr lang="en-US" sz="1200" dirty="0"/>
          </a:p>
        </p:txBody>
      </p:sp>
      <p:sp>
        <p:nvSpPr>
          <p:cNvPr id="17" name="Shape 15"/>
          <p:cNvSpPr/>
          <p:nvPr/>
        </p:nvSpPr>
        <p:spPr>
          <a:xfrm>
            <a:off x="8016088" y="3657600"/>
            <a:ext cx="3291840" cy="1554480"/>
          </a:xfrm>
          <a:prstGeom prst="rect">
            <a:avLst/>
          </a:prstGeom>
          <a:solidFill>
            <a:srgbClr val="1E293B"/>
          </a:solidFill>
          <a:ln w="12700">
            <a:solidFill>
              <a:srgbClr val="CCFBF1"/>
            </a:solidFill>
            <a:prstDash val="solid"/>
          </a:ln>
        </p:spPr>
        <p:txBody>
          <a:bodyPr/>
          <a:lstStyle/>
          <a:p>
            <a:endParaRPr lang="en-US"/>
          </a:p>
        </p:txBody>
      </p:sp>
      <p:sp>
        <p:nvSpPr>
          <p:cNvPr id="18" name="Shape 16"/>
          <p:cNvSpPr/>
          <p:nvPr/>
        </p:nvSpPr>
        <p:spPr>
          <a:xfrm>
            <a:off x="8016088" y="3657600"/>
            <a:ext cx="73152" cy="1554480"/>
          </a:xfrm>
          <a:prstGeom prst="rect">
            <a:avLst/>
          </a:prstGeom>
          <a:solidFill>
            <a:srgbClr val="CCFBF1"/>
          </a:solidFill>
          <a:ln w="12700">
            <a:solidFill>
              <a:srgbClr val="CCFBF1"/>
            </a:solidFill>
            <a:prstDash val="solid"/>
          </a:ln>
        </p:spPr>
        <p:txBody>
          <a:bodyPr/>
          <a:lstStyle/>
          <a:p>
            <a:endParaRPr lang="en-US"/>
          </a:p>
        </p:txBody>
      </p:sp>
      <p:sp>
        <p:nvSpPr>
          <p:cNvPr id="19" name="Text 17"/>
          <p:cNvSpPr/>
          <p:nvPr/>
        </p:nvSpPr>
        <p:spPr>
          <a:xfrm>
            <a:off x="8244688" y="3840480"/>
            <a:ext cx="2926080" cy="777240"/>
          </a:xfrm>
          <a:prstGeom prst="rect">
            <a:avLst/>
          </a:prstGeom>
          <a:noFill/>
          <a:ln/>
        </p:spPr>
        <p:txBody>
          <a:bodyPr wrap="square" lIns="0" tIns="0" rIns="0" bIns="0" rtlCol="0" anchor="ctr"/>
          <a:lstStyle/>
          <a:p>
            <a:pPr marL="0" indent="0">
              <a:buNone/>
            </a:pPr>
            <a:r>
              <a:rPr lang="en-US" sz="4400" b="1" dirty="0">
                <a:solidFill>
                  <a:srgbClr val="CCFBF1"/>
                </a:solidFill>
                <a:latin typeface="Calibri" pitchFamily="34" charset="0"/>
                <a:ea typeface="Calibri" pitchFamily="34" charset="-122"/>
                <a:cs typeface="Calibri" pitchFamily="34" charset="-120"/>
              </a:rPr>
              <a:t>[ X ]</a:t>
            </a:r>
            <a:endParaRPr lang="en-US" sz="4400" dirty="0"/>
          </a:p>
        </p:txBody>
      </p:sp>
      <p:sp>
        <p:nvSpPr>
          <p:cNvPr id="20" name="Text 18"/>
          <p:cNvSpPr/>
          <p:nvPr/>
        </p:nvSpPr>
        <p:spPr>
          <a:xfrm>
            <a:off x="8244688" y="4617720"/>
            <a:ext cx="2926080" cy="5029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Demo requests follow-up</a:t>
            </a:r>
            <a:endParaRPr lang="en-US" sz="1200" dirty="0"/>
          </a:p>
        </p:txBody>
      </p:sp>
      <p:sp>
        <p:nvSpPr>
          <p:cNvPr id="21" name="Shape 19"/>
          <p:cNvSpPr/>
          <p:nvPr/>
        </p:nvSpPr>
        <p:spPr>
          <a:xfrm>
            <a:off x="457200" y="5577840"/>
            <a:ext cx="11277295" cy="502920"/>
          </a:xfrm>
          <a:prstGeom prst="roundRect">
            <a:avLst>
              <a:gd name="adj" fmla="val 14545"/>
            </a:avLst>
          </a:prstGeom>
          <a:solidFill>
            <a:srgbClr val="1E293B"/>
          </a:solidFill>
          <a:ln w="12700">
            <a:solidFill>
              <a:srgbClr val="F59E0B"/>
            </a:solidFill>
            <a:prstDash val="solid"/>
          </a:ln>
        </p:spPr>
        <p:txBody>
          <a:bodyPr/>
          <a:lstStyle/>
          <a:p>
            <a:endParaRPr lang="en-US"/>
          </a:p>
        </p:txBody>
      </p:sp>
      <p:pic>
        <p:nvPicPr>
          <p:cNvPr id="22" name="Image 0" descr="preencoded.png"/>
          <p:cNvPicPr>
            <a:picLocks noChangeAspect="1"/>
          </p:cNvPicPr>
          <p:nvPr/>
        </p:nvPicPr>
        <p:blipFill>
          <a:blip r:embed="rId3"/>
          <a:stretch>
            <a:fillRect/>
          </a:stretch>
        </p:blipFill>
        <p:spPr>
          <a:xfrm>
            <a:off x="685800" y="5687568"/>
            <a:ext cx="292608" cy="292608"/>
          </a:xfrm>
          <a:prstGeom prst="rect">
            <a:avLst/>
          </a:prstGeom>
        </p:spPr>
      </p:pic>
      <p:sp>
        <p:nvSpPr>
          <p:cNvPr id="23" name="Text 20"/>
          <p:cNvSpPr/>
          <p:nvPr/>
        </p:nvSpPr>
        <p:spPr>
          <a:xfrm>
            <a:off x="1097280" y="5577840"/>
            <a:ext cx="10637215" cy="502920"/>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Insert detailed webinar stats deck here  </a:t>
            </a:r>
            <a:r>
              <a:rPr lang="en-US" sz="1200" i="1" dirty="0">
                <a:solidFill>
                  <a:srgbClr val="94A3B8"/>
                </a:solidFill>
                <a:latin typeface="Calibri" pitchFamily="34" charset="0"/>
                <a:ea typeface="Calibri" pitchFamily="34" charset="-122"/>
                <a:cs typeface="Calibri" pitchFamily="34" charset="-120"/>
              </a:rPr>
              <a:t>·  registrations, attendance curve, top questions, follow-up actions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DEMAND</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What this means for us</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Three implications worth internalizing</a:t>
            </a:r>
            <a:endParaRPr lang="en-US" sz="1400" dirty="0"/>
          </a:p>
        </p:txBody>
      </p:sp>
      <p:sp>
        <p:nvSpPr>
          <p:cNvPr id="8" name="Shape 6"/>
          <p:cNvSpPr/>
          <p:nvPr/>
        </p:nvSpPr>
        <p:spPr>
          <a:xfrm>
            <a:off x="457200" y="2286000"/>
            <a:ext cx="11277295" cy="11430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9" name="Shape 7"/>
          <p:cNvSpPr/>
          <p:nvPr/>
        </p:nvSpPr>
        <p:spPr>
          <a:xfrm>
            <a:off x="457200" y="2286000"/>
            <a:ext cx="73152" cy="1143000"/>
          </a:xfrm>
          <a:prstGeom prst="rect">
            <a:avLst/>
          </a:prstGeom>
          <a:solidFill>
            <a:srgbClr val="0D9488"/>
          </a:solidFill>
          <a:ln w="12700">
            <a:solidFill>
              <a:srgbClr val="0D9488"/>
            </a:solidFill>
            <a:prstDash val="solid"/>
          </a:ln>
        </p:spPr>
        <p:txBody>
          <a:bodyPr/>
          <a:lstStyle/>
          <a:p>
            <a:endParaRPr lang="en-US"/>
          </a:p>
        </p:txBody>
      </p:sp>
      <p:sp>
        <p:nvSpPr>
          <p:cNvPr id="10" name="Shape 8"/>
          <p:cNvSpPr/>
          <p:nvPr/>
        </p:nvSpPr>
        <p:spPr>
          <a:xfrm>
            <a:off x="777240" y="2532888"/>
            <a:ext cx="640080" cy="640080"/>
          </a:xfrm>
          <a:prstGeom prst="ellipse">
            <a:avLst/>
          </a:prstGeom>
          <a:solidFill>
            <a:srgbClr val="0D9488"/>
          </a:solidFill>
          <a:ln w="12700">
            <a:solidFill>
              <a:srgbClr val="0D9488"/>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886968" y="2642616"/>
            <a:ext cx="420624" cy="420624"/>
          </a:xfrm>
          <a:prstGeom prst="rect">
            <a:avLst/>
          </a:prstGeom>
        </p:spPr>
      </p:pic>
      <p:sp>
        <p:nvSpPr>
          <p:cNvPr id="12" name="Text 9"/>
          <p:cNvSpPr/>
          <p:nvPr/>
        </p:nvSpPr>
        <p:spPr>
          <a:xfrm>
            <a:off x="1691640" y="2450592"/>
            <a:ext cx="9905695" cy="41148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We are not a science project</a:t>
            </a:r>
            <a:endParaRPr lang="en-US" sz="1800" dirty="0"/>
          </a:p>
        </p:txBody>
      </p:sp>
      <p:sp>
        <p:nvSpPr>
          <p:cNvPr id="13" name="Text 10"/>
          <p:cNvSpPr/>
          <p:nvPr/>
        </p:nvSpPr>
        <p:spPr>
          <a:xfrm>
            <a:off x="1691640" y="2880360"/>
            <a:ext cx="9905695" cy="5029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There is a buyer waiting. The work we ship in the next two quarters has a direct line to revenue and retention conversations our colleagues are already having.</a:t>
            </a:r>
            <a:endParaRPr lang="en-US" sz="1200" dirty="0"/>
          </a:p>
        </p:txBody>
      </p:sp>
      <p:sp>
        <p:nvSpPr>
          <p:cNvPr id="14" name="Shape 11"/>
          <p:cNvSpPr/>
          <p:nvPr/>
        </p:nvSpPr>
        <p:spPr>
          <a:xfrm>
            <a:off x="457200" y="3611880"/>
            <a:ext cx="11277295" cy="11430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5" name="Shape 12"/>
          <p:cNvSpPr/>
          <p:nvPr/>
        </p:nvSpPr>
        <p:spPr>
          <a:xfrm>
            <a:off x="457200" y="3611880"/>
            <a:ext cx="73152" cy="1143000"/>
          </a:xfrm>
          <a:prstGeom prst="rect">
            <a:avLst/>
          </a:prstGeom>
          <a:solidFill>
            <a:srgbClr val="0D9488"/>
          </a:solidFill>
          <a:ln w="12700">
            <a:solidFill>
              <a:srgbClr val="0D9488"/>
            </a:solidFill>
            <a:prstDash val="solid"/>
          </a:ln>
        </p:spPr>
        <p:txBody>
          <a:bodyPr/>
          <a:lstStyle/>
          <a:p>
            <a:endParaRPr lang="en-US"/>
          </a:p>
        </p:txBody>
      </p:sp>
      <p:sp>
        <p:nvSpPr>
          <p:cNvPr id="16" name="Shape 13"/>
          <p:cNvSpPr/>
          <p:nvPr/>
        </p:nvSpPr>
        <p:spPr>
          <a:xfrm>
            <a:off x="777240" y="3858768"/>
            <a:ext cx="640080" cy="640080"/>
          </a:xfrm>
          <a:prstGeom prst="ellipse">
            <a:avLst/>
          </a:prstGeom>
          <a:solidFill>
            <a:srgbClr val="0D9488"/>
          </a:solidFill>
          <a:ln w="12700">
            <a:solidFill>
              <a:srgbClr val="0D9488"/>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886968" y="3968496"/>
            <a:ext cx="420624" cy="420624"/>
          </a:xfrm>
          <a:prstGeom prst="rect">
            <a:avLst/>
          </a:prstGeom>
        </p:spPr>
      </p:pic>
      <p:sp>
        <p:nvSpPr>
          <p:cNvPr id="18" name="Text 14"/>
          <p:cNvSpPr/>
          <p:nvPr/>
        </p:nvSpPr>
        <p:spPr>
          <a:xfrm>
            <a:off x="1691640" y="3776472"/>
            <a:ext cx="9905695" cy="41148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Speed compounds</a:t>
            </a:r>
            <a:endParaRPr lang="en-US" sz="1800" dirty="0"/>
          </a:p>
        </p:txBody>
      </p:sp>
      <p:sp>
        <p:nvSpPr>
          <p:cNvPr id="19" name="Text 15"/>
          <p:cNvSpPr/>
          <p:nvPr/>
        </p:nvSpPr>
        <p:spPr>
          <a:xfrm>
            <a:off x="1691640" y="4206240"/>
            <a:ext cx="9905695" cy="5029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The faster we land MVP, the more webinars, demos, and CU conversations have a real product to point at — instead of a deck.</a:t>
            </a:r>
            <a:endParaRPr lang="en-US" sz="1200" dirty="0"/>
          </a:p>
        </p:txBody>
      </p:sp>
      <p:sp>
        <p:nvSpPr>
          <p:cNvPr id="20" name="Shape 16"/>
          <p:cNvSpPr/>
          <p:nvPr/>
        </p:nvSpPr>
        <p:spPr>
          <a:xfrm>
            <a:off x="457200" y="4937760"/>
            <a:ext cx="11277295" cy="11430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1" name="Shape 17"/>
          <p:cNvSpPr/>
          <p:nvPr/>
        </p:nvSpPr>
        <p:spPr>
          <a:xfrm>
            <a:off x="457200" y="4937760"/>
            <a:ext cx="73152" cy="1143000"/>
          </a:xfrm>
          <a:prstGeom prst="rect">
            <a:avLst/>
          </a:prstGeom>
          <a:solidFill>
            <a:srgbClr val="0D9488"/>
          </a:solidFill>
          <a:ln w="12700">
            <a:solidFill>
              <a:srgbClr val="0D9488"/>
            </a:solidFill>
            <a:prstDash val="solid"/>
          </a:ln>
        </p:spPr>
        <p:txBody>
          <a:bodyPr/>
          <a:lstStyle/>
          <a:p>
            <a:endParaRPr lang="en-US"/>
          </a:p>
        </p:txBody>
      </p:sp>
      <p:sp>
        <p:nvSpPr>
          <p:cNvPr id="22" name="Shape 18"/>
          <p:cNvSpPr/>
          <p:nvPr/>
        </p:nvSpPr>
        <p:spPr>
          <a:xfrm>
            <a:off x="777240" y="5184648"/>
            <a:ext cx="640080" cy="640080"/>
          </a:xfrm>
          <a:prstGeom prst="ellipse">
            <a:avLst/>
          </a:prstGeom>
          <a:solidFill>
            <a:srgbClr val="0D9488"/>
          </a:solidFill>
          <a:ln w="12700">
            <a:solidFill>
              <a:srgbClr val="0D9488"/>
            </a:solidFill>
            <a:prstDash val="solid"/>
          </a:ln>
        </p:spPr>
        <p:txBody>
          <a:bodyPr/>
          <a:lstStyle/>
          <a:p>
            <a:endParaRPr lang="en-US"/>
          </a:p>
        </p:txBody>
      </p:sp>
      <p:pic>
        <p:nvPicPr>
          <p:cNvPr id="23" name="Image 2" descr="preencoded.png"/>
          <p:cNvPicPr>
            <a:picLocks noChangeAspect="1"/>
          </p:cNvPicPr>
          <p:nvPr/>
        </p:nvPicPr>
        <p:blipFill>
          <a:blip r:embed="rId5"/>
          <a:stretch>
            <a:fillRect/>
          </a:stretch>
        </p:blipFill>
        <p:spPr>
          <a:xfrm>
            <a:off x="886968" y="5294376"/>
            <a:ext cx="420624" cy="420624"/>
          </a:xfrm>
          <a:prstGeom prst="rect">
            <a:avLst/>
          </a:prstGeom>
        </p:spPr>
      </p:pic>
      <p:sp>
        <p:nvSpPr>
          <p:cNvPr id="24" name="Text 19"/>
          <p:cNvSpPr/>
          <p:nvPr/>
        </p:nvSpPr>
        <p:spPr>
          <a:xfrm>
            <a:off x="1691640" y="5102352"/>
            <a:ext cx="9905695" cy="41148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Quality is non-optional</a:t>
            </a:r>
            <a:endParaRPr lang="en-US" sz="1800" dirty="0"/>
          </a:p>
        </p:txBody>
      </p:sp>
      <p:sp>
        <p:nvSpPr>
          <p:cNvPr id="25" name="Text 20"/>
          <p:cNvSpPr/>
          <p:nvPr/>
        </p:nvSpPr>
        <p:spPr>
          <a:xfrm>
            <a:off x="1691640" y="5532120"/>
            <a:ext cx="9905695" cy="5029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The audience is bankers, payments people, and risk officers. First impression decides whether JHBI is taken seriously inside Jack Henry and outside.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40080" y="1463040"/>
            <a:ext cx="3657600" cy="2286000"/>
          </a:xfrm>
          <a:prstGeom prst="rect">
            <a:avLst/>
          </a:prstGeom>
          <a:noFill/>
          <a:ln/>
        </p:spPr>
        <p:txBody>
          <a:bodyPr wrap="square" lIns="0" tIns="0" rIns="0" bIns="0" rtlCol="0" anchor="ctr"/>
          <a:lstStyle/>
          <a:p>
            <a:pPr marL="0" indent="0">
              <a:buNone/>
            </a:pPr>
            <a:r>
              <a:rPr lang="en-US" sz="20000" b="1" dirty="0">
                <a:solidFill>
                  <a:srgbClr val="0D9488"/>
                </a:solidFill>
                <a:latin typeface="Calibri" pitchFamily="34" charset="0"/>
                <a:ea typeface="Calibri" pitchFamily="34" charset="-122"/>
                <a:cs typeface="Calibri" pitchFamily="34" charset="-120"/>
              </a:rPr>
              <a:t>02</a:t>
            </a:r>
            <a:endParaRPr lang="en-US" sz="20000" dirty="0"/>
          </a:p>
        </p:txBody>
      </p:sp>
      <p:sp>
        <p:nvSpPr>
          <p:cNvPr id="3" name="Text 1"/>
          <p:cNvSpPr/>
          <p:nvPr/>
        </p:nvSpPr>
        <p:spPr>
          <a:xfrm>
            <a:off x="4572000" y="2194560"/>
            <a:ext cx="7315200" cy="91440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MVP</a:t>
            </a:r>
            <a:endParaRPr lang="en-US" sz="5600" dirty="0"/>
          </a:p>
        </p:txBody>
      </p:sp>
      <p:sp>
        <p:nvSpPr>
          <p:cNvPr id="4" name="Text 2"/>
          <p:cNvSpPr/>
          <p:nvPr/>
        </p:nvSpPr>
        <p:spPr>
          <a:xfrm>
            <a:off x="4572000" y="3108960"/>
            <a:ext cx="7315200" cy="914400"/>
          </a:xfrm>
          <a:prstGeom prst="rect">
            <a:avLst/>
          </a:prstGeom>
          <a:noFill/>
          <a:ln/>
        </p:spPr>
        <p:txBody>
          <a:bodyPr wrap="square" lIns="0" tIns="0" rIns="0" bIns="0" rtlCol="0" anchor="ctr"/>
          <a:lstStyle/>
          <a:p>
            <a:pPr marL="0" indent="0">
              <a:buNone/>
            </a:pPr>
            <a:r>
              <a:rPr lang="en-US" sz="5600" b="1" dirty="0">
                <a:solidFill>
                  <a:srgbClr val="CCFBF1"/>
                </a:solidFill>
                <a:latin typeface="Calibri" pitchFamily="34" charset="0"/>
                <a:ea typeface="Calibri" pitchFamily="34" charset="-122"/>
                <a:cs typeface="Calibri" pitchFamily="34" charset="-120"/>
              </a:rPr>
              <a:t>at a glance.</a:t>
            </a:r>
            <a:endParaRPr lang="en-US" sz="5600" dirty="0"/>
          </a:p>
        </p:txBody>
      </p:sp>
      <p:sp>
        <p:nvSpPr>
          <p:cNvPr id="5" name="Text 3"/>
          <p:cNvSpPr/>
          <p:nvPr/>
        </p:nvSpPr>
        <p:spPr>
          <a:xfrm>
            <a:off x="4572000" y="4206240"/>
            <a:ext cx="7315200" cy="457200"/>
          </a:xfrm>
          <a:prstGeom prst="rect">
            <a:avLst/>
          </a:prstGeom>
          <a:noFill/>
          <a:ln/>
        </p:spPr>
        <p:txBody>
          <a:bodyPr wrap="square" lIns="0" tIns="0" rIns="0" bIns="0" rtlCol="0" anchor="ctr"/>
          <a:lstStyle/>
          <a:p>
            <a:pPr marL="0" indent="0">
              <a:buNone/>
            </a:pPr>
            <a:r>
              <a:rPr lang="en-US" sz="1800" i="1" dirty="0">
                <a:solidFill>
                  <a:srgbClr val="94A3B8"/>
                </a:solidFill>
                <a:latin typeface="Calibri" pitchFamily="34" charset="0"/>
                <a:ea typeface="Calibri" pitchFamily="34" charset="-122"/>
                <a:cs typeface="Calibri" pitchFamily="34" charset="-120"/>
              </a:rPr>
              <a:t>Five pillars. One platform. One credible end-to-end demo.</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MVP OVERVIEW</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The five pillars of MVP</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Each one has to land for the demo to feel real</a:t>
            </a:r>
            <a:endParaRPr lang="en-US" sz="1400" dirty="0"/>
          </a:p>
        </p:txBody>
      </p:sp>
      <p:sp>
        <p:nvSpPr>
          <p:cNvPr id="8" name="Shape 6"/>
          <p:cNvSpPr/>
          <p:nvPr/>
        </p:nvSpPr>
        <p:spPr>
          <a:xfrm>
            <a:off x="457200" y="2194560"/>
            <a:ext cx="2109155" cy="3657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9" name="Shape 7"/>
          <p:cNvSpPr/>
          <p:nvPr/>
        </p:nvSpPr>
        <p:spPr>
          <a:xfrm>
            <a:off x="457200" y="2194560"/>
            <a:ext cx="73152" cy="3657600"/>
          </a:xfrm>
          <a:prstGeom prst="rect">
            <a:avLst/>
          </a:prstGeom>
          <a:solidFill>
            <a:srgbClr val="0D9488"/>
          </a:solidFill>
          <a:ln w="12700">
            <a:solidFill>
              <a:srgbClr val="0D9488"/>
            </a:solidFill>
            <a:prstDash val="solid"/>
          </a:ln>
        </p:spPr>
        <p:txBody>
          <a:bodyPr/>
          <a:lstStyle/>
          <a:p>
            <a:endParaRPr lang="en-US"/>
          </a:p>
        </p:txBody>
      </p:sp>
      <p:sp>
        <p:nvSpPr>
          <p:cNvPr id="10" name="Shape 8"/>
          <p:cNvSpPr/>
          <p:nvPr/>
        </p:nvSpPr>
        <p:spPr>
          <a:xfrm>
            <a:off x="1054578" y="2468880"/>
            <a:ext cx="914400" cy="914400"/>
          </a:xfrm>
          <a:prstGeom prst="ellipse">
            <a:avLst/>
          </a:prstGeom>
          <a:solidFill>
            <a:srgbClr val="0D9488"/>
          </a:solidFill>
          <a:ln w="12700">
            <a:solidFill>
              <a:srgbClr val="0D9488"/>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1219170" y="2633472"/>
            <a:ext cx="585216" cy="585216"/>
          </a:xfrm>
          <a:prstGeom prst="rect">
            <a:avLst/>
          </a:prstGeom>
        </p:spPr>
      </p:pic>
      <p:sp>
        <p:nvSpPr>
          <p:cNvPr id="12" name="Text 9"/>
          <p:cNvSpPr/>
          <p:nvPr/>
        </p:nvSpPr>
        <p:spPr>
          <a:xfrm>
            <a:off x="594360" y="2286000"/>
            <a:ext cx="640080" cy="320040"/>
          </a:xfrm>
          <a:prstGeom prst="rect">
            <a:avLst/>
          </a:prstGeom>
          <a:noFill/>
          <a:ln/>
        </p:spPr>
        <p:txBody>
          <a:bodyPr wrap="square" lIns="0" tIns="0" rIns="0" bIns="0" rtlCol="0" anchor="ctr"/>
          <a:lstStyle/>
          <a:p>
            <a:pPr marL="0" indent="0">
              <a:buNone/>
            </a:pPr>
            <a:r>
              <a:rPr lang="en-US" sz="1300" b="1" dirty="0">
                <a:solidFill>
                  <a:srgbClr val="64748B"/>
                </a:solidFill>
                <a:latin typeface="Calibri" pitchFamily="34" charset="0"/>
                <a:ea typeface="Calibri" pitchFamily="34" charset="-122"/>
                <a:cs typeface="Calibri" pitchFamily="34" charset="-120"/>
              </a:rPr>
              <a:t>01</a:t>
            </a:r>
            <a:endParaRPr lang="en-US" sz="1300" dirty="0"/>
          </a:p>
        </p:txBody>
      </p:sp>
      <p:sp>
        <p:nvSpPr>
          <p:cNvPr id="13" name="Text 10"/>
          <p:cNvSpPr/>
          <p:nvPr/>
        </p:nvSpPr>
        <p:spPr>
          <a:xfrm>
            <a:off x="594360" y="3657600"/>
            <a:ext cx="1834835" cy="64008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Contractor Onboarding</a:t>
            </a:r>
            <a:endParaRPr lang="en-US" sz="1400" dirty="0"/>
          </a:p>
        </p:txBody>
      </p:sp>
      <p:sp>
        <p:nvSpPr>
          <p:cNvPr id="14" name="Text 11"/>
          <p:cNvSpPr/>
          <p:nvPr/>
        </p:nvSpPr>
        <p:spPr>
          <a:xfrm>
            <a:off x="594360" y="4297680"/>
            <a:ext cx="1834835" cy="137160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Get the right hands on keyboards</a:t>
            </a:r>
            <a:endParaRPr lang="en-US" sz="1000" dirty="0"/>
          </a:p>
        </p:txBody>
      </p:sp>
      <p:sp>
        <p:nvSpPr>
          <p:cNvPr id="15" name="Shape 12"/>
          <p:cNvSpPr/>
          <p:nvPr/>
        </p:nvSpPr>
        <p:spPr>
          <a:xfrm>
            <a:off x="2749235" y="2194560"/>
            <a:ext cx="2109155" cy="3657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6" name="Shape 13"/>
          <p:cNvSpPr/>
          <p:nvPr/>
        </p:nvSpPr>
        <p:spPr>
          <a:xfrm>
            <a:off x="2749235" y="2194560"/>
            <a:ext cx="73152" cy="3657600"/>
          </a:xfrm>
          <a:prstGeom prst="rect">
            <a:avLst/>
          </a:prstGeom>
          <a:solidFill>
            <a:srgbClr val="0D9488"/>
          </a:solidFill>
          <a:ln w="12700">
            <a:solidFill>
              <a:srgbClr val="0D9488"/>
            </a:solidFill>
            <a:prstDash val="solid"/>
          </a:ln>
        </p:spPr>
        <p:txBody>
          <a:bodyPr/>
          <a:lstStyle/>
          <a:p>
            <a:endParaRPr lang="en-US"/>
          </a:p>
        </p:txBody>
      </p:sp>
      <p:sp>
        <p:nvSpPr>
          <p:cNvPr id="17" name="Shape 14"/>
          <p:cNvSpPr/>
          <p:nvPr/>
        </p:nvSpPr>
        <p:spPr>
          <a:xfrm>
            <a:off x="3346613" y="2468880"/>
            <a:ext cx="914400" cy="914400"/>
          </a:xfrm>
          <a:prstGeom prst="ellipse">
            <a:avLst/>
          </a:prstGeom>
          <a:solidFill>
            <a:srgbClr val="0D9488"/>
          </a:solidFill>
          <a:ln w="12700">
            <a:solidFill>
              <a:srgbClr val="0D9488"/>
            </a:solidFill>
            <a:prstDash val="solid"/>
          </a:ln>
        </p:spPr>
        <p:txBody>
          <a:bodyPr/>
          <a:lstStyle/>
          <a:p>
            <a:endParaRPr lang="en-US"/>
          </a:p>
        </p:txBody>
      </p:sp>
      <p:pic>
        <p:nvPicPr>
          <p:cNvPr id="18" name="Image 1" descr="preencoded.png"/>
          <p:cNvPicPr>
            <a:picLocks noChangeAspect="1"/>
          </p:cNvPicPr>
          <p:nvPr/>
        </p:nvPicPr>
        <p:blipFill>
          <a:blip r:embed="rId4"/>
          <a:stretch>
            <a:fillRect/>
          </a:stretch>
        </p:blipFill>
        <p:spPr>
          <a:xfrm>
            <a:off x="3511205" y="2633472"/>
            <a:ext cx="585216" cy="585216"/>
          </a:xfrm>
          <a:prstGeom prst="rect">
            <a:avLst/>
          </a:prstGeom>
        </p:spPr>
      </p:pic>
      <p:sp>
        <p:nvSpPr>
          <p:cNvPr id="19" name="Text 15"/>
          <p:cNvSpPr/>
          <p:nvPr/>
        </p:nvSpPr>
        <p:spPr>
          <a:xfrm>
            <a:off x="2886395" y="2286000"/>
            <a:ext cx="640080" cy="320040"/>
          </a:xfrm>
          <a:prstGeom prst="rect">
            <a:avLst/>
          </a:prstGeom>
          <a:noFill/>
          <a:ln/>
        </p:spPr>
        <p:txBody>
          <a:bodyPr wrap="square" lIns="0" tIns="0" rIns="0" bIns="0" rtlCol="0" anchor="ctr"/>
          <a:lstStyle/>
          <a:p>
            <a:pPr marL="0" indent="0">
              <a:buNone/>
            </a:pPr>
            <a:r>
              <a:rPr lang="en-US" sz="1300" b="1" dirty="0">
                <a:solidFill>
                  <a:srgbClr val="64748B"/>
                </a:solidFill>
                <a:latin typeface="Calibri" pitchFamily="34" charset="0"/>
                <a:ea typeface="Calibri" pitchFamily="34" charset="-122"/>
                <a:cs typeface="Calibri" pitchFamily="34" charset="-120"/>
              </a:rPr>
              <a:t>02</a:t>
            </a:r>
            <a:endParaRPr lang="en-US" sz="1300" dirty="0"/>
          </a:p>
        </p:txBody>
      </p:sp>
      <p:sp>
        <p:nvSpPr>
          <p:cNvPr id="20" name="Text 16"/>
          <p:cNvSpPr/>
          <p:nvPr/>
        </p:nvSpPr>
        <p:spPr>
          <a:xfrm>
            <a:off x="2886395" y="3657600"/>
            <a:ext cx="1834835" cy="64008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Infrastructure</a:t>
            </a:r>
            <a:endParaRPr lang="en-US" sz="1400" dirty="0"/>
          </a:p>
        </p:txBody>
      </p:sp>
      <p:sp>
        <p:nvSpPr>
          <p:cNvPr id="21" name="Text 17"/>
          <p:cNvSpPr/>
          <p:nvPr/>
        </p:nvSpPr>
        <p:spPr>
          <a:xfrm>
            <a:off x="2886395" y="4297680"/>
            <a:ext cx="1834835" cy="137160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GCP projects, Azure PowerBI, CI/CD</a:t>
            </a:r>
            <a:endParaRPr lang="en-US" sz="1000" dirty="0"/>
          </a:p>
        </p:txBody>
      </p:sp>
      <p:sp>
        <p:nvSpPr>
          <p:cNvPr id="22" name="Shape 18"/>
          <p:cNvSpPr/>
          <p:nvPr/>
        </p:nvSpPr>
        <p:spPr>
          <a:xfrm>
            <a:off x="5041270" y="2194560"/>
            <a:ext cx="2109155" cy="3657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3" name="Shape 19"/>
          <p:cNvSpPr/>
          <p:nvPr/>
        </p:nvSpPr>
        <p:spPr>
          <a:xfrm>
            <a:off x="5041270" y="2194560"/>
            <a:ext cx="73152" cy="3657600"/>
          </a:xfrm>
          <a:prstGeom prst="rect">
            <a:avLst/>
          </a:prstGeom>
          <a:solidFill>
            <a:srgbClr val="0D9488"/>
          </a:solidFill>
          <a:ln w="12700">
            <a:solidFill>
              <a:srgbClr val="0D9488"/>
            </a:solidFill>
            <a:prstDash val="solid"/>
          </a:ln>
        </p:spPr>
        <p:txBody>
          <a:bodyPr/>
          <a:lstStyle/>
          <a:p>
            <a:endParaRPr lang="en-US"/>
          </a:p>
        </p:txBody>
      </p:sp>
      <p:sp>
        <p:nvSpPr>
          <p:cNvPr id="24" name="Shape 20"/>
          <p:cNvSpPr/>
          <p:nvPr/>
        </p:nvSpPr>
        <p:spPr>
          <a:xfrm>
            <a:off x="5638648" y="2468880"/>
            <a:ext cx="914400" cy="914400"/>
          </a:xfrm>
          <a:prstGeom prst="ellipse">
            <a:avLst/>
          </a:prstGeom>
          <a:solidFill>
            <a:srgbClr val="0D9488"/>
          </a:solidFill>
          <a:ln w="12700">
            <a:solidFill>
              <a:srgbClr val="0D9488"/>
            </a:solidFill>
            <a:prstDash val="solid"/>
          </a:ln>
        </p:spPr>
        <p:txBody>
          <a:bodyPr/>
          <a:lstStyle/>
          <a:p>
            <a:endParaRPr lang="en-US"/>
          </a:p>
        </p:txBody>
      </p:sp>
      <p:pic>
        <p:nvPicPr>
          <p:cNvPr id="25" name="Image 2" descr="preencoded.png"/>
          <p:cNvPicPr>
            <a:picLocks noChangeAspect="1"/>
          </p:cNvPicPr>
          <p:nvPr/>
        </p:nvPicPr>
        <p:blipFill>
          <a:blip r:embed="rId5"/>
          <a:stretch>
            <a:fillRect/>
          </a:stretch>
        </p:blipFill>
        <p:spPr>
          <a:xfrm>
            <a:off x="5803240" y="2633472"/>
            <a:ext cx="585216" cy="585216"/>
          </a:xfrm>
          <a:prstGeom prst="rect">
            <a:avLst/>
          </a:prstGeom>
        </p:spPr>
      </p:pic>
      <p:sp>
        <p:nvSpPr>
          <p:cNvPr id="26" name="Text 21"/>
          <p:cNvSpPr/>
          <p:nvPr/>
        </p:nvSpPr>
        <p:spPr>
          <a:xfrm>
            <a:off x="5178430" y="2286000"/>
            <a:ext cx="640080" cy="320040"/>
          </a:xfrm>
          <a:prstGeom prst="rect">
            <a:avLst/>
          </a:prstGeom>
          <a:noFill/>
          <a:ln/>
        </p:spPr>
        <p:txBody>
          <a:bodyPr wrap="square" lIns="0" tIns="0" rIns="0" bIns="0" rtlCol="0" anchor="ctr"/>
          <a:lstStyle/>
          <a:p>
            <a:pPr marL="0" indent="0">
              <a:buNone/>
            </a:pPr>
            <a:r>
              <a:rPr lang="en-US" sz="1300" b="1" dirty="0">
                <a:solidFill>
                  <a:srgbClr val="64748B"/>
                </a:solidFill>
                <a:latin typeface="Calibri" pitchFamily="34" charset="0"/>
                <a:ea typeface="Calibri" pitchFamily="34" charset="-122"/>
                <a:cs typeface="Calibri" pitchFamily="34" charset="-120"/>
              </a:rPr>
              <a:t>03</a:t>
            </a:r>
            <a:endParaRPr lang="en-US" sz="1300" dirty="0"/>
          </a:p>
        </p:txBody>
      </p:sp>
      <p:sp>
        <p:nvSpPr>
          <p:cNvPr id="27" name="Text 22"/>
          <p:cNvSpPr/>
          <p:nvPr/>
        </p:nvSpPr>
        <p:spPr>
          <a:xfrm>
            <a:off x="5178430" y="3657600"/>
            <a:ext cx="1834835" cy="64008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Self-Service Portal</a:t>
            </a:r>
            <a:endParaRPr lang="en-US" sz="1400" dirty="0"/>
          </a:p>
        </p:txBody>
      </p:sp>
      <p:sp>
        <p:nvSpPr>
          <p:cNvPr id="28" name="Text 23"/>
          <p:cNvSpPr/>
          <p:nvPr/>
        </p:nvSpPr>
        <p:spPr>
          <a:xfrm>
            <a:off x="5178430" y="4297680"/>
            <a:ext cx="1834835" cy="137160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RBAC, embedded reports, AI query, pipeline status, Alation</a:t>
            </a:r>
            <a:endParaRPr lang="en-US" sz="1000" dirty="0"/>
          </a:p>
        </p:txBody>
      </p:sp>
      <p:sp>
        <p:nvSpPr>
          <p:cNvPr id="29" name="Shape 24"/>
          <p:cNvSpPr/>
          <p:nvPr/>
        </p:nvSpPr>
        <p:spPr>
          <a:xfrm>
            <a:off x="7333305" y="2194560"/>
            <a:ext cx="2109155" cy="3657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30" name="Shape 25"/>
          <p:cNvSpPr/>
          <p:nvPr/>
        </p:nvSpPr>
        <p:spPr>
          <a:xfrm>
            <a:off x="7333305" y="2194560"/>
            <a:ext cx="73152" cy="3657600"/>
          </a:xfrm>
          <a:prstGeom prst="rect">
            <a:avLst/>
          </a:prstGeom>
          <a:solidFill>
            <a:srgbClr val="0D9488"/>
          </a:solidFill>
          <a:ln w="12700">
            <a:solidFill>
              <a:srgbClr val="0D9488"/>
            </a:solidFill>
            <a:prstDash val="solid"/>
          </a:ln>
        </p:spPr>
        <p:txBody>
          <a:bodyPr/>
          <a:lstStyle/>
          <a:p>
            <a:endParaRPr lang="en-US"/>
          </a:p>
        </p:txBody>
      </p:sp>
      <p:sp>
        <p:nvSpPr>
          <p:cNvPr id="31" name="Shape 26"/>
          <p:cNvSpPr/>
          <p:nvPr/>
        </p:nvSpPr>
        <p:spPr>
          <a:xfrm>
            <a:off x="7930683" y="2468880"/>
            <a:ext cx="914400" cy="914400"/>
          </a:xfrm>
          <a:prstGeom prst="ellipse">
            <a:avLst/>
          </a:prstGeom>
          <a:solidFill>
            <a:srgbClr val="0D9488"/>
          </a:solidFill>
          <a:ln w="12700">
            <a:solidFill>
              <a:srgbClr val="0D9488"/>
            </a:solidFill>
            <a:prstDash val="solid"/>
          </a:ln>
        </p:spPr>
        <p:txBody>
          <a:bodyPr/>
          <a:lstStyle/>
          <a:p>
            <a:endParaRPr lang="en-US"/>
          </a:p>
        </p:txBody>
      </p:sp>
      <p:pic>
        <p:nvPicPr>
          <p:cNvPr id="32" name="Image 3" descr="preencoded.png"/>
          <p:cNvPicPr>
            <a:picLocks noChangeAspect="1"/>
          </p:cNvPicPr>
          <p:nvPr/>
        </p:nvPicPr>
        <p:blipFill>
          <a:blip r:embed="rId6"/>
          <a:stretch>
            <a:fillRect/>
          </a:stretch>
        </p:blipFill>
        <p:spPr>
          <a:xfrm>
            <a:off x="8095275" y="2633472"/>
            <a:ext cx="585216" cy="585216"/>
          </a:xfrm>
          <a:prstGeom prst="rect">
            <a:avLst/>
          </a:prstGeom>
        </p:spPr>
      </p:pic>
      <p:sp>
        <p:nvSpPr>
          <p:cNvPr id="33" name="Text 27"/>
          <p:cNvSpPr/>
          <p:nvPr/>
        </p:nvSpPr>
        <p:spPr>
          <a:xfrm>
            <a:off x="7470465" y="2286000"/>
            <a:ext cx="640080" cy="320040"/>
          </a:xfrm>
          <a:prstGeom prst="rect">
            <a:avLst/>
          </a:prstGeom>
          <a:noFill/>
          <a:ln/>
        </p:spPr>
        <p:txBody>
          <a:bodyPr wrap="square" lIns="0" tIns="0" rIns="0" bIns="0" rtlCol="0" anchor="ctr"/>
          <a:lstStyle/>
          <a:p>
            <a:pPr marL="0" indent="0">
              <a:buNone/>
            </a:pPr>
            <a:r>
              <a:rPr lang="en-US" sz="1300" b="1" dirty="0">
                <a:solidFill>
                  <a:srgbClr val="64748B"/>
                </a:solidFill>
                <a:latin typeface="Calibri" pitchFamily="34" charset="0"/>
                <a:ea typeface="Calibri" pitchFamily="34" charset="-122"/>
                <a:cs typeface="Calibri" pitchFamily="34" charset="-120"/>
              </a:rPr>
              <a:t>04</a:t>
            </a:r>
            <a:endParaRPr lang="en-US" sz="1300" dirty="0"/>
          </a:p>
        </p:txBody>
      </p:sp>
      <p:sp>
        <p:nvSpPr>
          <p:cNvPr id="34" name="Text 28"/>
          <p:cNvSpPr/>
          <p:nvPr/>
        </p:nvSpPr>
        <p:spPr>
          <a:xfrm>
            <a:off x="7470465" y="3657600"/>
            <a:ext cx="1834835" cy="64008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Backend &amp; Data</a:t>
            </a:r>
            <a:endParaRPr lang="en-US" sz="1400" dirty="0"/>
          </a:p>
        </p:txBody>
      </p:sp>
      <p:sp>
        <p:nvSpPr>
          <p:cNvPr id="35" name="Text 29"/>
          <p:cNvSpPr/>
          <p:nvPr/>
        </p:nvSpPr>
        <p:spPr>
          <a:xfrm>
            <a:off x="7470465" y="4297680"/>
            <a:ext cx="1834835" cy="137160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6 payment sources, CDC, tokenization, medallion</a:t>
            </a:r>
            <a:endParaRPr lang="en-US" sz="1000" dirty="0"/>
          </a:p>
        </p:txBody>
      </p:sp>
      <p:sp>
        <p:nvSpPr>
          <p:cNvPr id="36" name="Shape 30"/>
          <p:cNvSpPr/>
          <p:nvPr/>
        </p:nvSpPr>
        <p:spPr>
          <a:xfrm>
            <a:off x="9625340" y="2194560"/>
            <a:ext cx="2109155" cy="3657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37" name="Shape 31"/>
          <p:cNvSpPr/>
          <p:nvPr/>
        </p:nvSpPr>
        <p:spPr>
          <a:xfrm>
            <a:off x="9625340" y="2194560"/>
            <a:ext cx="73152" cy="3657600"/>
          </a:xfrm>
          <a:prstGeom prst="rect">
            <a:avLst/>
          </a:prstGeom>
          <a:solidFill>
            <a:srgbClr val="0D9488"/>
          </a:solidFill>
          <a:ln w="12700">
            <a:solidFill>
              <a:srgbClr val="0D9488"/>
            </a:solidFill>
            <a:prstDash val="solid"/>
          </a:ln>
        </p:spPr>
        <p:txBody>
          <a:bodyPr/>
          <a:lstStyle/>
          <a:p>
            <a:endParaRPr lang="en-US"/>
          </a:p>
        </p:txBody>
      </p:sp>
      <p:sp>
        <p:nvSpPr>
          <p:cNvPr id="38" name="Shape 32"/>
          <p:cNvSpPr/>
          <p:nvPr/>
        </p:nvSpPr>
        <p:spPr>
          <a:xfrm>
            <a:off x="10222718" y="2468880"/>
            <a:ext cx="914400" cy="914400"/>
          </a:xfrm>
          <a:prstGeom prst="ellipse">
            <a:avLst/>
          </a:prstGeom>
          <a:solidFill>
            <a:srgbClr val="0D9488"/>
          </a:solidFill>
          <a:ln w="12700">
            <a:solidFill>
              <a:srgbClr val="0D9488"/>
            </a:solidFill>
            <a:prstDash val="solid"/>
          </a:ln>
        </p:spPr>
        <p:txBody>
          <a:bodyPr/>
          <a:lstStyle/>
          <a:p>
            <a:endParaRPr lang="en-US"/>
          </a:p>
        </p:txBody>
      </p:sp>
      <p:pic>
        <p:nvPicPr>
          <p:cNvPr id="39" name="Image 4" descr="preencoded.png"/>
          <p:cNvPicPr>
            <a:picLocks noChangeAspect="1"/>
          </p:cNvPicPr>
          <p:nvPr/>
        </p:nvPicPr>
        <p:blipFill>
          <a:blip r:embed="rId7"/>
          <a:stretch>
            <a:fillRect/>
          </a:stretch>
        </p:blipFill>
        <p:spPr>
          <a:xfrm>
            <a:off x="10387310" y="2633472"/>
            <a:ext cx="585216" cy="585216"/>
          </a:xfrm>
          <a:prstGeom prst="rect">
            <a:avLst/>
          </a:prstGeom>
        </p:spPr>
      </p:pic>
      <p:sp>
        <p:nvSpPr>
          <p:cNvPr id="40" name="Text 33"/>
          <p:cNvSpPr/>
          <p:nvPr/>
        </p:nvSpPr>
        <p:spPr>
          <a:xfrm>
            <a:off x="9762500" y="2286000"/>
            <a:ext cx="640080" cy="320040"/>
          </a:xfrm>
          <a:prstGeom prst="rect">
            <a:avLst/>
          </a:prstGeom>
          <a:noFill/>
          <a:ln/>
        </p:spPr>
        <p:txBody>
          <a:bodyPr wrap="square" lIns="0" tIns="0" rIns="0" bIns="0" rtlCol="0" anchor="ctr"/>
          <a:lstStyle/>
          <a:p>
            <a:pPr marL="0" indent="0">
              <a:buNone/>
            </a:pPr>
            <a:r>
              <a:rPr lang="en-US" sz="1300" b="1" dirty="0">
                <a:solidFill>
                  <a:srgbClr val="64748B"/>
                </a:solidFill>
                <a:latin typeface="Calibri" pitchFamily="34" charset="0"/>
                <a:ea typeface="Calibri" pitchFamily="34" charset="-122"/>
                <a:cs typeface="Calibri" pitchFamily="34" charset="-120"/>
              </a:rPr>
              <a:t>05</a:t>
            </a:r>
            <a:endParaRPr lang="en-US" sz="1300" dirty="0"/>
          </a:p>
        </p:txBody>
      </p:sp>
      <p:sp>
        <p:nvSpPr>
          <p:cNvPr id="41" name="Text 34"/>
          <p:cNvSpPr/>
          <p:nvPr/>
        </p:nvSpPr>
        <p:spPr>
          <a:xfrm>
            <a:off x="9762500" y="3657600"/>
            <a:ext cx="1834835" cy="64008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Visualization</a:t>
            </a:r>
            <a:endParaRPr lang="en-US" sz="1400" dirty="0"/>
          </a:p>
        </p:txBody>
      </p:sp>
      <p:sp>
        <p:nvSpPr>
          <p:cNvPr id="42" name="Text 35"/>
          <p:cNvSpPr/>
          <p:nvPr/>
        </p:nvSpPr>
        <p:spPr>
          <a:xfrm>
            <a:off x="9762500" y="4297680"/>
            <a:ext cx="1834835" cy="137160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10 PowerBI reports the buyer actually sees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HIGHLIGHTS</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What we shipped this quarter</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The wins worth naming out loud</a:t>
            </a:r>
            <a:endParaRPr lang="en-US" sz="1400" dirty="0"/>
          </a:p>
        </p:txBody>
      </p:sp>
      <p:sp>
        <p:nvSpPr>
          <p:cNvPr id="8" name="Shape 6"/>
          <p:cNvSpPr/>
          <p:nvPr/>
        </p:nvSpPr>
        <p:spPr>
          <a:xfrm>
            <a:off x="457200" y="2103120"/>
            <a:ext cx="3637178" cy="164592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9" name="Shape 7"/>
          <p:cNvSpPr/>
          <p:nvPr/>
        </p:nvSpPr>
        <p:spPr>
          <a:xfrm>
            <a:off x="457200" y="2103120"/>
            <a:ext cx="73152" cy="1645920"/>
          </a:xfrm>
          <a:prstGeom prst="rect">
            <a:avLst/>
          </a:prstGeom>
          <a:solidFill>
            <a:srgbClr val="16A34A"/>
          </a:solidFill>
          <a:ln w="12700">
            <a:solidFill>
              <a:srgbClr val="16A34A"/>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685800" y="2331720"/>
            <a:ext cx="457200" cy="457200"/>
          </a:xfrm>
          <a:prstGeom prst="rect">
            <a:avLst/>
          </a:prstGeom>
        </p:spPr>
      </p:pic>
      <p:sp>
        <p:nvSpPr>
          <p:cNvPr id="11" name="Text 8"/>
          <p:cNvSpPr/>
          <p:nvPr/>
        </p:nvSpPr>
        <p:spPr>
          <a:xfrm>
            <a:off x="1234440" y="2286000"/>
            <a:ext cx="2722778"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GCP foundation stood up</a:t>
            </a:r>
            <a:endParaRPr lang="en-US" sz="1400" dirty="0"/>
          </a:p>
        </p:txBody>
      </p:sp>
      <p:sp>
        <p:nvSpPr>
          <p:cNvPr id="12" name="Text 9"/>
          <p:cNvSpPr/>
          <p:nvPr/>
        </p:nvSpPr>
        <p:spPr>
          <a:xfrm>
            <a:off x="685800" y="2880360"/>
            <a:ext cx="3271418" cy="7772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Sandbox, Data, Compute, PCI projects exist with org policies, budgets, and IAM scaffolding</a:t>
            </a:r>
            <a:endParaRPr lang="en-US" sz="1100" dirty="0"/>
          </a:p>
        </p:txBody>
      </p:sp>
      <p:sp>
        <p:nvSpPr>
          <p:cNvPr id="13" name="Shape 10"/>
          <p:cNvSpPr/>
          <p:nvPr/>
        </p:nvSpPr>
        <p:spPr>
          <a:xfrm>
            <a:off x="4277258" y="2103120"/>
            <a:ext cx="3637178" cy="164592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4" name="Shape 11"/>
          <p:cNvSpPr/>
          <p:nvPr/>
        </p:nvSpPr>
        <p:spPr>
          <a:xfrm>
            <a:off x="4277258" y="2103120"/>
            <a:ext cx="73152" cy="1645920"/>
          </a:xfrm>
          <a:prstGeom prst="rect">
            <a:avLst/>
          </a:prstGeom>
          <a:solidFill>
            <a:srgbClr val="16A34A"/>
          </a:solidFill>
          <a:ln w="12700">
            <a:solidFill>
              <a:srgbClr val="16A34A"/>
            </a:solidFill>
            <a:prstDash val="solid"/>
          </a:ln>
        </p:spPr>
        <p:txBody>
          <a:bodyPr/>
          <a:lstStyle/>
          <a:p>
            <a:endParaRPr lang="en-US"/>
          </a:p>
        </p:txBody>
      </p:sp>
      <p:pic>
        <p:nvPicPr>
          <p:cNvPr id="15" name="Image 1" descr="preencoded.png"/>
          <p:cNvPicPr>
            <a:picLocks noChangeAspect="1"/>
          </p:cNvPicPr>
          <p:nvPr/>
        </p:nvPicPr>
        <p:blipFill>
          <a:blip r:embed="rId3"/>
          <a:stretch>
            <a:fillRect/>
          </a:stretch>
        </p:blipFill>
        <p:spPr>
          <a:xfrm>
            <a:off x="4505858" y="2331720"/>
            <a:ext cx="457200" cy="457200"/>
          </a:xfrm>
          <a:prstGeom prst="rect">
            <a:avLst/>
          </a:prstGeom>
        </p:spPr>
      </p:pic>
      <p:sp>
        <p:nvSpPr>
          <p:cNvPr id="16" name="Text 12"/>
          <p:cNvSpPr/>
          <p:nvPr/>
        </p:nvSpPr>
        <p:spPr>
          <a:xfrm>
            <a:off x="5054498" y="2286000"/>
            <a:ext cx="2722778"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First contractors productive</a:t>
            </a:r>
            <a:endParaRPr lang="en-US" sz="1400" dirty="0"/>
          </a:p>
        </p:txBody>
      </p:sp>
      <p:sp>
        <p:nvSpPr>
          <p:cNvPr id="17" name="Text 13"/>
          <p:cNvSpPr/>
          <p:nvPr/>
        </p:nvSpPr>
        <p:spPr>
          <a:xfrm>
            <a:off x="4505858" y="2880360"/>
            <a:ext cx="3271418" cy="7772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Onboarded core team and they are now committing to repos, not waiting on access</a:t>
            </a:r>
            <a:endParaRPr lang="en-US" sz="1100" dirty="0"/>
          </a:p>
        </p:txBody>
      </p:sp>
      <p:sp>
        <p:nvSpPr>
          <p:cNvPr id="18" name="Shape 14"/>
          <p:cNvSpPr/>
          <p:nvPr/>
        </p:nvSpPr>
        <p:spPr>
          <a:xfrm>
            <a:off x="8097317" y="2103120"/>
            <a:ext cx="3637178" cy="164592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9" name="Shape 15"/>
          <p:cNvSpPr/>
          <p:nvPr/>
        </p:nvSpPr>
        <p:spPr>
          <a:xfrm>
            <a:off x="8097317" y="2103120"/>
            <a:ext cx="73152" cy="1645920"/>
          </a:xfrm>
          <a:prstGeom prst="rect">
            <a:avLst/>
          </a:prstGeom>
          <a:solidFill>
            <a:srgbClr val="16A34A"/>
          </a:solidFill>
          <a:ln w="12700">
            <a:solidFill>
              <a:srgbClr val="16A34A"/>
            </a:solidFill>
            <a:prstDash val="solid"/>
          </a:ln>
        </p:spPr>
        <p:txBody>
          <a:bodyPr/>
          <a:lstStyle/>
          <a:p>
            <a:endParaRPr lang="en-US"/>
          </a:p>
        </p:txBody>
      </p:sp>
      <p:pic>
        <p:nvPicPr>
          <p:cNvPr id="20" name="Image 2" descr="preencoded.png"/>
          <p:cNvPicPr>
            <a:picLocks noChangeAspect="1"/>
          </p:cNvPicPr>
          <p:nvPr/>
        </p:nvPicPr>
        <p:blipFill>
          <a:blip r:embed="rId3"/>
          <a:stretch>
            <a:fillRect/>
          </a:stretch>
        </p:blipFill>
        <p:spPr>
          <a:xfrm>
            <a:off x="8325917" y="2331720"/>
            <a:ext cx="457200" cy="457200"/>
          </a:xfrm>
          <a:prstGeom prst="rect">
            <a:avLst/>
          </a:prstGeom>
        </p:spPr>
      </p:pic>
      <p:sp>
        <p:nvSpPr>
          <p:cNvPr id="21" name="Text 16"/>
          <p:cNvSpPr/>
          <p:nvPr/>
        </p:nvSpPr>
        <p:spPr>
          <a:xfrm>
            <a:off x="8874557" y="2286000"/>
            <a:ext cx="2722778"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CDC framework prototyped</a:t>
            </a:r>
            <a:endParaRPr lang="en-US" sz="1400" dirty="0"/>
          </a:p>
        </p:txBody>
      </p:sp>
      <p:sp>
        <p:nvSpPr>
          <p:cNvPr id="22" name="Text 17"/>
          <p:cNvSpPr/>
          <p:nvPr/>
        </p:nvSpPr>
        <p:spPr>
          <a:xfrm>
            <a:off x="8325917" y="2880360"/>
            <a:ext cx="3271418" cy="7772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Debezium pattern proven against a first source — we know it works</a:t>
            </a:r>
            <a:endParaRPr lang="en-US" sz="1100" dirty="0"/>
          </a:p>
        </p:txBody>
      </p:sp>
      <p:sp>
        <p:nvSpPr>
          <p:cNvPr id="23" name="Shape 18"/>
          <p:cNvSpPr/>
          <p:nvPr/>
        </p:nvSpPr>
        <p:spPr>
          <a:xfrm>
            <a:off x="457200" y="3931920"/>
            <a:ext cx="3637178" cy="164592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4" name="Shape 19"/>
          <p:cNvSpPr/>
          <p:nvPr/>
        </p:nvSpPr>
        <p:spPr>
          <a:xfrm>
            <a:off x="457200" y="3931920"/>
            <a:ext cx="73152" cy="1645920"/>
          </a:xfrm>
          <a:prstGeom prst="rect">
            <a:avLst/>
          </a:prstGeom>
          <a:solidFill>
            <a:srgbClr val="16A34A"/>
          </a:solidFill>
          <a:ln w="12700">
            <a:solidFill>
              <a:srgbClr val="16A34A"/>
            </a:solidFill>
            <a:prstDash val="solid"/>
          </a:ln>
        </p:spPr>
        <p:txBody>
          <a:bodyPr/>
          <a:lstStyle/>
          <a:p>
            <a:endParaRPr lang="en-US"/>
          </a:p>
        </p:txBody>
      </p:sp>
      <p:pic>
        <p:nvPicPr>
          <p:cNvPr id="25" name="Image 3" descr="preencoded.png"/>
          <p:cNvPicPr>
            <a:picLocks noChangeAspect="1"/>
          </p:cNvPicPr>
          <p:nvPr/>
        </p:nvPicPr>
        <p:blipFill>
          <a:blip r:embed="rId3"/>
          <a:stretch>
            <a:fillRect/>
          </a:stretch>
        </p:blipFill>
        <p:spPr>
          <a:xfrm>
            <a:off x="685800" y="4160520"/>
            <a:ext cx="457200" cy="457200"/>
          </a:xfrm>
          <a:prstGeom prst="rect">
            <a:avLst/>
          </a:prstGeom>
        </p:spPr>
      </p:pic>
      <p:sp>
        <p:nvSpPr>
          <p:cNvPr id="26" name="Text 20"/>
          <p:cNvSpPr/>
          <p:nvPr/>
        </p:nvSpPr>
        <p:spPr>
          <a:xfrm>
            <a:off x="1234440" y="4114800"/>
            <a:ext cx="2722778"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Tokenization API path</a:t>
            </a:r>
            <a:endParaRPr lang="en-US" sz="1400" dirty="0"/>
          </a:p>
        </p:txBody>
      </p:sp>
      <p:sp>
        <p:nvSpPr>
          <p:cNvPr id="27" name="Text 21"/>
          <p:cNvSpPr/>
          <p:nvPr/>
        </p:nvSpPr>
        <p:spPr>
          <a:xfrm>
            <a:off x="685800" y="4709160"/>
            <a:ext cx="3271418" cy="7772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Sensitive-data handling pattern selected, sketched, and reviewed with security partners</a:t>
            </a:r>
            <a:endParaRPr lang="en-US" sz="1100" dirty="0"/>
          </a:p>
        </p:txBody>
      </p:sp>
      <p:sp>
        <p:nvSpPr>
          <p:cNvPr id="28" name="Shape 22"/>
          <p:cNvSpPr/>
          <p:nvPr/>
        </p:nvSpPr>
        <p:spPr>
          <a:xfrm>
            <a:off x="4277258" y="3931920"/>
            <a:ext cx="3637178" cy="164592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9" name="Shape 23"/>
          <p:cNvSpPr/>
          <p:nvPr/>
        </p:nvSpPr>
        <p:spPr>
          <a:xfrm>
            <a:off x="4277258" y="3931920"/>
            <a:ext cx="73152" cy="1645920"/>
          </a:xfrm>
          <a:prstGeom prst="rect">
            <a:avLst/>
          </a:prstGeom>
          <a:solidFill>
            <a:srgbClr val="16A34A"/>
          </a:solidFill>
          <a:ln w="12700">
            <a:solidFill>
              <a:srgbClr val="16A34A"/>
            </a:solidFill>
            <a:prstDash val="solid"/>
          </a:ln>
        </p:spPr>
        <p:txBody>
          <a:bodyPr/>
          <a:lstStyle/>
          <a:p>
            <a:endParaRPr lang="en-US"/>
          </a:p>
        </p:txBody>
      </p:sp>
      <p:pic>
        <p:nvPicPr>
          <p:cNvPr id="30" name="Image 4" descr="preencoded.png"/>
          <p:cNvPicPr>
            <a:picLocks noChangeAspect="1"/>
          </p:cNvPicPr>
          <p:nvPr/>
        </p:nvPicPr>
        <p:blipFill>
          <a:blip r:embed="rId3"/>
          <a:stretch>
            <a:fillRect/>
          </a:stretch>
        </p:blipFill>
        <p:spPr>
          <a:xfrm>
            <a:off x="4505858" y="4160520"/>
            <a:ext cx="457200" cy="457200"/>
          </a:xfrm>
          <a:prstGeom prst="rect">
            <a:avLst/>
          </a:prstGeom>
        </p:spPr>
      </p:pic>
      <p:sp>
        <p:nvSpPr>
          <p:cNvPr id="31" name="Text 24"/>
          <p:cNvSpPr/>
          <p:nvPr/>
        </p:nvSpPr>
        <p:spPr>
          <a:xfrm>
            <a:off x="5054498" y="4114800"/>
            <a:ext cx="2722778"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Portal scaffold live</a:t>
            </a:r>
            <a:endParaRPr lang="en-US" sz="1400" dirty="0"/>
          </a:p>
        </p:txBody>
      </p:sp>
      <p:sp>
        <p:nvSpPr>
          <p:cNvPr id="32" name="Text 25"/>
          <p:cNvSpPr/>
          <p:nvPr/>
        </p:nvSpPr>
        <p:spPr>
          <a:xfrm>
            <a:off x="4505858" y="4709160"/>
            <a:ext cx="3271418" cy="7772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RBAC + embedded PowerBI shell working end-to-end in dev</a:t>
            </a:r>
            <a:endParaRPr lang="en-US" sz="1100" dirty="0"/>
          </a:p>
        </p:txBody>
      </p:sp>
      <p:sp>
        <p:nvSpPr>
          <p:cNvPr id="33" name="Shape 26"/>
          <p:cNvSpPr/>
          <p:nvPr/>
        </p:nvSpPr>
        <p:spPr>
          <a:xfrm>
            <a:off x="8097317" y="3931920"/>
            <a:ext cx="3637178" cy="164592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34" name="Shape 27"/>
          <p:cNvSpPr/>
          <p:nvPr/>
        </p:nvSpPr>
        <p:spPr>
          <a:xfrm>
            <a:off x="8097317" y="3931920"/>
            <a:ext cx="73152" cy="1645920"/>
          </a:xfrm>
          <a:prstGeom prst="rect">
            <a:avLst/>
          </a:prstGeom>
          <a:solidFill>
            <a:srgbClr val="16A34A"/>
          </a:solidFill>
          <a:ln w="12700">
            <a:solidFill>
              <a:srgbClr val="16A34A"/>
            </a:solidFill>
            <a:prstDash val="solid"/>
          </a:ln>
        </p:spPr>
        <p:txBody>
          <a:bodyPr/>
          <a:lstStyle/>
          <a:p>
            <a:endParaRPr lang="en-US"/>
          </a:p>
        </p:txBody>
      </p:sp>
      <p:pic>
        <p:nvPicPr>
          <p:cNvPr id="35" name="Image 5" descr="preencoded.png"/>
          <p:cNvPicPr>
            <a:picLocks noChangeAspect="1"/>
          </p:cNvPicPr>
          <p:nvPr/>
        </p:nvPicPr>
        <p:blipFill>
          <a:blip r:embed="rId3"/>
          <a:stretch>
            <a:fillRect/>
          </a:stretch>
        </p:blipFill>
        <p:spPr>
          <a:xfrm>
            <a:off x="8325917" y="4160520"/>
            <a:ext cx="457200" cy="457200"/>
          </a:xfrm>
          <a:prstGeom prst="rect">
            <a:avLst/>
          </a:prstGeom>
        </p:spPr>
      </p:pic>
      <p:sp>
        <p:nvSpPr>
          <p:cNvPr id="36" name="Text 28"/>
          <p:cNvSpPr/>
          <p:nvPr/>
        </p:nvSpPr>
        <p:spPr>
          <a:xfrm>
            <a:off x="8874557" y="4114800"/>
            <a:ext cx="2722778"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JHBI brand traction</a:t>
            </a:r>
            <a:endParaRPr lang="en-US" sz="1400" dirty="0"/>
          </a:p>
        </p:txBody>
      </p:sp>
      <p:sp>
        <p:nvSpPr>
          <p:cNvPr id="37" name="Text 29"/>
          <p:cNvSpPr/>
          <p:nvPr/>
        </p:nvSpPr>
        <p:spPr>
          <a:xfrm>
            <a:off x="8325917" y="4709160"/>
            <a:ext cx="3271418" cy="7772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Two webinars, two CU rooms, ~500 humans engaged with the JHBI story</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TIMELINE · H1</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14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Where the work landed: Jan → Jun 2026</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What we ran, what shipped, what slipped, what's still in flight</a:t>
            </a:r>
            <a:endParaRPr lang="en-US" sz="1400" dirty="0"/>
          </a:p>
        </p:txBody>
      </p:sp>
      <p:sp>
        <p:nvSpPr>
          <p:cNvPr id="8" name="Shape 6"/>
          <p:cNvSpPr/>
          <p:nvPr/>
        </p:nvSpPr>
        <p:spPr>
          <a:xfrm>
            <a:off x="3566160" y="2286000"/>
            <a:ext cx="1361389" cy="365760"/>
          </a:xfrm>
          <a:prstGeom prst="rect">
            <a:avLst/>
          </a:prstGeom>
          <a:solidFill>
            <a:srgbClr val="0F172A"/>
          </a:solidFill>
          <a:ln w="12700">
            <a:solidFill>
              <a:srgbClr val="0F172A"/>
            </a:solidFill>
            <a:prstDash val="solid"/>
          </a:ln>
        </p:spPr>
        <p:txBody>
          <a:bodyPr/>
          <a:lstStyle/>
          <a:p>
            <a:endParaRPr lang="en-US"/>
          </a:p>
        </p:txBody>
      </p:sp>
      <p:sp>
        <p:nvSpPr>
          <p:cNvPr id="9" name="Text 7"/>
          <p:cNvSpPr/>
          <p:nvPr/>
        </p:nvSpPr>
        <p:spPr>
          <a:xfrm>
            <a:off x="3566160" y="2286000"/>
            <a:ext cx="1361389"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Jan</a:t>
            </a:r>
            <a:endParaRPr lang="en-US" sz="1100" dirty="0"/>
          </a:p>
        </p:txBody>
      </p:sp>
      <p:sp>
        <p:nvSpPr>
          <p:cNvPr id="10" name="Shape 8"/>
          <p:cNvSpPr/>
          <p:nvPr/>
        </p:nvSpPr>
        <p:spPr>
          <a:xfrm>
            <a:off x="4927549" y="2286000"/>
            <a:ext cx="1361389" cy="365760"/>
          </a:xfrm>
          <a:prstGeom prst="rect">
            <a:avLst/>
          </a:prstGeom>
          <a:solidFill>
            <a:srgbClr val="0F172A"/>
          </a:solidFill>
          <a:ln w="12700">
            <a:solidFill>
              <a:srgbClr val="0F172A"/>
            </a:solidFill>
            <a:prstDash val="solid"/>
          </a:ln>
        </p:spPr>
        <p:txBody>
          <a:bodyPr/>
          <a:lstStyle/>
          <a:p>
            <a:endParaRPr lang="en-US"/>
          </a:p>
        </p:txBody>
      </p:sp>
      <p:sp>
        <p:nvSpPr>
          <p:cNvPr id="11" name="Text 9"/>
          <p:cNvSpPr/>
          <p:nvPr/>
        </p:nvSpPr>
        <p:spPr>
          <a:xfrm>
            <a:off x="4927549" y="2286000"/>
            <a:ext cx="1361389"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Feb</a:t>
            </a:r>
            <a:endParaRPr lang="en-US" sz="1100" dirty="0"/>
          </a:p>
        </p:txBody>
      </p:sp>
      <p:sp>
        <p:nvSpPr>
          <p:cNvPr id="12" name="Shape 10"/>
          <p:cNvSpPr/>
          <p:nvPr/>
        </p:nvSpPr>
        <p:spPr>
          <a:xfrm>
            <a:off x="6288938" y="2286000"/>
            <a:ext cx="1361389" cy="365760"/>
          </a:xfrm>
          <a:prstGeom prst="rect">
            <a:avLst/>
          </a:prstGeom>
          <a:solidFill>
            <a:srgbClr val="0F172A"/>
          </a:solidFill>
          <a:ln w="12700">
            <a:solidFill>
              <a:srgbClr val="0F172A"/>
            </a:solidFill>
            <a:prstDash val="solid"/>
          </a:ln>
        </p:spPr>
        <p:txBody>
          <a:bodyPr/>
          <a:lstStyle/>
          <a:p>
            <a:endParaRPr lang="en-US"/>
          </a:p>
        </p:txBody>
      </p:sp>
      <p:sp>
        <p:nvSpPr>
          <p:cNvPr id="13" name="Text 11"/>
          <p:cNvSpPr/>
          <p:nvPr/>
        </p:nvSpPr>
        <p:spPr>
          <a:xfrm>
            <a:off x="6288938" y="2286000"/>
            <a:ext cx="1361389"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Mar</a:t>
            </a:r>
            <a:endParaRPr lang="en-US" sz="1100" dirty="0"/>
          </a:p>
        </p:txBody>
      </p:sp>
      <p:sp>
        <p:nvSpPr>
          <p:cNvPr id="14" name="Shape 12"/>
          <p:cNvSpPr/>
          <p:nvPr/>
        </p:nvSpPr>
        <p:spPr>
          <a:xfrm>
            <a:off x="7650328" y="2286000"/>
            <a:ext cx="1361389" cy="365760"/>
          </a:xfrm>
          <a:prstGeom prst="rect">
            <a:avLst/>
          </a:prstGeom>
          <a:solidFill>
            <a:srgbClr val="0F172A"/>
          </a:solidFill>
          <a:ln w="12700">
            <a:solidFill>
              <a:srgbClr val="0F172A"/>
            </a:solidFill>
            <a:prstDash val="solid"/>
          </a:ln>
        </p:spPr>
        <p:txBody>
          <a:bodyPr/>
          <a:lstStyle/>
          <a:p>
            <a:endParaRPr lang="en-US"/>
          </a:p>
        </p:txBody>
      </p:sp>
      <p:sp>
        <p:nvSpPr>
          <p:cNvPr id="15" name="Text 13"/>
          <p:cNvSpPr/>
          <p:nvPr/>
        </p:nvSpPr>
        <p:spPr>
          <a:xfrm>
            <a:off x="7650328" y="2286000"/>
            <a:ext cx="1361389"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Apr</a:t>
            </a:r>
            <a:endParaRPr lang="en-US" sz="1100" dirty="0"/>
          </a:p>
        </p:txBody>
      </p:sp>
      <p:sp>
        <p:nvSpPr>
          <p:cNvPr id="16" name="Shape 14"/>
          <p:cNvSpPr/>
          <p:nvPr/>
        </p:nvSpPr>
        <p:spPr>
          <a:xfrm>
            <a:off x="9011717" y="2286000"/>
            <a:ext cx="1361389" cy="365760"/>
          </a:xfrm>
          <a:prstGeom prst="rect">
            <a:avLst/>
          </a:prstGeom>
          <a:solidFill>
            <a:srgbClr val="0F172A"/>
          </a:solidFill>
          <a:ln w="12700">
            <a:solidFill>
              <a:srgbClr val="0F172A"/>
            </a:solidFill>
            <a:prstDash val="solid"/>
          </a:ln>
        </p:spPr>
        <p:txBody>
          <a:bodyPr/>
          <a:lstStyle/>
          <a:p>
            <a:endParaRPr lang="en-US"/>
          </a:p>
        </p:txBody>
      </p:sp>
      <p:sp>
        <p:nvSpPr>
          <p:cNvPr id="17" name="Text 15"/>
          <p:cNvSpPr/>
          <p:nvPr/>
        </p:nvSpPr>
        <p:spPr>
          <a:xfrm>
            <a:off x="9011717" y="2286000"/>
            <a:ext cx="1361389"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May</a:t>
            </a:r>
            <a:endParaRPr lang="en-US" sz="1100" dirty="0"/>
          </a:p>
        </p:txBody>
      </p:sp>
      <p:sp>
        <p:nvSpPr>
          <p:cNvPr id="18" name="Shape 16"/>
          <p:cNvSpPr/>
          <p:nvPr/>
        </p:nvSpPr>
        <p:spPr>
          <a:xfrm>
            <a:off x="10373106" y="2286000"/>
            <a:ext cx="1361389" cy="365760"/>
          </a:xfrm>
          <a:prstGeom prst="rect">
            <a:avLst/>
          </a:prstGeom>
          <a:solidFill>
            <a:srgbClr val="0F172A"/>
          </a:solidFill>
          <a:ln w="12700">
            <a:solidFill>
              <a:srgbClr val="0F172A"/>
            </a:solidFill>
            <a:prstDash val="solid"/>
          </a:ln>
        </p:spPr>
        <p:txBody>
          <a:bodyPr/>
          <a:lstStyle/>
          <a:p>
            <a:endParaRPr lang="en-US"/>
          </a:p>
        </p:txBody>
      </p:sp>
      <p:sp>
        <p:nvSpPr>
          <p:cNvPr id="19" name="Text 17"/>
          <p:cNvSpPr/>
          <p:nvPr/>
        </p:nvSpPr>
        <p:spPr>
          <a:xfrm>
            <a:off x="10373106" y="2286000"/>
            <a:ext cx="1361389"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Jun</a:t>
            </a:r>
            <a:endParaRPr lang="en-US" sz="1100" dirty="0"/>
          </a:p>
        </p:txBody>
      </p:sp>
      <p:sp>
        <p:nvSpPr>
          <p:cNvPr id="20" name="Shape 18"/>
          <p:cNvSpPr/>
          <p:nvPr/>
        </p:nvSpPr>
        <p:spPr>
          <a:xfrm>
            <a:off x="4927549" y="2651760"/>
            <a:ext cx="0" cy="3337560"/>
          </a:xfrm>
          <a:prstGeom prst="line">
            <a:avLst/>
          </a:prstGeom>
          <a:noFill/>
          <a:ln w="6350">
            <a:solidFill>
              <a:srgbClr val="E2E8F0"/>
            </a:solidFill>
            <a:prstDash val="solid"/>
          </a:ln>
        </p:spPr>
        <p:txBody>
          <a:bodyPr/>
          <a:lstStyle/>
          <a:p>
            <a:endParaRPr lang="en-US"/>
          </a:p>
        </p:txBody>
      </p:sp>
      <p:sp>
        <p:nvSpPr>
          <p:cNvPr id="21" name="Shape 19"/>
          <p:cNvSpPr/>
          <p:nvPr/>
        </p:nvSpPr>
        <p:spPr>
          <a:xfrm>
            <a:off x="6288938" y="2651760"/>
            <a:ext cx="0" cy="3337560"/>
          </a:xfrm>
          <a:prstGeom prst="line">
            <a:avLst/>
          </a:prstGeom>
          <a:noFill/>
          <a:ln w="6350">
            <a:solidFill>
              <a:srgbClr val="E2E8F0"/>
            </a:solidFill>
            <a:prstDash val="solid"/>
          </a:ln>
        </p:spPr>
        <p:txBody>
          <a:bodyPr/>
          <a:lstStyle/>
          <a:p>
            <a:endParaRPr lang="en-US"/>
          </a:p>
        </p:txBody>
      </p:sp>
      <p:sp>
        <p:nvSpPr>
          <p:cNvPr id="22" name="Shape 20"/>
          <p:cNvSpPr/>
          <p:nvPr/>
        </p:nvSpPr>
        <p:spPr>
          <a:xfrm>
            <a:off x="7650328" y="2651760"/>
            <a:ext cx="0" cy="3337560"/>
          </a:xfrm>
          <a:prstGeom prst="line">
            <a:avLst/>
          </a:prstGeom>
          <a:noFill/>
          <a:ln w="6350">
            <a:solidFill>
              <a:srgbClr val="E2E8F0"/>
            </a:solidFill>
            <a:prstDash val="solid"/>
          </a:ln>
        </p:spPr>
        <p:txBody>
          <a:bodyPr/>
          <a:lstStyle/>
          <a:p>
            <a:endParaRPr lang="en-US"/>
          </a:p>
        </p:txBody>
      </p:sp>
      <p:sp>
        <p:nvSpPr>
          <p:cNvPr id="23" name="Shape 21"/>
          <p:cNvSpPr/>
          <p:nvPr/>
        </p:nvSpPr>
        <p:spPr>
          <a:xfrm>
            <a:off x="9011717" y="2651760"/>
            <a:ext cx="0" cy="3337560"/>
          </a:xfrm>
          <a:prstGeom prst="line">
            <a:avLst/>
          </a:prstGeom>
          <a:noFill/>
          <a:ln w="6350">
            <a:solidFill>
              <a:srgbClr val="E2E8F0"/>
            </a:solidFill>
            <a:prstDash val="solid"/>
          </a:ln>
        </p:spPr>
        <p:txBody>
          <a:bodyPr/>
          <a:lstStyle/>
          <a:p>
            <a:endParaRPr lang="en-US"/>
          </a:p>
        </p:txBody>
      </p:sp>
      <p:sp>
        <p:nvSpPr>
          <p:cNvPr id="24" name="Shape 22"/>
          <p:cNvSpPr/>
          <p:nvPr/>
        </p:nvSpPr>
        <p:spPr>
          <a:xfrm>
            <a:off x="10373106" y="2651760"/>
            <a:ext cx="0" cy="3337560"/>
          </a:xfrm>
          <a:prstGeom prst="line">
            <a:avLst/>
          </a:prstGeom>
          <a:noFill/>
          <a:ln w="6350">
            <a:solidFill>
              <a:srgbClr val="E2E8F0"/>
            </a:solidFill>
            <a:prstDash val="solid"/>
          </a:ln>
        </p:spPr>
        <p:txBody>
          <a:bodyPr/>
          <a:lstStyle/>
          <a:p>
            <a:endParaRPr lang="en-US"/>
          </a:p>
        </p:txBody>
      </p:sp>
      <p:sp>
        <p:nvSpPr>
          <p:cNvPr id="25" name="Shape 23"/>
          <p:cNvSpPr/>
          <p:nvPr/>
        </p:nvSpPr>
        <p:spPr>
          <a:xfrm>
            <a:off x="3566160" y="2651760"/>
            <a:ext cx="0" cy="3337560"/>
          </a:xfrm>
          <a:prstGeom prst="line">
            <a:avLst/>
          </a:prstGeom>
          <a:noFill/>
          <a:ln w="6350">
            <a:solidFill>
              <a:srgbClr val="E2E8F0"/>
            </a:solidFill>
            <a:prstDash val="solid"/>
          </a:ln>
        </p:spPr>
        <p:txBody>
          <a:bodyPr/>
          <a:lstStyle/>
          <a:p>
            <a:endParaRPr lang="en-US"/>
          </a:p>
        </p:txBody>
      </p:sp>
      <p:sp>
        <p:nvSpPr>
          <p:cNvPr id="26" name="Shape 24"/>
          <p:cNvSpPr/>
          <p:nvPr/>
        </p:nvSpPr>
        <p:spPr>
          <a:xfrm>
            <a:off x="3566160" y="2697480"/>
            <a:ext cx="8168335" cy="292608"/>
          </a:xfrm>
          <a:prstGeom prst="rect">
            <a:avLst/>
          </a:prstGeom>
          <a:solidFill>
            <a:srgbClr val="EEF2F6"/>
          </a:solidFill>
          <a:ln w="12700">
            <a:solidFill>
              <a:srgbClr val="EEF2F6"/>
            </a:solidFill>
            <a:prstDash val="solid"/>
          </a:ln>
        </p:spPr>
        <p:txBody>
          <a:bodyPr/>
          <a:lstStyle/>
          <a:p>
            <a:endParaRPr lang="en-US"/>
          </a:p>
        </p:txBody>
      </p:sp>
      <p:sp>
        <p:nvSpPr>
          <p:cNvPr id="27" name="Text 25"/>
          <p:cNvSpPr/>
          <p:nvPr/>
        </p:nvSpPr>
        <p:spPr>
          <a:xfrm>
            <a:off x="502920" y="2697480"/>
            <a:ext cx="30175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Contractor onboarding (slipped ~6wks)</a:t>
            </a:r>
            <a:endParaRPr lang="en-US" sz="1000" dirty="0"/>
          </a:p>
        </p:txBody>
      </p:sp>
      <p:sp>
        <p:nvSpPr>
          <p:cNvPr id="28" name="Shape 26"/>
          <p:cNvSpPr/>
          <p:nvPr/>
        </p:nvSpPr>
        <p:spPr>
          <a:xfrm>
            <a:off x="3602736" y="2752344"/>
            <a:ext cx="4827849" cy="182880"/>
          </a:xfrm>
          <a:prstGeom prst="roundRect">
            <a:avLst>
              <a:gd name="adj" fmla="val 20000"/>
            </a:avLst>
          </a:prstGeom>
          <a:solidFill>
            <a:srgbClr val="F59E0B"/>
          </a:solidFill>
          <a:ln w="12700">
            <a:solidFill>
              <a:srgbClr val="F59E0B"/>
            </a:solidFill>
            <a:prstDash val="solid"/>
          </a:ln>
        </p:spPr>
        <p:txBody>
          <a:bodyPr/>
          <a:lstStyle/>
          <a:p>
            <a:endParaRPr lang="en-US"/>
          </a:p>
        </p:txBody>
      </p:sp>
      <p:sp>
        <p:nvSpPr>
          <p:cNvPr id="29" name="Text 27"/>
          <p:cNvSpPr/>
          <p:nvPr/>
        </p:nvSpPr>
        <p:spPr>
          <a:xfrm>
            <a:off x="502920" y="3026664"/>
            <a:ext cx="30175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GCP core projects: Sandbox / Data / Compute</a:t>
            </a:r>
            <a:endParaRPr lang="en-US" sz="1000" dirty="0"/>
          </a:p>
        </p:txBody>
      </p:sp>
      <p:sp>
        <p:nvSpPr>
          <p:cNvPr id="30" name="Shape 28"/>
          <p:cNvSpPr/>
          <p:nvPr/>
        </p:nvSpPr>
        <p:spPr>
          <a:xfrm>
            <a:off x="3875014" y="3081528"/>
            <a:ext cx="1832793" cy="182880"/>
          </a:xfrm>
          <a:prstGeom prst="roundRect">
            <a:avLst>
              <a:gd name="adj" fmla="val 20000"/>
            </a:avLst>
          </a:prstGeom>
          <a:solidFill>
            <a:srgbClr val="16A34A"/>
          </a:solidFill>
          <a:ln w="12700">
            <a:solidFill>
              <a:srgbClr val="16A34A"/>
            </a:solidFill>
            <a:prstDash val="solid"/>
          </a:ln>
        </p:spPr>
        <p:txBody>
          <a:bodyPr/>
          <a:lstStyle/>
          <a:p>
            <a:endParaRPr lang="en-US"/>
          </a:p>
        </p:txBody>
      </p:sp>
      <p:sp>
        <p:nvSpPr>
          <p:cNvPr id="31" name="Shape 29"/>
          <p:cNvSpPr/>
          <p:nvPr/>
        </p:nvSpPr>
        <p:spPr>
          <a:xfrm>
            <a:off x="3566160" y="3355848"/>
            <a:ext cx="8168335" cy="292608"/>
          </a:xfrm>
          <a:prstGeom prst="rect">
            <a:avLst/>
          </a:prstGeom>
          <a:solidFill>
            <a:srgbClr val="EEF2F6"/>
          </a:solidFill>
          <a:ln w="12700">
            <a:solidFill>
              <a:srgbClr val="EEF2F6"/>
            </a:solidFill>
            <a:prstDash val="solid"/>
          </a:ln>
        </p:spPr>
        <p:txBody>
          <a:bodyPr/>
          <a:lstStyle/>
          <a:p>
            <a:endParaRPr lang="en-US"/>
          </a:p>
        </p:txBody>
      </p:sp>
      <p:sp>
        <p:nvSpPr>
          <p:cNvPr id="32" name="Text 30"/>
          <p:cNvSpPr/>
          <p:nvPr/>
        </p:nvSpPr>
        <p:spPr>
          <a:xfrm>
            <a:off x="502920" y="3355848"/>
            <a:ext cx="30175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GCP PCI + shared / utility projects</a:t>
            </a:r>
            <a:endParaRPr lang="en-US" sz="1000" dirty="0"/>
          </a:p>
        </p:txBody>
      </p:sp>
      <p:sp>
        <p:nvSpPr>
          <p:cNvPr id="33" name="Shape 31"/>
          <p:cNvSpPr/>
          <p:nvPr/>
        </p:nvSpPr>
        <p:spPr>
          <a:xfrm>
            <a:off x="5508681" y="3410712"/>
            <a:ext cx="5508544" cy="182880"/>
          </a:xfrm>
          <a:prstGeom prst="roundRect">
            <a:avLst>
              <a:gd name="adj" fmla="val 20000"/>
            </a:avLst>
          </a:prstGeom>
          <a:solidFill>
            <a:srgbClr val="0D9488"/>
          </a:solidFill>
          <a:ln w="12700">
            <a:solidFill>
              <a:srgbClr val="0D9488"/>
            </a:solidFill>
            <a:prstDash val="solid"/>
          </a:ln>
        </p:spPr>
        <p:txBody>
          <a:bodyPr/>
          <a:lstStyle/>
          <a:p>
            <a:endParaRPr lang="en-US"/>
          </a:p>
        </p:txBody>
      </p:sp>
      <p:sp>
        <p:nvSpPr>
          <p:cNvPr id="34" name="Text 32"/>
          <p:cNvSpPr/>
          <p:nvPr/>
        </p:nvSpPr>
        <p:spPr>
          <a:xfrm>
            <a:off x="502920" y="3685032"/>
            <a:ext cx="30175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Azure / PowerBI tenant + workspaces</a:t>
            </a:r>
            <a:endParaRPr lang="en-US" sz="1000" dirty="0"/>
          </a:p>
        </p:txBody>
      </p:sp>
      <p:sp>
        <p:nvSpPr>
          <p:cNvPr id="35" name="Shape 33"/>
          <p:cNvSpPr/>
          <p:nvPr/>
        </p:nvSpPr>
        <p:spPr>
          <a:xfrm>
            <a:off x="4964125" y="3739896"/>
            <a:ext cx="3194182" cy="182880"/>
          </a:xfrm>
          <a:prstGeom prst="roundRect">
            <a:avLst>
              <a:gd name="adj" fmla="val 20000"/>
            </a:avLst>
          </a:prstGeom>
          <a:solidFill>
            <a:srgbClr val="16A34A"/>
          </a:solidFill>
          <a:ln w="12700">
            <a:solidFill>
              <a:srgbClr val="16A34A"/>
            </a:solidFill>
            <a:prstDash val="solid"/>
          </a:ln>
        </p:spPr>
        <p:txBody>
          <a:bodyPr/>
          <a:lstStyle/>
          <a:p>
            <a:endParaRPr lang="en-US"/>
          </a:p>
        </p:txBody>
      </p:sp>
      <p:sp>
        <p:nvSpPr>
          <p:cNvPr id="36" name="Shape 34"/>
          <p:cNvSpPr/>
          <p:nvPr/>
        </p:nvSpPr>
        <p:spPr>
          <a:xfrm>
            <a:off x="3566160" y="4014216"/>
            <a:ext cx="8168335" cy="292608"/>
          </a:xfrm>
          <a:prstGeom prst="rect">
            <a:avLst/>
          </a:prstGeom>
          <a:solidFill>
            <a:srgbClr val="EEF2F6"/>
          </a:solidFill>
          <a:ln w="12700">
            <a:solidFill>
              <a:srgbClr val="EEF2F6"/>
            </a:solidFill>
            <a:prstDash val="solid"/>
          </a:ln>
        </p:spPr>
        <p:txBody>
          <a:bodyPr/>
          <a:lstStyle/>
          <a:p>
            <a:endParaRPr lang="en-US"/>
          </a:p>
        </p:txBody>
      </p:sp>
      <p:sp>
        <p:nvSpPr>
          <p:cNvPr id="37" name="Text 35"/>
          <p:cNvSpPr/>
          <p:nvPr/>
        </p:nvSpPr>
        <p:spPr>
          <a:xfrm>
            <a:off x="502920" y="4014216"/>
            <a:ext cx="30175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CI / CD pipelines (IaC, services, dbt)</a:t>
            </a:r>
            <a:endParaRPr lang="en-US" sz="1000" dirty="0"/>
          </a:p>
        </p:txBody>
      </p:sp>
      <p:sp>
        <p:nvSpPr>
          <p:cNvPr id="38" name="Shape 36"/>
          <p:cNvSpPr/>
          <p:nvPr/>
        </p:nvSpPr>
        <p:spPr>
          <a:xfrm>
            <a:off x="5236403" y="4069080"/>
            <a:ext cx="3058043" cy="182880"/>
          </a:xfrm>
          <a:prstGeom prst="roundRect">
            <a:avLst>
              <a:gd name="adj" fmla="val 20000"/>
            </a:avLst>
          </a:prstGeom>
          <a:solidFill>
            <a:srgbClr val="16A34A"/>
          </a:solidFill>
          <a:ln w="12700">
            <a:solidFill>
              <a:srgbClr val="16A34A"/>
            </a:solidFill>
            <a:prstDash val="solid"/>
          </a:ln>
        </p:spPr>
        <p:txBody>
          <a:bodyPr/>
          <a:lstStyle/>
          <a:p>
            <a:endParaRPr lang="en-US"/>
          </a:p>
        </p:txBody>
      </p:sp>
      <p:sp>
        <p:nvSpPr>
          <p:cNvPr id="39" name="Text 37"/>
          <p:cNvSpPr/>
          <p:nvPr/>
        </p:nvSpPr>
        <p:spPr>
          <a:xfrm>
            <a:off x="502920" y="4343400"/>
            <a:ext cx="30175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Portal: RBAC + embedded PowerBI</a:t>
            </a:r>
            <a:endParaRPr lang="en-US" sz="1000" dirty="0"/>
          </a:p>
        </p:txBody>
      </p:sp>
      <p:sp>
        <p:nvSpPr>
          <p:cNvPr id="40" name="Shape 38"/>
          <p:cNvSpPr/>
          <p:nvPr/>
        </p:nvSpPr>
        <p:spPr>
          <a:xfrm>
            <a:off x="6325514" y="4398264"/>
            <a:ext cx="3330321" cy="182880"/>
          </a:xfrm>
          <a:prstGeom prst="roundRect">
            <a:avLst>
              <a:gd name="adj" fmla="val 20000"/>
            </a:avLst>
          </a:prstGeom>
          <a:solidFill>
            <a:srgbClr val="16A34A"/>
          </a:solidFill>
          <a:ln w="12700">
            <a:solidFill>
              <a:srgbClr val="16A34A"/>
            </a:solidFill>
            <a:prstDash val="solid"/>
          </a:ln>
        </p:spPr>
        <p:txBody>
          <a:bodyPr/>
          <a:lstStyle/>
          <a:p>
            <a:endParaRPr lang="en-US"/>
          </a:p>
        </p:txBody>
      </p:sp>
      <p:sp>
        <p:nvSpPr>
          <p:cNvPr id="41" name="Shape 39"/>
          <p:cNvSpPr/>
          <p:nvPr/>
        </p:nvSpPr>
        <p:spPr>
          <a:xfrm>
            <a:off x="3566160" y="4672584"/>
            <a:ext cx="8168335" cy="292608"/>
          </a:xfrm>
          <a:prstGeom prst="rect">
            <a:avLst/>
          </a:prstGeom>
          <a:solidFill>
            <a:srgbClr val="EEF2F6"/>
          </a:solidFill>
          <a:ln w="12700">
            <a:solidFill>
              <a:srgbClr val="EEF2F6"/>
            </a:solidFill>
            <a:prstDash val="solid"/>
          </a:ln>
        </p:spPr>
        <p:txBody>
          <a:bodyPr/>
          <a:lstStyle/>
          <a:p>
            <a:endParaRPr lang="en-US"/>
          </a:p>
        </p:txBody>
      </p:sp>
      <p:sp>
        <p:nvSpPr>
          <p:cNvPr id="42" name="Text 40"/>
          <p:cNvSpPr/>
          <p:nvPr/>
        </p:nvSpPr>
        <p:spPr>
          <a:xfrm>
            <a:off x="502920" y="4672584"/>
            <a:ext cx="30175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Portal: AI query builder + pipeline page</a:t>
            </a:r>
            <a:endParaRPr lang="en-US" sz="1000" dirty="0"/>
          </a:p>
        </p:txBody>
      </p:sp>
      <p:sp>
        <p:nvSpPr>
          <p:cNvPr id="43" name="Shape 41"/>
          <p:cNvSpPr/>
          <p:nvPr/>
        </p:nvSpPr>
        <p:spPr>
          <a:xfrm>
            <a:off x="7686904" y="4727448"/>
            <a:ext cx="4011016" cy="182880"/>
          </a:xfrm>
          <a:prstGeom prst="roundRect">
            <a:avLst>
              <a:gd name="adj" fmla="val 20000"/>
            </a:avLst>
          </a:prstGeom>
          <a:solidFill>
            <a:srgbClr val="0D9488"/>
          </a:solidFill>
          <a:ln w="12700">
            <a:solidFill>
              <a:srgbClr val="0D9488"/>
            </a:solidFill>
            <a:prstDash val="solid"/>
          </a:ln>
        </p:spPr>
        <p:txBody>
          <a:bodyPr/>
          <a:lstStyle/>
          <a:p>
            <a:endParaRPr lang="en-US"/>
          </a:p>
        </p:txBody>
      </p:sp>
      <p:sp>
        <p:nvSpPr>
          <p:cNvPr id="44" name="Text 42"/>
          <p:cNvSpPr/>
          <p:nvPr/>
        </p:nvSpPr>
        <p:spPr>
          <a:xfrm>
            <a:off x="502920" y="5001768"/>
            <a:ext cx="30175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CDC framework (Debezium) + tokenization</a:t>
            </a:r>
            <a:endParaRPr lang="en-US" sz="1000" dirty="0"/>
          </a:p>
        </p:txBody>
      </p:sp>
      <p:sp>
        <p:nvSpPr>
          <p:cNvPr id="45" name="Shape 43"/>
          <p:cNvSpPr/>
          <p:nvPr/>
        </p:nvSpPr>
        <p:spPr>
          <a:xfrm>
            <a:off x="6325514" y="5056632"/>
            <a:ext cx="5372405" cy="182880"/>
          </a:xfrm>
          <a:prstGeom prst="roundRect">
            <a:avLst>
              <a:gd name="adj" fmla="val 20000"/>
            </a:avLst>
          </a:prstGeom>
          <a:solidFill>
            <a:srgbClr val="0D9488"/>
          </a:solidFill>
          <a:ln w="12700">
            <a:solidFill>
              <a:srgbClr val="0D9488"/>
            </a:solidFill>
            <a:prstDash val="solid"/>
          </a:ln>
        </p:spPr>
        <p:txBody>
          <a:bodyPr/>
          <a:lstStyle/>
          <a:p>
            <a:endParaRPr lang="en-US"/>
          </a:p>
        </p:txBody>
      </p:sp>
      <p:sp>
        <p:nvSpPr>
          <p:cNvPr id="46" name="Shape 44"/>
          <p:cNvSpPr/>
          <p:nvPr/>
        </p:nvSpPr>
        <p:spPr>
          <a:xfrm>
            <a:off x="3566160" y="5330952"/>
            <a:ext cx="8168335" cy="292608"/>
          </a:xfrm>
          <a:prstGeom prst="rect">
            <a:avLst/>
          </a:prstGeom>
          <a:solidFill>
            <a:srgbClr val="EEF2F6"/>
          </a:solidFill>
          <a:ln w="12700">
            <a:solidFill>
              <a:srgbClr val="EEF2F6"/>
            </a:solidFill>
            <a:prstDash val="solid"/>
          </a:ln>
        </p:spPr>
        <p:txBody>
          <a:bodyPr/>
          <a:lstStyle/>
          <a:p>
            <a:endParaRPr lang="en-US"/>
          </a:p>
        </p:txBody>
      </p:sp>
      <p:sp>
        <p:nvSpPr>
          <p:cNvPr id="47" name="Text 45"/>
          <p:cNvSpPr/>
          <p:nvPr/>
        </p:nvSpPr>
        <p:spPr>
          <a:xfrm>
            <a:off x="502920" y="5330952"/>
            <a:ext cx="30175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First payment source CDC prototype</a:t>
            </a:r>
            <a:endParaRPr lang="en-US" sz="1000" dirty="0"/>
          </a:p>
        </p:txBody>
      </p:sp>
      <p:sp>
        <p:nvSpPr>
          <p:cNvPr id="48" name="Shape 46"/>
          <p:cNvSpPr/>
          <p:nvPr/>
        </p:nvSpPr>
        <p:spPr>
          <a:xfrm>
            <a:off x="7959181" y="5385816"/>
            <a:ext cx="3738738" cy="182880"/>
          </a:xfrm>
          <a:prstGeom prst="roundRect">
            <a:avLst>
              <a:gd name="adj" fmla="val 20000"/>
            </a:avLst>
          </a:prstGeom>
          <a:solidFill>
            <a:srgbClr val="0D9488"/>
          </a:solidFill>
          <a:ln w="12700">
            <a:solidFill>
              <a:srgbClr val="0D9488"/>
            </a:solidFill>
            <a:prstDash val="solid"/>
          </a:ln>
        </p:spPr>
        <p:txBody>
          <a:bodyPr/>
          <a:lstStyle/>
          <a:p>
            <a:endParaRPr lang="en-US"/>
          </a:p>
        </p:txBody>
      </p:sp>
      <p:sp>
        <p:nvSpPr>
          <p:cNvPr id="49" name="Text 47"/>
          <p:cNvSpPr/>
          <p:nvPr/>
        </p:nvSpPr>
        <p:spPr>
          <a:xfrm>
            <a:off x="502920" y="5660136"/>
            <a:ext cx="30175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PowerBI: 4 of 10 reports in design</a:t>
            </a:r>
            <a:endParaRPr lang="en-US" sz="1000" dirty="0"/>
          </a:p>
        </p:txBody>
      </p:sp>
      <p:sp>
        <p:nvSpPr>
          <p:cNvPr id="50" name="Shape 48"/>
          <p:cNvSpPr/>
          <p:nvPr/>
        </p:nvSpPr>
        <p:spPr>
          <a:xfrm>
            <a:off x="9048293" y="5715000"/>
            <a:ext cx="2649626" cy="182880"/>
          </a:xfrm>
          <a:prstGeom prst="roundRect">
            <a:avLst>
              <a:gd name="adj" fmla="val 20000"/>
            </a:avLst>
          </a:prstGeom>
          <a:solidFill>
            <a:srgbClr val="0D9488"/>
          </a:solidFill>
          <a:ln w="12700">
            <a:solidFill>
              <a:srgbClr val="0D9488"/>
            </a:solidFill>
            <a:prstDash val="solid"/>
          </a:ln>
        </p:spPr>
        <p:txBody>
          <a:bodyPr/>
          <a:lstStyle/>
          <a:p>
            <a:endParaRPr lang="en-US"/>
          </a:p>
        </p:txBody>
      </p:sp>
      <p:sp>
        <p:nvSpPr>
          <p:cNvPr id="51" name="Shape 49"/>
          <p:cNvSpPr/>
          <p:nvPr/>
        </p:nvSpPr>
        <p:spPr>
          <a:xfrm>
            <a:off x="9187380" y="2286000"/>
            <a:ext cx="0" cy="3703320"/>
          </a:xfrm>
          <a:prstGeom prst="line">
            <a:avLst/>
          </a:prstGeom>
          <a:noFill/>
          <a:ln w="28575">
            <a:solidFill>
              <a:srgbClr val="F59E0B"/>
            </a:solidFill>
            <a:prstDash val="dash"/>
          </a:ln>
        </p:spPr>
        <p:txBody>
          <a:bodyPr/>
          <a:lstStyle/>
          <a:p>
            <a:endParaRPr lang="en-US"/>
          </a:p>
        </p:txBody>
      </p:sp>
      <p:sp>
        <p:nvSpPr>
          <p:cNvPr id="52" name="Shape 50"/>
          <p:cNvSpPr/>
          <p:nvPr/>
        </p:nvSpPr>
        <p:spPr>
          <a:xfrm>
            <a:off x="8821620" y="1993392"/>
            <a:ext cx="731520" cy="256032"/>
          </a:xfrm>
          <a:prstGeom prst="roundRect">
            <a:avLst>
              <a:gd name="adj" fmla="val 50000"/>
            </a:avLst>
          </a:prstGeom>
          <a:solidFill>
            <a:srgbClr val="F59E0B"/>
          </a:solidFill>
          <a:ln w="12700">
            <a:solidFill>
              <a:srgbClr val="F59E0B"/>
            </a:solidFill>
            <a:prstDash val="solid"/>
          </a:ln>
        </p:spPr>
        <p:txBody>
          <a:bodyPr/>
          <a:lstStyle/>
          <a:p>
            <a:endParaRPr lang="en-US"/>
          </a:p>
        </p:txBody>
      </p:sp>
      <p:sp>
        <p:nvSpPr>
          <p:cNvPr id="53" name="Text 51"/>
          <p:cNvSpPr/>
          <p:nvPr/>
        </p:nvSpPr>
        <p:spPr>
          <a:xfrm>
            <a:off x="8821620" y="1993392"/>
            <a:ext cx="731520" cy="256032"/>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TODAY</a:t>
            </a:r>
            <a:endParaRPr lang="en-US" sz="900" dirty="0"/>
          </a:p>
        </p:txBody>
      </p:sp>
      <p:sp>
        <p:nvSpPr>
          <p:cNvPr id="54" name="Text 52"/>
          <p:cNvSpPr/>
          <p:nvPr/>
        </p:nvSpPr>
        <p:spPr>
          <a:xfrm>
            <a:off x="502920" y="6153912"/>
            <a:ext cx="301752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Demand events</a:t>
            </a:r>
            <a:endParaRPr lang="en-US" sz="1000" dirty="0"/>
          </a:p>
        </p:txBody>
      </p:sp>
      <p:sp>
        <p:nvSpPr>
          <p:cNvPr id="55" name="Shape 53"/>
          <p:cNvSpPr/>
          <p:nvPr/>
        </p:nvSpPr>
        <p:spPr>
          <a:xfrm>
            <a:off x="6937118" y="6190488"/>
            <a:ext cx="201168" cy="201168"/>
          </a:xfrm>
          <a:prstGeom prst="ellipse">
            <a:avLst/>
          </a:prstGeom>
          <a:solidFill>
            <a:srgbClr val="F59E0B"/>
          </a:solidFill>
          <a:ln w="19050">
            <a:solidFill>
              <a:srgbClr val="FFFFFF"/>
            </a:solidFill>
            <a:prstDash val="solid"/>
          </a:ln>
        </p:spPr>
        <p:txBody>
          <a:bodyPr/>
          <a:lstStyle/>
          <a:p>
            <a:endParaRPr lang="en-US"/>
          </a:p>
        </p:txBody>
      </p:sp>
      <p:sp>
        <p:nvSpPr>
          <p:cNvPr id="56" name="Text 54"/>
          <p:cNvSpPr/>
          <p:nvPr/>
        </p:nvSpPr>
        <p:spPr>
          <a:xfrm>
            <a:off x="6214742" y="6428232"/>
            <a:ext cx="1645920" cy="228600"/>
          </a:xfrm>
          <a:prstGeom prst="rect">
            <a:avLst/>
          </a:prstGeom>
          <a:noFill/>
          <a:ln/>
        </p:spPr>
        <p:txBody>
          <a:bodyPr wrap="square" lIns="0" tIns="0" rIns="0" bIns="0" rtlCol="0" anchor="t"/>
          <a:lstStyle/>
          <a:p>
            <a:pPr marL="0" indent="0" algn="ctr">
              <a:buNone/>
            </a:pPr>
            <a:r>
              <a:rPr lang="en-US" sz="800" i="1" dirty="0">
                <a:solidFill>
                  <a:srgbClr val="64748B"/>
                </a:solidFill>
                <a:latin typeface="Calibri" pitchFamily="34" charset="0"/>
                <a:ea typeface="Calibri" pitchFamily="34" charset="-122"/>
                <a:cs typeface="Calibri" pitchFamily="34" charset="-120"/>
              </a:rPr>
              <a:t>Webinar #1 (~200)</a:t>
            </a:r>
            <a:endParaRPr lang="en-US" sz="800" dirty="0"/>
          </a:p>
        </p:txBody>
      </p:sp>
      <p:sp>
        <p:nvSpPr>
          <p:cNvPr id="57" name="Shape 55"/>
          <p:cNvSpPr/>
          <p:nvPr/>
        </p:nvSpPr>
        <p:spPr>
          <a:xfrm>
            <a:off x="8094299" y="6190488"/>
            <a:ext cx="201168" cy="201168"/>
          </a:xfrm>
          <a:prstGeom prst="ellipse">
            <a:avLst/>
          </a:prstGeom>
          <a:solidFill>
            <a:srgbClr val="F59E0B"/>
          </a:solidFill>
          <a:ln w="19050">
            <a:solidFill>
              <a:srgbClr val="FFFFFF"/>
            </a:solidFill>
            <a:prstDash val="solid"/>
          </a:ln>
        </p:spPr>
        <p:txBody>
          <a:bodyPr/>
          <a:lstStyle/>
          <a:p>
            <a:endParaRPr lang="en-US"/>
          </a:p>
        </p:txBody>
      </p:sp>
      <p:sp>
        <p:nvSpPr>
          <p:cNvPr id="58" name="Text 56"/>
          <p:cNvSpPr/>
          <p:nvPr/>
        </p:nvSpPr>
        <p:spPr>
          <a:xfrm>
            <a:off x="7371923" y="6428232"/>
            <a:ext cx="1645920" cy="228600"/>
          </a:xfrm>
          <a:prstGeom prst="rect">
            <a:avLst/>
          </a:prstGeom>
          <a:noFill/>
          <a:ln/>
        </p:spPr>
        <p:txBody>
          <a:bodyPr wrap="square" lIns="0" tIns="0" rIns="0" bIns="0" rtlCol="0" anchor="t"/>
          <a:lstStyle/>
          <a:p>
            <a:pPr marL="0" indent="0" algn="ctr">
              <a:buNone/>
            </a:pPr>
            <a:r>
              <a:rPr lang="en-US" sz="800" i="1" dirty="0">
                <a:solidFill>
                  <a:srgbClr val="64748B"/>
                </a:solidFill>
                <a:latin typeface="Calibri" pitchFamily="34" charset="0"/>
                <a:ea typeface="Calibri" pitchFamily="34" charset="-122"/>
                <a:cs typeface="Calibri" pitchFamily="34" charset="-120"/>
              </a:rPr>
              <a:t>CU presentations ×2</a:t>
            </a:r>
            <a:endParaRPr lang="en-US" sz="800" dirty="0"/>
          </a:p>
        </p:txBody>
      </p:sp>
      <p:sp>
        <p:nvSpPr>
          <p:cNvPr id="59" name="Shape 57"/>
          <p:cNvSpPr/>
          <p:nvPr/>
        </p:nvSpPr>
        <p:spPr>
          <a:xfrm>
            <a:off x="9796036" y="6190488"/>
            <a:ext cx="201168" cy="201168"/>
          </a:xfrm>
          <a:prstGeom prst="ellipse">
            <a:avLst/>
          </a:prstGeom>
          <a:solidFill>
            <a:srgbClr val="F59E0B"/>
          </a:solidFill>
          <a:ln w="19050">
            <a:solidFill>
              <a:srgbClr val="FFFFFF"/>
            </a:solidFill>
            <a:prstDash val="solid"/>
          </a:ln>
        </p:spPr>
        <p:txBody>
          <a:bodyPr/>
          <a:lstStyle/>
          <a:p>
            <a:endParaRPr lang="en-US"/>
          </a:p>
        </p:txBody>
      </p:sp>
      <p:sp>
        <p:nvSpPr>
          <p:cNvPr id="60" name="Text 58"/>
          <p:cNvSpPr/>
          <p:nvPr/>
        </p:nvSpPr>
        <p:spPr>
          <a:xfrm>
            <a:off x="9073660" y="6428232"/>
            <a:ext cx="1645920" cy="228600"/>
          </a:xfrm>
          <a:prstGeom prst="rect">
            <a:avLst/>
          </a:prstGeom>
          <a:noFill/>
          <a:ln/>
        </p:spPr>
        <p:txBody>
          <a:bodyPr wrap="square" lIns="0" tIns="0" rIns="0" bIns="0" rtlCol="0" anchor="t"/>
          <a:lstStyle/>
          <a:p>
            <a:pPr marL="0" indent="0" algn="ctr">
              <a:buNone/>
            </a:pPr>
            <a:r>
              <a:rPr lang="en-US" sz="800" i="1" dirty="0">
                <a:solidFill>
                  <a:srgbClr val="64748B"/>
                </a:solidFill>
                <a:latin typeface="Calibri" pitchFamily="34" charset="0"/>
                <a:ea typeface="Calibri" pitchFamily="34" charset="-122"/>
                <a:cs typeface="Calibri" pitchFamily="34" charset="-120"/>
              </a:rPr>
              <a:t>Webinar #2 (100+ pre-reg)</a:t>
            </a:r>
            <a:endParaRPr lang="en-US" sz="800" dirty="0"/>
          </a:p>
        </p:txBody>
      </p:sp>
      <p:sp>
        <p:nvSpPr>
          <p:cNvPr id="61" name="Shape 59"/>
          <p:cNvSpPr/>
          <p:nvPr/>
        </p:nvSpPr>
        <p:spPr>
          <a:xfrm>
            <a:off x="5790895" y="1911096"/>
            <a:ext cx="219456" cy="128016"/>
          </a:xfrm>
          <a:prstGeom prst="roundRect">
            <a:avLst>
              <a:gd name="adj" fmla="val 21429"/>
            </a:avLst>
          </a:prstGeom>
          <a:solidFill>
            <a:srgbClr val="16A34A"/>
          </a:solidFill>
          <a:ln w="12700">
            <a:solidFill>
              <a:srgbClr val="16A34A"/>
            </a:solidFill>
            <a:prstDash val="solid"/>
          </a:ln>
        </p:spPr>
        <p:txBody>
          <a:bodyPr/>
          <a:lstStyle/>
          <a:p>
            <a:endParaRPr lang="en-US"/>
          </a:p>
        </p:txBody>
      </p:sp>
      <p:sp>
        <p:nvSpPr>
          <p:cNvPr id="62" name="Text 60"/>
          <p:cNvSpPr/>
          <p:nvPr/>
        </p:nvSpPr>
        <p:spPr>
          <a:xfrm>
            <a:off x="6083503" y="1847088"/>
            <a:ext cx="896112"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Done</a:t>
            </a:r>
            <a:endParaRPr lang="en-US" sz="1000" dirty="0"/>
          </a:p>
        </p:txBody>
      </p:sp>
      <p:sp>
        <p:nvSpPr>
          <p:cNvPr id="63" name="Shape 61"/>
          <p:cNvSpPr/>
          <p:nvPr/>
        </p:nvSpPr>
        <p:spPr>
          <a:xfrm>
            <a:off x="6979615" y="1911096"/>
            <a:ext cx="219456" cy="128016"/>
          </a:xfrm>
          <a:prstGeom prst="roundRect">
            <a:avLst>
              <a:gd name="adj" fmla="val 21429"/>
            </a:avLst>
          </a:prstGeom>
          <a:solidFill>
            <a:srgbClr val="0D9488"/>
          </a:solidFill>
          <a:ln w="12700">
            <a:solidFill>
              <a:srgbClr val="0D9488"/>
            </a:solidFill>
            <a:prstDash val="solid"/>
          </a:ln>
        </p:spPr>
        <p:txBody>
          <a:bodyPr/>
          <a:lstStyle/>
          <a:p>
            <a:endParaRPr lang="en-US"/>
          </a:p>
        </p:txBody>
      </p:sp>
      <p:sp>
        <p:nvSpPr>
          <p:cNvPr id="64" name="Text 62"/>
          <p:cNvSpPr/>
          <p:nvPr/>
        </p:nvSpPr>
        <p:spPr>
          <a:xfrm>
            <a:off x="7272223" y="1847088"/>
            <a:ext cx="896112"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In progress</a:t>
            </a:r>
            <a:endParaRPr lang="en-US" sz="1000" dirty="0"/>
          </a:p>
        </p:txBody>
      </p:sp>
      <p:sp>
        <p:nvSpPr>
          <p:cNvPr id="65" name="Shape 63"/>
          <p:cNvSpPr/>
          <p:nvPr/>
        </p:nvSpPr>
        <p:spPr>
          <a:xfrm>
            <a:off x="8168335" y="1911096"/>
            <a:ext cx="219456" cy="128016"/>
          </a:xfrm>
          <a:prstGeom prst="roundRect">
            <a:avLst>
              <a:gd name="adj" fmla="val 21429"/>
            </a:avLst>
          </a:prstGeom>
          <a:solidFill>
            <a:srgbClr val="F59E0B"/>
          </a:solidFill>
          <a:ln w="12700">
            <a:solidFill>
              <a:srgbClr val="F59E0B"/>
            </a:solidFill>
            <a:prstDash val="solid"/>
          </a:ln>
        </p:spPr>
        <p:txBody>
          <a:bodyPr/>
          <a:lstStyle/>
          <a:p>
            <a:endParaRPr lang="en-US"/>
          </a:p>
        </p:txBody>
      </p:sp>
      <p:sp>
        <p:nvSpPr>
          <p:cNvPr id="66" name="Text 64"/>
          <p:cNvSpPr/>
          <p:nvPr/>
        </p:nvSpPr>
        <p:spPr>
          <a:xfrm>
            <a:off x="8460943" y="1847088"/>
            <a:ext cx="896112"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Slipped</a:t>
            </a:r>
            <a:endParaRPr lang="en-US" sz="1000" dirty="0"/>
          </a:p>
        </p:txBody>
      </p:sp>
      <p:sp>
        <p:nvSpPr>
          <p:cNvPr id="67" name="Shape 65"/>
          <p:cNvSpPr/>
          <p:nvPr/>
        </p:nvSpPr>
        <p:spPr>
          <a:xfrm>
            <a:off x="9357055" y="1911096"/>
            <a:ext cx="219456" cy="128016"/>
          </a:xfrm>
          <a:prstGeom prst="roundRect">
            <a:avLst>
              <a:gd name="adj" fmla="val 21429"/>
            </a:avLst>
          </a:prstGeom>
          <a:solidFill>
            <a:srgbClr val="94A3B8"/>
          </a:solidFill>
          <a:ln w="12700">
            <a:solidFill>
              <a:srgbClr val="94A3B8"/>
            </a:solidFill>
            <a:prstDash val="solid"/>
          </a:ln>
        </p:spPr>
        <p:txBody>
          <a:bodyPr/>
          <a:lstStyle/>
          <a:p>
            <a:endParaRPr lang="en-US"/>
          </a:p>
        </p:txBody>
      </p:sp>
      <p:sp>
        <p:nvSpPr>
          <p:cNvPr id="68" name="Text 66"/>
          <p:cNvSpPr/>
          <p:nvPr/>
        </p:nvSpPr>
        <p:spPr>
          <a:xfrm>
            <a:off x="9649663" y="1847088"/>
            <a:ext cx="896112"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Planned</a:t>
            </a:r>
            <a:endParaRPr lang="en-US" sz="1000" dirty="0"/>
          </a:p>
        </p:txBody>
      </p:sp>
      <p:sp>
        <p:nvSpPr>
          <p:cNvPr id="69" name="Shape 67"/>
          <p:cNvSpPr/>
          <p:nvPr/>
        </p:nvSpPr>
        <p:spPr>
          <a:xfrm>
            <a:off x="10564063" y="1892808"/>
            <a:ext cx="164592" cy="164592"/>
          </a:xfrm>
          <a:prstGeom prst="diamond">
            <a:avLst/>
          </a:prstGeom>
          <a:solidFill>
            <a:srgbClr val="0D9488"/>
          </a:solidFill>
          <a:ln w="12700">
            <a:solidFill>
              <a:srgbClr val="0D9488"/>
            </a:solidFill>
            <a:prstDash val="solid"/>
          </a:ln>
        </p:spPr>
        <p:txBody>
          <a:bodyPr/>
          <a:lstStyle/>
          <a:p>
            <a:endParaRPr lang="en-US"/>
          </a:p>
        </p:txBody>
      </p:sp>
      <p:sp>
        <p:nvSpPr>
          <p:cNvPr id="70" name="Text 68"/>
          <p:cNvSpPr/>
          <p:nvPr/>
        </p:nvSpPr>
        <p:spPr>
          <a:xfrm>
            <a:off x="10838383" y="1847088"/>
            <a:ext cx="896112"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Milestone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PILLAR 01 — ONBOARDING</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15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Contractor Onboarding</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The unglamorous pillar that gates everything else</a:t>
            </a:r>
            <a:endParaRPr lang="en-US" sz="1400" dirty="0"/>
          </a:p>
        </p:txBody>
      </p:sp>
      <p:sp>
        <p:nvSpPr>
          <p:cNvPr id="8" name="Shape 6"/>
          <p:cNvSpPr/>
          <p:nvPr/>
        </p:nvSpPr>
        <p:spPr>
          <a:xfrm>
            <a:off x="457200" y="2103120"/>
            <a:ext cx="4114800" cy="38404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9" name="Shape 7"/>
          <p:cNvSpPr/>
          <p:nvPr/>
        </p:nvSpPr>
        <p:spPr>
          <a:xfrm>
            <a:off x="457200" y="2103120"/>
            <a:ext cx="73152" cy="3840480"/>
          </a:xfrm>
          <a:prstGeom prst="rect">
            <a:avLst/>
          </a:prstGeom>
          <a:solidFill>
            <a:srgbClr val="F59E0B"/>
          </a:solidFill>
          <a:ln w="12700">
            <a:solidFill>
              <a:srgbClr val="F59E0B"/>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777240" y="2331720"/>
            <a:ext cx="502920" cy="502920"/>
          </a:xfrm>
          <a:prstGeom prst="rect">
            <a:avLst/>
          </a:prstGeom>
        </p:spPr>
      </p:pic>
      <p:sp>
        <p:nvSpPr>
          <p:cNvPr id="11" name="Text 8"/>
          <p:cNvSpPr/>
          <p:nvPr/>
        </p:nvSpPr>
        <p:spPr>
          <a:xfrm>
            <a:off x="1463040" y="2286000"/>
            <a:ext cx="2743200" cy="365760"/>
          </a:xfrm>
          <a:prstGeom prst="rect">
            <a:avLst/>
          </a:prstGeom>
          <a:noFill/>
          <a:ln/>
        </p:spPr>
        <p:txBody>
          <a:bodyPr wrap="square" lIns="0" tIns="0" rIns="0" bIns="0" rtlCol="0" anchor="ctr"/>
          <a:lstStyle/>
          <a:p>
            <a:pPr marL="0" indent="0">
              <a:buNone/>
            </a:pPr>
            <a:r>
              <a:rPr lang="en-US" sz="1200" b="1" kern="0" spc="300" dirty="0">
                <a:solidFill>
                  <a:srgbClr val="64748B"/>
                </a:solidFill>
                <a:latin typeface="Calibri" pitchFamily="34" charset="0"/>
                <a:ea typeface="Calibri" pitchFamily="34" charset="-122"/>
                <a:cs typeface="Calibri" pitchFamily="34" charset="-120"/>
              </a:rPr>
              <a:t>Status</a:t>
            </a:r>
            <a:endParaRPr lang="en-US" sz="1200" dirty="0"/>
          </a:p>
        </p:txBody>
      </p:sp>
      <p:sp>
        <p:nvSpPr>
          <p:cNvPr id="12" name="Text 9"/>
          <p:cNvSpPr/>
          <p:nvPr/>
        </p:nvSpPr>
        <p:spPr>
          <a:xfrm>
            <a:off x="1463040" y="2606040"/>
            <a:ext cx="2743200" cy="457200"/>
          </a:xfrm>
          <a:prstGeom prst="rect">
            <a:avLst/>
          </a:prstGeom>
          <a:noFill/>
          <a:ln/>
        </p:spPr>
        <p:txBody>
          <a:bodyPr wrap="square" lIns="0" tIns="0" rIns="0" bIns="0" rtlCol="0" anchor="ctr"/>
          <a:lstStyle/>
          <a:p>
            <a:pPr marL="0" indent="0">
              <a:buNone/>
            </a:pPr>
            <a:r>
              <a:rPr lang="en-US" sz="2400" b="1" dirty="0">
                <a:solidFill>
                  <a:srgbClr val="F59E0B"/>
                </a:solidFill>
                <a:latin typeface="Calibri" pitchFamily="34" charset="0"/>
                <a:ea typeface="Calibri" pitchFamily="34" charset="-122"/>
                <a:cs typeface="Calibri" pitchFamily="34" charset="-120"/>
              </a:rPr>
              <a:t>Recovering</a:t>
            </a:r>
            <a:endParaRPr lang="en-US" sz="2400" dirty="0"/>
          </a:p>
        </p:txBody>
      </p:sp>
      <p:sp>
        <p:nvSpPr>
          <p:cNvPr id="13" name="Text 10"/>
          <p:cNvSpPr/>
          <p:nvPr/>
        </p:nvSpPr>
        <p:spPr>
          <a:xfrm>
            <a:off x="777240" y="3337560"/>
            <a:ext cx="3520440" cy="2331720"/>
          </a:xfrm>
          <a:prstGeom prst="rect">
            <a:avLst/>
          </a:prstGeom>
          <a:noFill/>
          <a:ln/>
        </p:spPr>
        <p:txBody>
          <a:bodyPr wrap="square" lIns="0" tIns="0" rIns="0" bIns="0" rtlCol="0" anchor="ctr"/>
          <a:lstStyle/>
          <a:p>
            <a:pPr marL="0" indent="0">
              <a:spcAft>
                <a:spcPts val="800"/>
              </a:spcAft>
              <a:buNone/>
            </a:pPr>
            <a:r>
              <a:rPr lang="en-US" sz="1200" b="1" dirty="0">
                <a:solidFill>
                  <a:srgbClr val="1E293B"/>
                </a:solidFill>
                <a:latin typeface="Calibri" pitchFamily="34" charset="0"/>
                <a:ea typeface="Calibri" pitchFamily="34" charset="-122"/>
                <a:cs typeface="Calibri" pitchFamily="34" charset="-120"/>
              </a:rPr>
              <a:t>Slow start.</a:t>
            </a:r>
            <a:endParaRPr lang="en-US" sz="1200" dirty="0"/>
          </a:p>
          <a:p>
            <a:pPr marL="342900" indent="-342900">
              <a:spcAft>
                <a:spcPts val="800"/>
              </a:spcAft>
              <a:buSzPct val="100000"/>
              <a:buChar char="•"/>
            </a:pPr>
            <a:r>
              <a:rPr lang="en-US" sz="1200" dirty="0">
                <a:solidFill>
                  <a:srgbClr val="334155"/>
                </a:solidFill>
                <a:latin typeface="Calibri" pitchFamily="34" charset="0"/>
                <a:ea typeface="Calibri" pitchFamily="34" charset="-122"/>
                <a:cs typeface="Calibri" pitchFamily="34" charset="-120"/>
              </a:rPr>
              <a:t>Background checks, system access, and laptop logistics ran weeks long</a:t>
            </a:r>
            <a:endParaRPr lang="en-US" sz="1200" dirty="0"/>
          </a:p>
          <a:p>
            <a:pPr marL="342900" indent="-342900">
              <a:spcAft>
                <a:spcPts val="800"/>
              </a:spcAft>
              <a:buSzPct val="100000"/>
              <a:buChar char="•"/>
            </a:pPr>
            <a:r>
              <a:rPr lang="en-US" sz="1200" dirty="0">
                <a:solidFill>
                  <a:srgbClr val="334155"/>
                </a:solidFill>
                <a:latin typeface="Calibri" pitchFamily="34" charset="0"/>
                <a:ea typeface="Calibri" pitchFamily="34" charset="-122"/>
                <a:cs typeface="Calibri" pitchFamily="34" charset="-120"/>
              </a:rPr>
              <a:t>Single biggest contributor to our two-month slip</a:t>
            </a:r>
            <a:endParaRPr lang="en-US" sz="1200" dirty="0"/>
          </a:p>
          <a:p>
            <a:pPr marL="342900" indent="-342900">
              <a:spcAft>
                <a:spcPts val="800"/>
              </a:spcAft>
              <a:buSzPct val="100000"/>
              <a:buChar char="•"/>
            </a:pPr>
            <a:r>
              <a:rPr lang="en-US" sz="1200" dirty="0">
                <a:solidFill>
                  <a:srgbClr val="334155"/>
                </a:solidFill>
                <a:latin typeface="Calibri" pitchFamily="34" charset="0"/>
                <a:ea typeface="Calibri" pitchFamily="34" charset="-122"/>
                <a:cs typeface="Calibri" pitchFamily="34" charset="-120"/>
              </a:rPr>
              <a:t>Most contractors are now productive — past the worst of it</a:t>
            </a:r>
            <a:endParaRPr lang="en-US" sz="1200" dirty="0"/>
          </a:p>
          <a:p>
            <a:pPr marL="342900" indent="-342900">
              <a:spcAft>
                <a:spcPts val="800"/>
              </a:spcAft>
              <a:buSzPct val="100000"/>
              <a:buChar char="•"/>
            </a:pPr>
            <a:r>
              <a:rPr lang="en-US" sz="1200" dirty="0">
                <a:solidFill>
                  <a:srgbClr val="334155"/>
                </a:solidFill>
                <a:latin typeface="Calibri" pitchFamily="34" charset="0"/>
                <a:ea typeface="Calibri" pitchFamily="34" charset="-122"/>
                <a:cs typeface="Calibri" pitchFamily="34" charset="-120"/>
              </a:rPr>
              <a:t>We will not repay this tax in Q3</a:t>
            </a:r>
            <a:endParaRPr lang="en-US" sz="1200" dirty="0"/>
          </a:p>
        </p:txBody>
      </p:sp>
      <p:sp>
        <p:nvSpPr>
          <p:cNvPr id="14" name="Shape 11"/>
          <p:cNvSpPr/>
          <p:nvPr/>
        </p:nvSpPr>
        <p:spPr>
          <a:xfrm>
            <a:off x="4937760" y="2103120"/>
            <a:ext cx="6796735" cy="38404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5" name="Shape 12"/>
          <p:cNvSpPr/>
          <p:nvPr/>
        </p:nvSpPr>
        <p:spPr>
          <a:xfrm>
            <a:off x="4937760" y="2103120"/>
            <a:ext cx="73152" cy="3840480"/>
          </a:xfrm>
          <a:prstGeom prst="rect">
            <a:avLst/>
          </a:prstGeom>
          <a:solidFill>
            <a:srgbClr val="0D9488"/>
          </a:solidFill>
          <a:ln w="12700">
            <a:solidFill>
              <a:srgbClr val="0D9488"/>
            </a:solidFill>
            <a:prstDash val="solid"/>
          </a:ln>
        </p:spPr>
        <p:txBody>
          <a:bodyPr/>
          <a:lstStyle/>
          <a:p>
            <a:endParaRPr lang="en-US"/>
          </a:p>
        </p:txBody>
      </p:sp>
      <p:sp>
        <p:nvSpPr>
          <p:cNvPr id="16" name="Text 13"/>
          <p:cNvSpPr/>
          <p:nvPr/>
        </p:nvSpPr>
        <p:spPr>
          <a:xfrm>
            <a:off x="5212080" y="2286000"/>
            <a:ext cx="4572000" cy="365760"/>
          </a:xfrm>
          <a:prstGeom prst="rect">
            <a:avLst/>
          </a:prstGeom>
          <a:noFill/>
          <a:ln/>
        </p:spPr>
        <p:txBody>
          <a:bodyPr wrap="square" lIns="0" tIns="0" rIns="0" bIns="0" rtlCol="0" anchor="ctr"/>
          <a:lstStyle/>
          <a:p>
            <a:pPr marL="0" indent="0">
              <a:buNone/>
            </a:pPr>
            <a:r>
              <a:rPr lang="en-US" sz="1200" b="1" kern="0" spc="300" dirty="0">
                <a:solidFill>
                  <a:srgbClr val="64748B"/>
                </a:solidFill>
                <a:latin typeface="Calibri" pitchFamily="34" charset="0"/>
                <a:ea typeface="Calibri" pitchFamily="34" charset="-122"/>
                <a:cs typeface="Calibri" pitchFamily="34" charset="-120"/>
              </a:rPr>
              <a:t>What's next</a:t>
            </a:r>
            <a:endParaRPr lang="en-US" sz="1200" dirty="0"/>
          </a:p>
        </p:txBody>
      </p:sp>
      <p:sp>
        <p:nvSpPr>
          <p:cNvPr id="17" name="Text 14"/>
          <p:cNvSpPr/>
          <p:nvPr/>
        </p:nvSpPr>
        <p:spPr>
          <a:xfrm>
            <a:off x="5212080" y="2606040"/>
            <a:ext cx="6522415" cy="45720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Lock the playbook. Don't repay the tax.</a:t>
            </a:r>
            <a:endParaRPr lang="en-US" sz="1800" dirty="0"/>
          </a:p>
        </p:txBody>
      </p:sp>
      <p:sp>
        <p:nvSpPr>
          <p:cNvPr id="18" name="Text 15"/>
          <p:cNvSpPr/>
          <p:nvPr/>
        </p:nvSpPr>
        <p:spPr>
          <a:xfrm>
            <a:off x="5212080" y="3337560"/>
            <a:ext cx="6522415" cy="233172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334155"/>
                </a:solidFill>
                <a:latin typeface="Calibri" pitchFamily="34" charset="0"/>
                <a:ea typeface="Calibri" pitchFamily="34" charset="-122"/>
                <a:cs typeface="Calibri" pitchFamily="34" charset="-120"/>
              </a:rPr>
              <a:t>Document the onboarding runbook end-to-end (access, repos, secrets, tooling)</a:t>
            </a:r>
            <a:endParaRPr lang="en-US" sz="1200" dirty="0"/>
          </a:p>
          <a:p>
            <a:pPr marL="342900" indent="-342900">
              <a:spcAft>
                <a:spcPts val="800"/>
              </a:spcAft>
              <a:buSzPct val="100000"/>
              <a:buChar char="•"/>
            </a:pPr>
            <a:r>
              <a:rPr lang="en-US" sz="1200" dirty="0">
                <a:solidFill>
                  <a:srgbClr val="334155"/>
                </a:solidFill>
                <a:latin typeface="Calibri" pitchFamily="34" charset="0"/>
                <a:ea typeface="Calibri" pitchFamily="34" charset="-122"/>
                <a:cs typeface="Calibri" pitchFamily="34" charset="-120"/>
              </a:rPr>
              <a:t>Pre-stage GCP IAM and PowerBI workspace access at offer-accept</a:t>
            </a:r>
            <a:endParaRPr lang="en-US" sz="1200" dirty="0"/>
          </a:p>
          <a:p>
            <a:pPr marL="342900" indent="-342900">
              <a:spcAft>
                <a:spcPts val="800"/>
              </a:spcAft>
              <a:buSzPct val="100000"/>
              <a:buChar char="•"/>
            </a:pPr>
            <a:r>
              <a:rPr lang="en-US" sz="1200" dirty="0">
                <a:solidFill>
                  <a:srgbClr val="334155"/>
                </a:solidFill>
                <a:latin typeface="Calibri" pitchFamily="34" charset="0"/>
                <a:ea typeface="Calibri" pitchFamily="34" charset="-122"/>
                <a:cs typeface="Calibri" pitchFamily="34" charset="-120"/>
              </a:rPr>
              <a:t>First-week checklist: commit on day 3, demo on day 10</a:t>
            </a:r>
            <a:endParaRPr lang="en-US" sz="1200" dirty="0"/>
          </a:p>
          <a:p>
            <a:pPr marL="342900" indent="-342900">
              <a:spcAft>
                <a:spcPts val="800"/>
              </a:spcAft>
              <a:buSzPct val="100000"/>
              <a:buChar char="•"/>
            </a:pPr>
            <a:r>
              <a:rPr lang="en-US" sz="1200" dirty="0">
                <a:solidFill>
                  <a:srgbClr val="334155"/>
                </a:solidFill>
                <a:latin typeface="Calibri" pitchFamily="34" charset="0"/>
                <a:ea typeface="Calibri" pitchFamily="34" charset="-122"/>
                <a:cs typeface="Calibri" pitchFamily="34" charset="-120"/>
              </a:rPr>
              <a:t>Named owner: PM + EM pairing; review monthly until friction is gone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PILLAR 02 — INFRASTRUCTURE</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16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Infrastructure</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GCP projects, Azure PowerBI, CI/CD — the substrate</a:t>
            </a:r>
            <a:endParaRPr lang="en-US" sz="1400" dirty="0"/>
          </a:p>
        </p:txBody>
      </p:sp>
      <p:sp>
        <p:nvSpPr>
          <p:cNvPr id="8" name="Text 6"/>
          <p:cNvSpPr/>
          <p:nvPr/>
        </p:nvSpPr>
        <p:spPr>
          <a:xfrm>
            <a:off x="457200" y="2103120"/>
            <a:ext cx="5486400" cy="320040"/>
          </a:xfrm>
          <a:prstGeom prst="rect">
            <a:avLst/>
          </a:prstGeom>
          <a:noFill/>
          <a:ln/>
        </p:spPr>
        <p:txBody>
          <a:bodyPr wrap="square" lIns="0" tIns="0" rIns="0" bIns="0" rtlCol="0" anchor="ctr"/>
          <a:lstStyle/>
          <a:p>
            <a:pPr marL="0" indent="0">
              <a:buNone/>
            </a:pPr>
            <a:r>
              <a:rPr lang="en-US" sz="1200" b="1" kern="0" spc="300" dirty="0">
                <a:solidFill>
                  <a:srgbClr val="64748B"/>
                </a:solidFill>
                <a:latin typeface="Calibri" pitchFamily="34" charset="0"/>
                <a:ea typeface="Calibri" pitchFamily="34" charset="-122"/>
                <a:cs typeface="Calibri" pitchFamily="34" charset="-120"/>
              </a:rPr>
              <a:t>GCP project layout</a:t>
            </a:r>
            <a:endParaRPr lang="en-US" sz="1200" dirty="0"/>
          </a:p>
        </p:txBody>
      </p:sp>
      <p:sp>
        <p:nvSpPr>
          <p:cNvPr id="9" name="Shape 7"/>
          <p:cNvSpPr/>
          <p:nvPr/>
        </p:nvSpPr>
        <p:spPr>
          <a:xfrm>
            <a:off x="457200" y="2514600"/>
            <a:ext cx="1078992" cy="914400"/>
          </a:xfrm>
          <a:prstGeom prst="roundRect">
            <a:avLst>
              <a:gd name="adj" fmla="val 8000"/>
            </a:avLst>
          </a:prstGeom>
          <a:solidFill>
            <a:srgbClr val="FFFFFF"/>
          </a:solidFill>
          <a:ln w="9525">
            <a:solidFill>
              <a:srgbClr val="E2E8F0"/>
            </a:solidFill>
            <a:prstDash val="solid"/>
          </a:ln>
        </p:spPr>
        <p:txBody>
          <a:bodyPr/>
          <a:lstStyle/>
          <a:p>
            <a:endParaRPr lang="en-US"/>
          </a:p>
        </p:txBody>
      </p:sp>
      <p:sp>
        <p:nvSpPr>
          <p:cNvPr id="10" name="Shape 8"/>
          <p:cNvSpPr/>
          <p:nvPr/>
        </p:nvSpPr>
        <p:spPr>
          <a:xfrm>
            <a:off x="457200" y="2514600"/>
            <a:ext cx="1078992" cy="109728"/>
          </a:xfrm>
          <a:prstGeom prst="rect">
            <a:avLst/>
          </a:prstGeom>
          <a:solidFill>
            <a:srgbClr val="16A34A"/>
          </a:solidFill>
          <a:ln w="12700">
            <a:solidFill>
              <a:srgbClr val="16A34A"/>
            </a:solidFill>
            <a:prstDash val="solid"/>
          </a:ln>
        </p:spPr>
        <p:txBody>
          <a:bodyPr/>
          <a:lstStyle/>
          <a:p>
            <a:endParaRPr lang="en-US"/>
          </a:p>
        </p:txBody>
      </p:sp>
      <p:sp>
        <p:nvSpPr>
          <p:cNvPr id="11" name="Text 9"/>
          <p:cNvSpPr/>
          <p:nvPr/>
        </p:nvSpPr>
        <p:spPr>
          <a:xfrm>
            <a:off x="548640" y="2697480"/>
            <a:ext cx="896112" cy="36576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Sandbox</a:t>
            </a:r>
            <a:endParaRPr lang="en-US" sz="1300" dirty="0"/>
          </a:p>
        </p:txBody>
      </p:sp>
      <p:sp>
        <p:nvSpPr>
          <p:cNvPr id="12" name="Text 10"/>
          <p:cNvSpPr/>
          <p:nvPr/>
        </p:nvSpPr>
        <p:spPr>
          <a:xfrm>
            <a:off x="548640" y="3063240"/>
            <a:ext cx="896112" cy="274320"/>
          </a:xfrm>
          <a:prstGeom prst="rect">
            <a:avLst/>
          </a:prstGeom>
          <a:noFill/>
          <a:ln/>
        </p:spPr>
        <p:txBody>
          <a:bodyPr wrap="square" lIns="0" tIns="0" rIns="0" bIns="0" rtlCol="0" anchor="ctr"/>
          <a:lstStyle/>
          <a:p>
            <a:pPr marL="0" indent="0" algn="ctr">
              <a:buNone/>
            </a:pPr>
            <a:r>
              <a:rPr lang="en-US" sz="1000" i="1" dirty="0">
                <a:solidFill>
                  <a:srgbClr val="16A34A"/>
                </a:solidFill>
                <a:latin typeface="Calibri" pitchFamily="34" charset="0"/>
                <a:ea typeface="Calibri" pitchFamily="34" charset="-122"/>
                <a:cs typeface="Calibri" pitchFamily="34" charset="-120"/>
              </a:rPr>
              <a:t>live</a:t>
            </a:r>
            <a:endParaRPr lang="en-US" sz="1000" dirty="0"/>
          </a:p>
        </p:txBody>
      </p:sp>
      <p:sp>
        <p:nvSpPr>
          <p:cNvPr id="13" name="Shape 11"/>
          <p:cNvSpPr/>
          <p:nvPr/>
        </p:nvSpPr>
        <p:spPr>
          <a:xfrm>
            <a:off x="1645920" y="2514600"/>
            <a:ext cx="1078992" cy="914400"/>
          </a:xfrm>
          <a:prstGeom prst="roundRect">
            <a:avLst>
              <a:gd name="adj" fmla="val 8000"/>
            </a:avLst>
          </a:prstGeom>
          <a:solidFill>
            <a:srgbClr val="FFFFFF"/>
          </a:solidFill>
          <a:ln w="9525">
            <a:solidFill>
              <a:srgbClr val="E2E8F0"/>
            </a:solidFill>
            <a:prstDash val="solid"/>
          </a:ln>
        </p:spPr>
        <p:txBody>
          <a:bodyPr/>
          <a:lstStyle/>
          <a:p>
            <a:endParaRPr lang="en-US"/>
          </a:p>
        </p:txBody>
      </p:sp>
      <p:sp>
        <p:nvSpPr>
          <p:cNvPr id="14" name="Shape 12"/>
          <p:cNvSpPr/>
          <p:nvPr/>
        </p:nvSpPr>
        <p:spPr>
          <a:xfrm>
            <a:off x="1645920" y="2514600"/>
            <a:ext cx="1078992" cy="109728"/>
          </a:xfrm>
          <a:prstGeom prst="rect">
            <a:avLst/>
          </a:prstGeom>
          <a:solidFill>
            <a:srgbClr val="16A34A"/>
          </a:solidFill>
          <a:ln w="12700">
            <a:solidFill>
              <a:srgbClr val="16A34A"/>
            </a:solidFill>
            <a:prstDash val="solid"/>
          </a:ln>
        </p:spPr>
        <p:txBody>
          <a:bodyPr/>
          <a:lstStyle/>
          <a:p>
            <a:endParaRPr lang="en-US"/>
          </a:p>
        </p:txBody>
      </p:sp>
      <p:sp>
        <p:nvSpPr>
          <p:cNvPr id="15" name="Text 13"/>
          <p:cNvSpPr/>
          <p:nvPr/>
        </p:nvSpPr>
        <p:spPr>
          <a:xfrm>
            <a:off x="1737360" y="2697480"/>
            <a:ext cx="896112" cy="36576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Data</a:t>
            </a:r>
            <a:endParaRPr lang="en-US" sz="1300" dirty="0"/>
          </a:p>
        </p:txBody>
      </p:sp>
      <p:sp>
        <p:nvSpPr>
          <p:cNvPr id="16" name="Text 14"/>
          <p:cNvSpPr/>
          <p:nvPr/>
        </p:nvSpPr>
        <p:spPr>
          <a:xfrm>
            <a:off x="1737360" y="3063240"/>
            <a:ext cx="896112" cy="274320"/>
          </a:xfrm>
          <a:prstGeom prst="rect">
            <a:avLst/>
          </a:prstGeom>
          <a:noFill/>
          <a:ln/>
        </p:spPr>
        <p:txBody>
          <a:bodyPr wrap="square" lIns="0" tIns="0" rIns="0" bIns="0" rtlCol="0" anchor="ctr"/>
          <a:lstStyle/>
          <a:p>
            <a:pPr marL="0" indent="0" algn="ctr">
              <a:buNone/>
            </a:pPr>
            <a:r>
              <a:rPr lang="en-US" sz="1000" i="1" dirty="0">
                <a:solidFill>
                  <a:srgbClr val="16A34A"/>
                </a:solidFill>
                <a:latin typeface="Calibri" pitchFamily="34" charset="0"/>
                <a:ea typeface="Calibri" pitchFamily="34" charset="-122"/>
                <a:cs typeface="Calibri" pitchFamily="34" charset="-120"/>
              </a:rPr>
              <a:t>live</a:t>
            </a:r>
            <a:endParaRPr lang="en-US" sz="1000" dirty="0"/>
          </a:p>
        </p:txBody>
      </p:sp>
      <p:sp>
        <p:nvSpPr>
          <p:cNvPr id="17" name="Shape 15"/>
          <p:cNvSpPr/>
          <p:nvPr/>
        </p:nvSpPr>
        <p:spPr>
          <a:xfrm>
            <a:off x="2834640" y="2514600"/>
            <a:ext cx="1078992" cy="914400"/>
          </a:xfrm>
          <a:prstGeom prst="roundRect">
            <a:avLst>
              <a:gd name="adj" fmla="val 8000"/>
            </a:avLst>
          </a:prstGeom>
          <a:solidFill>
            <a:srgbClr val="FFFFFF"/>
          </a:solidFill>
          <a:ln w="9525">
            <a:solidFill>
              <a:srgbClr val="E2E8F0"/>
            </a:solidFill>
            <a:prstDash val="solid"/>
          </a:ln>
        </p:spPr>
        <p:txBody>
          <a:bodyPr/>
          <a:lstStyle/>
          <a:p>
            <a:endParaRPr lang="en-US"/>
          </a:p>
        </p:txBody>
      </p:sp>
      <p:sp>
        <p:nvSpPr>
          <p:cNvPr id="18" name="Shape 16"/>
          <p:cNvSpPr/>
          <p:nvPr/>
        </p:nvSpPr>
        <p:spPr>
          <a:xfrm>
            <a:off x="2834640" y="2514600"/>
            <a:ext cx="1078992" cy="109728"/>
          </a:xfrm>
          <a:prstGeom prst="rect">
            <a:avLst/>
          </a:prstGeom>
          <a:solidFill>
            <a:srgbClr val="16A34A"/>
          </a:solidFill>
          <a:ln w="12700">
            <a:solidFill>
              <a:srgbClr val="16A34A"/>
            </a:solidFill>
            <a:prstDash val="solid"/>
          </a:ln>
        </p:spPr>
        <p:txBody>
          <a:bodyPr/>
          <a:lstStyle/>
          <a:p>
            <a:endParaRPr lang="en-US"/>
          </a:p>
        </p:txBody>
      </p:sp>
      <p:sp>
        <p:nvSpPr>
          <p:cNvPr id="19" name="Text 17"/>
          <p:cNvSpPr/>
          <p:nvPr/>
        </p:nvSpPr>
        <p:spPr>
          <a:xfrm>
            <a:off x="2926080" y="2697480"/>
            <a:ext cx="896112" cy="36576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Compute</a:t>
            </a:r>
            <a:endParaRPr lang="en-US" sz="1300" dirty="0"/>
          </a:p>
        </p:txBody>
      </p:sp>
      <p:sp>
        <p:nvSpPr>
          <p:cNvPr id="20" name="Text 18"/>
          <p:cNvSpPr/>
          <p:nvPr/>
        </p:nvSpPr>
        <p:spPr>
          <a:xfrm>
            <a:off x="2926080" y="3063240"/>
            <a:ext cx="896112" cy="274320"/>
          </a:xfrm>
          <a:prstGeom prst="rect">
            <a:avLst/>
          </a:prstGeom>
          <a:noFill/>
          <a:ln/>
        </p:spPr>
        <p:txBody>
          <a:bodyPr wrap="square" lIns="0" tIns="0" rIns="0" bIns="0" rtlCol="0" anchor="ctr"/>
          <a:lstStyle/>
          <a:p>
            <a:pPr marL="0" indent="0" algn="ctr">
              <a:buNone/>
            </a:pPr>
            <a:r>
              <a:rPr lang="en-US" sz="1000" i="1" dirty="0">
                <a:solidFill>
                  <a:srgbClr val="16A34A"/>
                </a:solidFill>
                <a:latin typeface="Calibri" pitchFamily="34" charset="0"/>
                <a:ea typeface="Calibri" pitchFamily="34" charset="-122"/>
                <a:cs typeface="Calibri" pitchFamily="34" charset="-120"/>
              </a:rPr>
              <a:t>live</a:t>
            </a:r>
            <a:endParaRPr lang="en-US" sz="1000" dirty="0"/>
          </a:p>
        </p:txBody>
      </p:sp>
      <p:sp>
        <p:nvSpPr>
          <p:cNvPr id="21" name="Shape 19"/>
          <p:cNvSpPr/>
          <p:nvPr/>
        </p:nvSpPr>
        <p:spPr>
          <a:xfrm>
            <a:off x="4023360" y="2514600"/>
            <a:ext cx="1078992" cy="914400"/>
          </a:xfrm>
          <a:prstGeom prst="roundRect">
            <a:avLst>
              <a:gd name="adj" fmla="val 8000"/>
            </a:avLst>
          </a:prstGeom>
          <a:solidFill>
            <a:srgbClr val="FFFFFF"/>
          </a:solidFill>
          <a:ln w="9525">
            <a:solidFill>
              <a:srgbClr val="E2E8F0"/>
            </a:solidFill>
            <a:prstDash val="solid"/>
          </a:ln>
        </p:spPr>
        <p:txBody>
          <a:bodyPr/>
          <a:lstStyle/>
          <a:p>
            <a:endParaRPr lang="en-US"/>
          </a:p>
        </p:txBody>
      </p:sp>
      <p:sp>
        <p:nvSpPr>
          <p:cNvPr id="22" name="Shape 20"/>
          <p:cNvSpPr/>
          <p:nvPr/>
        </p:nvSpPr>
        <p:spPr>
          <a:xfrm>
            <a:off x="4023360" y="2514600"/>
            <a:ext cx="1078992" cy="109728"/>
          </a:xfrm>
          <a:prstGeom prst="rect">
            <a:avLst/>
          </a:prstGeom>
          <a:solidFill>
            <a:srgbClr val="F59E0B"/>
          </a:solidFill>
          <a:ln w="12700">
            <a:solidFill>
              <a:srgbClr val="F59E0B"/>
            </a:solidFill>
            <a:prstDash val="solid"/>
          </a:ln>
        </p:spPr>
        <p:txBody>
          <a:bodyPr/>
          <a:lstStyle/>
          <a:p>
            <a:endParaRPr lang="en-US"/>
          </a:p>
        </p:txBody>
      </p:sp>
      <p:sp>
        <p:nvSpPr>
          <p:cNvPr id="23" name="Text 21"/>
          <p:cNvSpPr/>
          <p:nvPr/>
        </p:nvSpPr>
        <p:spPr>
          <a:xfrm>
            <a:off x="4114800" y="2697480"/>
            <a:ext cx="896112" cy="36576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PCI</a:t>
            </a:r>
            <a:endParaRPr lang="en-US" sz="1300" dirty="0"/>
          </a:p>
        </p:txBody>
      </p:sp>
      <p:sp>
        <p:nvSpPr>
          <p:cNvPr id="24" name="Text 22"/>
          <p:cNvSpPr/>
          <p:nvPr/>
        </p:nvSpPr>
        <p:spPr>
          <a:xfrm>
            <a:off x="4114800" y="3063240"/>
            <a:ext cx="896112" cy="274320"/>
          </a:xfrm>
          <a:prstGeom prst="rect">
            <a:avLst/>
          </a:prstGeom>
          <a:noFill/>
          <a:ln/>
        </p:spPr>
        <p:txBody>
          <a:bodyPr wrap="square" lIns="0" tIns="0" rIns="0" bIns="0" rtlCol="0" anchor="ctr"/>
          <a:lstStyle/>
          <a:p>
            <a:pPr marL="0" indent="0" algn="ctr">
              <a:buNone/>
            </a:pPr>
            <a:r>
              <a:rPr lang="en-US" sz="1000" i="1" dirty="0">
                <a:solidFill>
                  <a:srgbClr val="F59E0B"/>
                </a:solidFill>
                <a:latin typeface="Calibri" pitchFamily="34" charset="0"/>
                <a:ea typeface="Calibri" pitchFamily="34" charset="-122"/>
                <a:cs typeface="Calibri" pitchFamily="34" charset="-120"/>
              </a:rPr>
              <a:t>in progress</a:t>
            </a:r>
            <a:endParaRPr lang="en-US" sz="1000" dirty="0"/>
          </a:p>
        </p:txBody>
      </p:sp>
      <p:sp>
        <p:nvSpPr>
          <p:cNvPr id="25" name="Shape 23"/>
          <p:cNvSpPr/>
          <p:nvPr/>
        </p:nvSpPr>
        <p:spPr>
          <a:xfrm>
            <a:off x="5212080" y="2514600"/>
            <a:ext cx="1078992" cy="914400"/>
          </a:xfrm>
          <a:prstGeom prst="roundRect">
            <a:avLst>
              <a:gd name="adj" fmla="val 8000"/>
            </a:avLst>
          </a:prstGeom>
          <a:solidFill>
            <a:srgbClr val="FFFFFF"/>
          </a:solidFill>
          <a:ln w="9525">
            <a:solidFill>
              <a:srgbClr val="E2E8F0"/>
            </a:solidFill>
            <a:prstDash val="solid"/>
          </a:ln>
        </p:spPr>
        <p:txBody>
          <a:bodyPr/>
          <a:lstStyle/>
          <a:p>
            <a:endParaRPr lang="en-US"/>
          </a:p>
        </p:txBody>
      </p:sp>
      <p:sp>
        <p:nvSpPr>
          <p:cNvPr id="26" name="Shape 24"/>
          <p:cNvSpPr/>
          <p:nvPr/>
        </p:nvSpPr>
        <p:spPr>
          <a:xfrm>
            <a:off x="5212080" y="2514600"/>
            <a:ext cx="1078992" cy="109728"/>
          </a:xfrm>
          <a:prstGeom prst="rect">
            <a:avLst/>
          </a:prstGeom>
          <a:solidFill>
            <a:srgbClr val="F59E0B"/>
          </a:solidFill>
          <a:ln w="12700">
            <a:solidFill>
              <a:srgbClr val="F59E0B"/>
            </a:solidFill>
            <a:prstDash val="solid"/>
          </a:ln>
        </p:spPr>
        <p:txBody>
          <a:bodyPr/>
          <a:lstStyle/>
          <a:p>
            <a:endParaRPr lang="en-US"/>
          </a:p>
        </p:txBody>
      </p:sp>
      <p:sp>
        <p:nvSpPr>
          <p:cNvPr id="27" name="Text 25"/>
          <p:cNvSpPr/>
          <p:nvPr/>
        </p:nvSpPr>
        <p:spPr>
          <a:xfrm>
            <a:off x="5303520" y="2697480"/>
            <a:ext cx="896112" cy="36576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Shared / others</a:t>
            </a:r>
            <a:endParaRPr lang="en-US" sz="1300" dirty="0"/>
          </a:p>
        </p:txBody>
      </p:sp>
      <p:sp>
        <p:nvSpPr>
          <p:cNvPr id="28" name="Text 26"/>
          <p:cNvSpPr/>
          <p:nvPr/>
        </p:nvSpPr>
        <p:spPr>
          <a:xfrm>
            <a:off x="5303520" y="3063240"/>
            <a:ext cx="896112" cy="274320"/>
          </a:xfrm>
          <a:prstGeom prst="rect">
            <a:avLst/>
          </a:prstGeom>
          <a:noFill/>
          <a:ln/>
        </p:spPr>
        <p:txBody>
          <a:bodyPr wrap="square" lIns="0" tIns="0" rIns="0" bIns="0" rtlCol="0" anchor="ctr"/>
          <a:lstStyle/>
          <a:p>
            <a:pPr marL="0" indent="0" algn="ctr">
              <a:buNone/>
            </a:pPr>
            <a:r>
              <a:rPr lang="en-US" sz="1000" i="1" dirty="0">
                <a:solidFill>
                  <a:srgbClr val="F59E0B"/>
                </a:solidFill>
                <a:latin typeface="Calibri" pitchFamily="34" charset="0"/>
                <a:ea typeface="Calibri" pitchFamily="34" charset="-122"/>
                <a:cs typeface="Calibri" pitchFamily="34" charset="-120"/>
              </a:rPr>
              <a:t>in progress</a:t>
            </a:r>
            <a:endParaRPr lang="en-US" sz="1000" dirty="0"/>
          </a:p>
        </p:txBody>
      </p:sp>
      <p:sp>
        <p:nvSpPr>
          <p:cNvPr id="29" name="Shape 27"/>
          <p:cNvSpPr/>
          <p:nvPr/>
        </p:nvSpPr>
        <p:spPr>
          <a:xfrm>
            <a:off x="457200" y="3749040"/>
            <a:ext cx="3657600" cy="219456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30" name="Shape 28"/>
          <p:cNvSpPr/>
          <p:nvPr/>
        </p:nvSpPr>
        <p:spPr>
          <a:xfrm>
            <a:off x="457200" y="3749040"/>
            <a:ext cx="73152" cy="2194560"/>
          </a:xfrm>
          <a:prstGeom prst="rect">
            <a:avLst/>
          </a:prstGeom>
          <a:solidFill>
            <a:srgbClr val="0D9488"/>
          </a:solidFill>
          <a:ln w="12700">
            <a:solidFill>
              <a:srgbClr val="0D9488"/>
            </a:solidFill>
            <a:prstDash val="solid"/>
          </a:ln>
        </p:spPr>
        <p:txBody>
          <a:bodyPr/>
          <a:lstStyle/>
          <a:p>
            <a:endParaRPr lang="en-US"/>
          </a:p>
        </p:txBody>
      </p:sp>
      <p:sp>
        <p:nvSpPr>
          <p:cNvPr id="31" name="Text 29"/>
          <p:cNvSpPr/>
          <p:nvPr/>
        </p:nvSpPr>
        <p:spPr>
          <a:xfrm>
            <a:off x="685800" y="3886200"/>
            <a:ext cx="3200400" cy="36576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Azure / PowerBI</a:t>
            </a:r>
            <a:endParaRPr lang="en-US" sz="1600" dirty="0"/>
          </a:p>
        </p:txBody>
      </p:sp>
      <p:sp>
        <p:nvSpPr>
          <p:cNvPr id="32" name="Text 30"/>
          <p:cNvSpPr/>
          <p:nvPr/>
        </p:nvSpPr>
        <p:spPr>
          <a:xfrm>
            <a:off x="685800" y="4297680"/>
            <a:ext cx="3291840" cy="155448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Tenant + capacity provisioned</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Workspace topology defined (dev / test / prod)</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Embedded auth pattern proven against portal</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Row-level security pattern in design</a:t>
            </a:r>
            <a:endParaRPr lang="en-US" sz="1100" dirty="0"/>
          </a:p>
        </p:txBody>
      </p:sp>
      <p:sp>
        <p:nvSpPr>
          <p:cNvPr id="33" name="Shape 31"/>
          <p:cNvSpPr/>
          <p:nvPr/>
        </p:nvSpPr>
        <p:spPr>
          <a:xfrm>
            <a:off x="4297680" y="3749040"/>
            <a:ext cx="3657600" cy="219456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34" name="Shape 32"/>
          <p:cNvSpPr/>
          <p:nvPr/>
        </p:nvSpPr>
        <p:spPr>
          <a:xfrm>
            <a:off x="4297680" y="3749040"/>
            <a:ext cx="73152" cy="2194560"/>
          </a:xfrm>
          <a:prstGeom prst="rect">
            <a:avLst/>
          </a:prstGeom>
          <a:solidFill>
            <a:srgbClr val="0D9488"/>
          </a:solidFill>
          <a:ln w="12700">
            <a:solidFill>
              <a:srgbClr val="0D9488"/>
            </a:solidFill>
            <a:prstDash val="solid"/>
          </a:ln>
        </p:spPr>
        <p:txBody>
          <a:bodyPr/>
          <a:lstStyle/>
          <a:p>
            <a:endParaRPr lang="en-US"/>
          </a:p>
        </p:txBody>
      </p:sp>
      <p:sp>
        <p:nvSpPr>
          <p:cNvPr id="35" name="Text 33"/>
          <p:cNvSpPr/>
          <p:nvPr/>
        </p:nvSpPr>
        <p:spPr>
          <a:xfrm>
            <a:off x="4526280" y="3886200"/>
            <a:ext cx="3200400" cy="36576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CI / CD</a:t>
            </a:r>
            <a:endParaRPr lang="en-US" sz="1600" dirty="0"/>
          </a:p>
        </p:txBody>
      </p:sp>
      <p:sp>
        <p:nvSpPr>
          <p:cNvPr id="36" name="Text 34"/>
          <p:cNvSpPr/>
          <p:nvPr/>
        </p:nvSpPr>
        <p:spPr>
          <a:xfrm>
            <a:off x="4526280" y="4297680"/>
            <a:ext cx="3291840" cy="155448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Pipelines for IaC, services, and dbt models</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Branch protection + required reviews on day one</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Secret scanning and SBOM in baseline pipeline</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Promotion: dev → test → prod with manual gate</a:t>
            </a:r>
            <a:endParaRPr lang="en-US" sz="1100" dirty="0"/>
          </a:p>
        </p:txBody>
      </p:sp>
      <p:sp>
        <p:nvSpPr>
          <p:cNvPr id="37" name="Shape 35"/>
          <p:cNvSpPr/>
          <p:nvPr/>
        </p:nvSpPr>
        <p:spPr>
          <a:xfrm>
            <a:off x="8138160" y="3749040"/>
            <a:ext cx="3596335" cy="219456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38" name="Shape 36"/>
          <p:cNvSpPr/>
          <p:nvPr/>
        </p:nvSpPr>
        <p:spPr>
          <a:xfrm>
            <a:off x="8138160" y="3749040"/>
            <a:ext cx="73152" cy="2194560"/>
          </a:xfrm>
          <a:prstGeom prst="rect">
            <a:avLst/>
          </a:prstGeom>
          <a:solidFill>
            <a:srgbClr val="F59E0B"/>
          </a:solidFill>
          <a:ln w="12700">
            <a:solidFill>
              <a:srgbClr val="F59E0B"/>
            </a:solidFill>
            <a:prstDash val="solid"/>
          </a:ln>
        </p:spPr>
        <p:txBody>
          <a:bodyPr/>
          <a:lstStyle/>
          <a:p>
            <a:endParaRPr lang="en-US"/>
          </a:p>
        </p:txBody>
      </p:sp>
      <p:sp>
        <p:nvSpPr>
          <p:cNvPr id="39" name="Text 37"/>
          <p:cNvSpPr/>
          <p:nvPr/>
        </p:nvSpPr>
        <p:spPr>
          <a:xfrm>
            <a:off x="8366760" y="3886200"/>
            <a:ext cx="3200400" cy="365760"/>
          </a:xfrm>
          <a:prstGeom prst="rect">
            <a:avLst/>
          </a:prstGeom>
          <a:noFill/>
          <a:ln/>
        </p:spPr>
        <p:txBody>
          <a:bodyPr wrap="square" lIns="0" tIns="0" rIns="0" bIns="0" rtlCol="0" anchor="ctr"/>
          <a:lstStyle/>
          <a:p>
            <a:pPr marL="0" indent="0">
              <a:buNone/>
            </a:pPr>
            <a:r>
              <a:rPr lang="en-US" sz="1200" b="1" kern="0" spc="300" dirty="0">
                <a:solidFill>
                  <a:srgbClr val="64748B"/>
                </a:solidFill>
                <a:latin typeface="Calibri" pitchFamily="34" charset="0"/>
                <a:ea typeface="Calibri" pitchFamily="34" charset="-122"/>
                <a:cs typeface="Calibri" pitchFamily="34" charset="-120"/>
              </a:rPr>
              <a:t>Open risk</a:t>
            </a:r>
            <a:endParaRPr lang="en-US" sz="1200" dirty="0"/>
          </a:p>
        </p:txBody>
      </p:sp>
      <p:sp>
        <p:nvSpPr>
          <p:cNvPr id="40" name="Text 38"/>
          <p:cNvSpPr/>
          <p:nvPr/>
        </p:nvSpPr>
        <p:spPr>
          <a:xfrm>
            <a:off x="8366760" y="4206240"/>
            <a:ext cx="3322015" cy="365760"/>
          </a:xfrm>
          <a:prstGeom prst="rect">
            <a:avLst/>
          </a:prstGeom>
          <a:noFill/>
          <a:ln/>
        </p:spPr>
        <p:txBody>
          <a:bodyPr wrap="square" lIns="0" tIns="0" rIns="0" bIns="0"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PCI scope review</a:t>
            </a:r>
            <a:endParaRPr lang="en-US" sz="1400" dirty="0"/>
          </a:p>
        </p:txBody>
      </p:sp>
      <p:sp>
        <p:nvSpPr>
          <p:cNvPr id="41" name="Text 39"/>
          <p:cNvSpPr/>
          <p:nvPr/>
        </p:nvSpPr>
        <p:spPr>
          <a:xfrm>
            <a:off x="8366760" y="4617720"/>
            <a:ext cx="3322015" cy="128016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Final PCI project boundary and control mapping is the long-pole. Active with security partners. Targeting next sprint.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PILLAR 03 — PORTAL</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17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Self-Service Portal</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Where the buyer actually touches JHBI</a:t>
            </a:r>
            <a:endParaRPr lang="en-US" sz="1400" dirty="0"/>
          </a:p>
        </p:txBody>
      </p:sp>
      <p:sp>
        <p:nvSpPr>
          <p:cNvPr id="8" name="Shape 6"/>
          <p:cNvSpPr/>
          <p:nvPr/>
        </p:nvSpPr>
        <p:spPr>
          <a:xfrm>
            <a:off x="457200" y="2103120"/>
            <a:ext cx="2109155" cy="38404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9" name="Shape 7"/>
          <p:cNvSpPr/>
          <p:nvPr/>
        </p:nvSpPr>
        <p:spPr>
          <a:xfrm>
            <a:off x="457200" y="2103120"/>
            <a:ext cx="73152" cy="3840480"/>
          </a:xfrm>
          <a:prstGeom prst="rect">
            <a:avLst/>
          </a:prstGeom>
          <a:solidFill>
            <a:srgbClr val="16A34A"/>
          </a:solidFill>
          <a:ln w="12700">
            <a:solidFill>
              <a:srgbClr val="16A34A"/>
            </a:solidFill>
            <a:prstDash val="solid"/>
          </a:ln>
        </p:spPr>
        <p:txBody>
          <a:bodyPr/>
          <a:lstStyle/>
          <a:p>
            <a:endParaRPr lang="en-US"/>
          </a:p>
        </p:txBody>
      </p:sp>
      <p:sp>
        <p:nvSpPr>
          <p:cNvPr id="10" name="Shape 8"/>
          <p:cNvSpPr/>
          <p:nvPr/>
        </p:nvSpPr>
        <p:spPr>
          <a:xfrm>
            <a:off x="1100298" y="2331720"/>
            <a:ext cx="822960" cy="822960"/>
          </a:xfrm>
          <a:prstGeom prst="ellipse">
            <a:avLst/>
          </a:prstGeom>
          <a:solidFill>
            <a:srgbClr val="16A34A"/>
          </a:solidFill>
          <a:ln w="12700">
            <a:solidFill>
              <a:srgbClr val="16A34A"/>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1255746" y="2468880"/>
            <a:ext cx="512064" cy="512064"/>
          </a:xfrm>
          <a:prstGeom prst="rect">
            <a:avLst/>
          </a:prstGeom>
        </p:spPr>
      </p:pic>
      <p:sp>
        <p:nvSpPr>
          <p:cNvPr id="12" name="Text 9"/>
          <p:cNvSpPr/>
          <p:nvPr/>
        </p:nvSpPr>
        <p:spPr>
          <a:xfrm>
            <a:off x="594360" y="3291840"/>
            <a:ext cx="1834835" cy="50292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User mgmt + RBAC</a:t>
            </a:r>
            <a:endParaRPr lang="en-US" sz="1300" dirty="0"/>
          </a:p>
        </p:txBody>
      </p:sp>
      <p:sp>
        <p:nvSpPr>
          <p:cNvPr id="13" name="Shape 10"/>
          <p:cNvSpPr/>
          <p:nvPr/>
        </p:nvSpPr>
        <p:spPr>
          <a:xfrm>
            <a:off x="917418" y="3840480"/>
            <a:ext cx="1188720" cy="292608"/>
          </a:xfrm>
          <a:prstGeom prst="roundRect">
            <a:avLst>
              <a:gd name="adj" fmla="val 50000"/>
            </a:avLst>
          </a:prstGeom>
          <a:solidFill>
            <a:srgbClr val="16A34A"/>
          </a:solidFill>
          <a:ln w="12700">
            <a:solidFill>
              <a:srgbClr val="16A34A"/>
            </a:solidFill>
            <a:prstDash val="solid"/>
          </a:ln>
        </p:spPr>
        <p:txBody>
          <a:bodyPr/>
          <a:lstStyle/>
          <a:p>
            <a:endParaRPr lang="en-US"/>
          </a:p>
        </p:txBody>
      </p:sp>
      <p:sp>
        <p:nvSpPr>
          <p:cNvPr id="14" name="Text 11"/>
          <p:cNvSpPr/>
          <p:nvPr/>
        </p:nvSpPr>
        <p:spPr>
          <a:xfrm>
            <a:off x="917418" y="3840480"/>
            <a:ext cx="1188720" cy="292608"/>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LIVE</a:t>
            </a:r>
            <a:endParaRPr lang="en-US" sz="900" dirty="0"/>
          </a:p>
        </p:txBody>
      </p:sp>
      <p:sp>
        <p:nvSpPr>
          <p:cNvPr id="15" name="Text 12"/>
          <p:cNvSpPr/>
          <p:nvPr/>
        </p:nvSpPr>
        <p:spPr>
          <a:xfrm>
            <a:off x="594360" y="4297680"/>
            <a:ext cx="1834835" cy="146304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AD-backed, role model defined, audit log</a:t>
            </a:r>
            <a:endParaRPr lang="en-US" sz="1000" dirty="0"/>
          </a:p>
        </p:txBody>
      </p:sp>
      <p:sp>
        <p:nvSpPr>
          <p:cNvPr id="16" name="Shape 13"/>
          <p:cNvSpPr/>
          <p:nvPr/>
        </p:nvSpPr>
        <p:spPr>
          <a:xfrm>
            <a:off x="2749235" y="2103120"/>
            <a:ext cx="2109155" cy="38404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7" name="Shape 14"/>
          <p:cNvSpPr/>
          <p:nvPr/>
        </p:nvSpPr>
        <p:spPr>
          <a:xfrm>
            <a:off x="2749235" y="2103120"/>
            <a:ext cx="73152" cy="3840480"/>
          </a:xfrm>
          <a:prstGeom prst="rect">
            <a:avLst/>
          </a:prstGeom>
          <a:solidFill>
            <a:srgbClr val="16A34A"/>
          </a:solidFill>
          <a:ln w="12700">
            <a:solidFill>
              <a:srgbClr val="16A34A"/>
            </a:solidFill>
            <a:prstDash val="solid"/>
          </a:ln>
        </p:spPr>
        <p:txBody>
          <a:bodyPr/>
          <a:lstStyle/>
          <a:p>
            <a:endParaRPr lang="en-US"/>
          </a:p>
        </p:txBody>
      </p:sp>
      <p:sp>
        <p:nvSpPr>
          <p:cNvPr id="18" name="Shape 15"/>
          <p:cNvSpPr/>
          <p:nvPr/>
        </p:nvSpPr>
        <p:spPr>
          <a:xfrm>
            <a:off x="3392333" y="2331720"/>
            <a:ext cx="822960" cy="822960"/>
          </a:xfrm>
          <a:prstGeom prst="ellipse">
            <a:avLst/>
          </a:prstGeom>
          <a:solidFill>
            <a:srgbClr val="16A34A"/>
          </a:solidFill>
          <a:ln w="12700">
            <a:solidFill>
              <a:srgbClr val="16A34A"/>
            </a:solidFill>
            <a:prstDash val="solid"/>
          </a:ln>
        </p:spPr>
        <p:txBody>
          <a:bodyPr/>
          <a:lstStyle/>
          <a:p>
            <a:endParaRPr lang="en-US"/>
          </a:p>
        </p:txBody>
      </p:sp>
      <p:pic>
        <p:nvPicPr>
          <p:cNvPr id="19" name="Image 1" descr="preencoded.png"/>
          <p:cNvPicPr>
            <a:picLocks noChangeAspect="1"/>
          </p:cNvPicPr>
          <p:nvPr/>
        </p:nvPicPr>
        <p:blipFill>
          <a:blip r:embed="rId4"/>
          <a:stretch>
            <a:fillRect/>
          </a:stretch>
        </p:blipFill>
        <p:spPr>
          <a:xfrm>
            <a:off x="3547781" y="2468880"/>
            <a:ext cx="512064" cy="512064"/>
          </a:xfrm>
          <a:prstGeom prst="rect">
            <a:avLst/>
          </a:prstGeom>
        </p:spPr>
      </p:pic>
      <p:sp>
        <p:nvSpPr>
          <p:cNvPr id="20" name="Text 16"/>
          <p:cNvSpPr/>
          <p:nvPr/>
        </p:nvSpPr>
        <p:spPr>
          <a:xfrm>
            <a:off x="2886395" y="3291840"/>
            <a:ext cx="1834835" cy="50292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Embedded PowerBI</a:t>
            </a:r>
            <a:endParaRPr lang="en-US" sz="1300" dirty="0"/>
          </a:p>
        </p:txBody>
      </p:sp>
      <p:sp>
        <p:nvSpPr>
          <p:cNvPr id="21" name="Shape 17"/>
          <p:cNvSpPr/>
          <p:nvPr/>
        </p:nvSpPr>
        <p:spPr>
          <a:xfrm>
            <a:off x="3209453" y="3840480"/>
            <a:ext cx="1188720" cy="292608"/>
          </a:xfrm>
          <a:prstGeom prst="roundRect">
            <a:avLst>
              <a:gd name="adj" fmla="val 50000"/>
            </a:avLst>
          </a:prstGeom>
          <a:solidFill>
            <a:srgbClr val="16A34A"/>
          </a:solidFill>
          <a:ln w="12700">
            <a:solidFill>
              <a:srgbClr val="16A34A"/>
            </a:solidFill>
            <a:prstDash val="solid"/>
          </a:ln>
        </p:spPr>
        <p:txBody>
          <a:bodyPr/>
          <a:lstStyle/>
          <a:p>
            <a:endParaRPr lang="en-US"/>
          </a:p>
        </p:txBody>
      </p:sp>
      <p:sp>
        <p:nvSpPr>
          <p:cNvPr id="22" name="Text 18"/>
          <p:cNvSpPr/>
          <p:nvPr/>
        </p:nvSpPr>
        <p:spPr>
          <a:xfrm>
            <a:off x="3209453" y="3840480"/>
            <a:ext cx="1188720" cy="292608"/>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LIVE</a:t>
            </a:r>
            <a:endParaRPr lang="en-US" sz="900" dirty="0"/>
          </a:p>
        </p:txBody>
      </p:sp>
      <p:sp>
        <p:nvSpPr>
          <p:cNvPr id="23" name="Text 19"/>
          <p:cNvSpPr/>
          <p:nvPr/>
        </p:nvSpPr>
        <p:spPr>
          <a:xfrm>
            <a:off x="2886395" y="4297680"/>
            <a:ext cx="1834835" cy="146304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Auth flow + workspace mapping working</a:t>
            </a:r>
            <a:endParaRPr lang="en-US" sz="1000" dirty="0"/>
          </a:p>
        </p:txBody>
      </p:sp>
      <p:sp>
        <p:nvSpPr>
          <p:cNvPr id="24" name="Shape 20"/>
          <p:cNvSpPr/>
          <p:nvPr/>
        </p:nvSpPr>
        <p:spPr>
          <a:xfrm>
            <a:off x="5041270" y="2103120"/>
            <a:ext cx="2109155" cy="38404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5" name="Shape 21"/>
          <p:cNvSpPr/>
          <p:nvPr/>
        </p:nvSpPr>
        <p:spPr>
          <a:xfrm>
            <a:off x="5041270" y="2103120"/>
            <a:ext cx="73152" cy="3840480"/>
          </a:xfrm>
          <a:prstGeom prst="rect">
            <a:avLst/>
          </a:prstGeom>
          <a:solidFill>
            <a:srgbClr val="F59E0B"/>
          </a:solidFill>
          <a:ln w="12700">
            <a:solidFill>
              <a:srgbClr val="F59E0B"/>
            </a:solidFill>
            <a:prstDash val="solid"/>
          </a:ln>
        </p:spPr>
        <p:txBody>
          <a:bodyPr/>
          <a:lstStyle/>
          <a:p>
            <a:endParaRPr lang="en-US"/>
          </a:p>
        </p:txBody>
      </p:sp>
      <p:sp>
        <p:nvSpPr>
          <p:cNvPr id="26" name="Shape 22"/>
          <p:cNvSpPr/>
          <p:nvPr/>
        </p:nvSpPr>
        <p:spPr>
          <a:xfrm>
            <a:off x="5684368" y="2331720"/>
            <a:ext cx="822960" cy="822960"/>
          </a:xfrm>
          <a:prstGeom prst="ellipse">
            <a:avLst/>
          </a:prstGeom>
          <a:solidFill>
            <a:srgbClr val="F59E0B"/>
          </a:solidFill>
          <a:ln w="12700">
            <a:solidFill>
              <a:srgbClr val="F59E0B"/>
            </a:solidFill>
            <a:prstDash val="solid"/>
          </a:ln>
        </p:spPr>
        <p:txBody>
          <a:bodyPr/>
          <a:lstStyle/>
          <a:p>
            <a:endParaRPr lang="en-US"/>
          </a:p>
        </p:txBody>
      </p:sp>
      <p:pic>
        <p:nvPicPr>
          <p:cNvPr id="27" name="Image 2" descr="preencoded.png"/>
          <p:cNvPicPr>
            <a:picLocks noChangeAspect="1"/>
          </p:cNvPicPr>
          <p:nvPr/>
        </p:nvPicPr>
        <p:blipFill>
          <a:blip r:embed="rId5"/>
          <a:stretch>
            <a:fillRect/>
          </a:stretch>
        </p:blipFill>
        <p:spPr>
          <a:xfrm>
            <a:off x="5839816" y="2468880"/>
            <a:ext cx="512064" cy="512064"/>
          </a:xfrm>
          <a:prstGeom prst="rect">
            <a:avLst/>
          </a:prstGeom>
        </p:spPr>
      </p:pic>
      <p:sp>
        <p:nvSpPr>
          <p:cNvPr id="28" name="Text 23"/>
          <p:cNvSpPr/>
          <p:nvPr/>
        </p:nvSpPr>
        <p:spPr>
          <a:xfrm>
            <a:off x="5178430" y="3291840"/>
            <a:ext cx="1834835" cy="50292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AI-assisted query builder</a:t>
            </a:r>
            <a:endParaRPr lang="en-US" sz="1300" dirty="0"/>
          </a:p>
        </p:txBody>
      </p:sp>
      <p:sp>
        <p:nvSpPr>
          <p:cNvPr id="29" name="Shape 24"/>
          <p:cNvSpPr/>
          <p:nvPr/>
        </p:nvSpPr>
        <p:spPr>
          <a:xfrm>
            <a:off x="5501488" y="3840480"/>
            <a:ext cx="1188720" cy="292608"/>
          </a:xfrm>
          <a:prstGeom prst="roundRect">
            <a:avLst>
              <a:gd name="adj" fmla="val 50000"/>
            </a:avLst>
          </a:prstGeom>
          <a:solidFill>
            <a:srgbClr val="F59E0B"/>
          </a:solidFill>
          <a:ln w="12700">
            <a:solidFill>
              <a:srgbClr val="F59E0B"/>
            </a:solidFill>
            <a:prstDash val="solid"/>
          </a:ln>
        </p:spPr>
        <p:txBody>
          <a:bodyPr/>
          <a:lstStyle/>
          <a:p>
            <a:endParaRPr lang="en-US"/>
          </a:p>
        </p:txBody>
      </p:sp>
      <p:sp>
        <p:nvSpPr>
          <p:cNvPr id="30" name="Text 25"/>
          <p:cNvSpPr/>
          <p:nvPr/>
        </p:nvSpPr>
        <p:spPr>
          <a:xfrm>
            <a:off x="5501488" y="3840480"/>
            <a:ext cx="1188720" cy="292608"/>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IN PROGRESS</a:t>
            </a:r>
            <a:endParaRPr lang="en-US" sz="900" dirty="0"/>
          </a:p>
        </p:txBody>
      </p:sp>
      <p:sp>
        <p:nvSpPr>
          <p:cNvPr id="31" name="Text 26"/>
          <p:cNvSpPr/>
          <p:nvPr/>
        </p:nvSpPr>
        <p:spPr>
          <a:xfrm>
            <a:off x="5178430" y="4297680"/>
            <a:ext cx="1834835" cy="146304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NL → SQL prototype against silver layer</a:t>
            </a:r>
            <a:endParaRPr lang="en-US" sz="1000" dirty="0"/>
          </a:p>
        </p:txBody>
      </p:sp>
      <p:sp>
        <p:nvSpPr>
          <p:cNvPr id="32" name="Shape 27"/>
          <p:cNvSpPr/>
          <p:nvPr/>
        </p:nvSpPr>
        <p:spPr>
          <a:xfrm>
            <a:off x="7333305" y="2103120"/>
            <a:ext cx="2109155" cy="38404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33" name="Shape 28"/>
          <p:cNvSpPr/>
          <p:nvPr/>
        </p:nvSpPr>
        <p:spPr>
          <a:xfrm>
            <a:off x="7333305" y="2103120"/>
            <a:ext cx="73152" cy="3840480"/>
          </a:xfrm>
          <a:prstGeom prst="rect">
            <a:avLst/>
          </a:prstGeom>
          <a:solidFill>
            <a:srgbClr val="F59E0B"/>
          </a:solidFill>
          <a:ln w="12700">
            <a:solidFill>
              <a:srgbClr val="F59E0B"/>
            </a:solidFill>
            <a:prstDash val="solid"/>
          </a:ln>
        </p:spPr>
        <p:txBody>
          <a:bodyPr/>
          <a:lstStyle/>
          <a:p>
            <a:endParaRPr lang="en-US"/>
          </a:p>
        </p:txBody>
      </p:sp>
      <p:sp>
        <p:nvSpPr>
          <p:cNvPr id="34" name="Shape 29"/>
          <p:cNvSpPr/>
          <p:nvPr/>
        </p:nvSpPr>
        <p:spPr>
          <a:xfrm>
            <a:off x="7976403" y="2331720"/>
            <a:ext cx="822960" cy="822960"/>
          </a:xfrm>
          <a:prstGeom prst="ellipse">
            <a:avLst/>
          </a:prstGeom>
          <a:solidFill>
            <a:srgbClr val="F59E0B"/>
          </a:solidFill>
          <a:ln w="12700">
            <a:solidFill>
              <a:srgbClr val="F59E0B"/>
            </a:solidFill>
            <a:prstDash val="solid"/>
          </a:ln>
        </p:spPr>
        <p:txBody>
          <a:bodyPr/>
          <a:lstStyle/>
          <a:p>
            <a:endParaRPr lang="en-US"/>
          </a:p>
        </p:txBody>
      </p:sp>
      <p:pic>
        <p:nvPicPr>
          <p:cNvPr id="35" name="Image 3" descr="preencoded.png"/>
          <p:cNvPicPr>
            <a:picLocks noChangeAspect="1"/>
          </p:cNvPicPr>
          <p:nvPr/>
        </p:nvPicPr>
        <p:blipFill>
          <a:blip r:embed="rId6"/>
          <a:stretch>
            <a:fillRect/>
          </a:stretch>
        </p:blipFill>
        <p:spPr>
          <a:xfrm>
            <a:off x="8131851" y="2468880"/>
            <a:ext cx="512064" cy="512064"/>
          </a:xfrm>
          <a:prstGeom prst="rect">
            <a:avLst/>
          </a:prstGeom>
        </p:spPr>
      </p:pic>
      <p:sp>
        <p:nvSpPr>
          <p:cNvPr id="36" name="Text 30"/>
          <p:cNvSpPr/>
          <p:nvPr/>
        </p:nvSpPr>
        <p:spPr>
          <a:xfrm>
            <a:off x="7470465" y="3291840"/>
            <a:ext cx="1834835" cy="50292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Pipeline status page</a:t>
            </a:r>
            <a:endParaRPr lang="en-US" sz="1300" dirty="0"/>
          </a:p>
        </p:txBody>
      </p:sp>
      <p:sp>
        <p:nvSpPr>
          <p:cNvPr id="37" name="Shape 31"/>
          <p:cNvSpPr/>
          <p:nvPr/>
        </p:nvSpPr>
        <p:spPr>
          <a:xfrm>
            <a:off x="7793523" y="3840480"/>
            <a:ext cx="1188720" cy="292608"/>
          </a:xfrm>
          <a:prstGeom prst="roundRect">
            <a:avLst>
              <a:gd name="adj" fmla="val 50000"/>
            </a:avLst>
          </a:prstGeom>
          <a:solidFill>
            <a:srgbClr val="F59E0B"/>
          </a:solidFill>
          <a:ln w="12700">
            <a:solidFill>
              <a:srgbClr val="F59E0B"/>
            </a:solidFill>
            <a:prstDash val="solid"/>
          </a:ln>
        </p:spPr>
        <p:txBody>
          <a:bodyPr/>
          <a:lstStyle/>
          <a:p>
            <a:endParaRPr lang="en-US"/>
          </a:p>
        </p:txBody>
      </p:sp>
      <p:sp>
        <p:nvSpPr>
          <p:cNvPr id="38" name="Text 32"/>
          <p:cNvSpPr/>
          <p:nvPr/>
        </p:nvSpPr>
        <p:spPr>
          <a:xfrm>
            <a:off x="7793523" y="3840480"/>
            <a:ext cx="1188720" cy="292608"/>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IN PROGRESS</a:t>
            </a:r>
            <a:endParaRPr lang="en-US" sz="900" dirty="0"/>
          </a:p>
        </p:txBody>
      </p:sp>
      <p:sp>
        <p:nvSpPr>
          <p:cNvPr id="39" name="Text 33"/>
          <p:cNvSpPr/>
          <p:nvPr/>
        </p:nvSpPr>
        <p:spPr>
          <a:xfrm>
            <a:off x="7470465" y="4297680"/>
            <a:ext cx="1834835" cy="146304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Surface ingestion + dbt run health</a:t>
            </a:r>
            <a:endParaRPr lang="en-US" sz="1000" dirty="0"/>
          </a:p>
        </p:txBody>
      </p:sp>
      <p:sp>
        <p:nvSpPr>
          <p:cNvPr id="40" name="Shape 34"/>
          <p:cNvSpPr/>
          <p:nvPr/>
        </p:nvSpPr>
        <p:spPr>
          <a:xfrm>
            <a:off x="9625340" y="2103120"/>
            <a:ext cx="2109155" cy="38404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41" name="Shape 35"/>
          <p:cNvSpPr/>
          <p:nvPr/>
        </p:nvSpPr>
        <p:spPr>
          <a:xfrm>
            <a:off x="9625340" y="2103120"/>
            <a:ext cx="73152" cy="3840480"/>
          </a:xfrm>
          <a:prstGeom prst="rect">
            <a:avLst/>
          </a:prstGeom>
          <a:solidFill>
            <a:srgbClr val="0D9488"/>
          </a:solidFill>
          <a:ln w="12700">
            <a:solidFill>
              <a:srgbClr val="0D9488"/>
            </a:solidFill>
            <a:prstDash val="solid"/>
          </a:ln>
        </p:spPr>
        <p:txBody>
          <a:bodyPr/>
          <a:lstStyle/>
          <a:p>
            <a:endParaRPr lang="en-US"/>
          </a:p>
        </p:txBody>
      </p:sp>
      <p:sp>
        <p:nvSpPr>
          <p:cNvPr id="42" name="Shape 36"/>
          <p:cNvSpPr/>
          <p:nvPr/>
        </p:nvSpPr>
        <p:spPr>
          <a:xfrm>
            <a:off x="10268438" y="2331720"/>
            <a:ext cx="822960" cy="822960"/>
          </a:xfrm>
          <a:prstGeom prst="ellipse">
            <a:avLst/>
          </a:prstGeom>
          <a:solidFill>
            <a:srgbClr val="0D9488"/>
          </a:solidFill>
          <a:ln w="12700">
            <a:solidFill>
              <a:srgbClr val="0D9488"/>
            </a:solidFill>
            <a:prstDash val="solid"/>
          </a:ln>
        </p:spPr>
        <p:txBody>
          <a:bodyPr/>
          <a:lstStyle/>
          <a:p>
            <a:endParaRPr lang="en-US"/>
          </a:p>
        </p:txBody>
      </p:sp>
      <p:pic>
        <p:nvPicPr>
          <p:cNvPr id="43" name="Image 4" descr="preencoded.png"/>
          <p:cNvPicPr>
            <a:picLocks noChangeAspect="1"/>
          </p:cNvPicPr>
          <p:nvPr/>
        </p:nvPicPr>
        <p:blipFill>
          <a:blip r:embed="rId7"/>
          <a:stretch>
            <a:fillRect/>
          </a:stretch>
        </p:blipFill>
        <p:spPr>
          <a:xfrm>
            <a:off x="10423886" y="2468880"/>
            <a:ext cx="512064" cy="512064"/>
          </a:xfrm>
          <a:prstGeom prst="rect">
            <a:avLst/>
          </a:prstGeom>
        </p:spPr>
      </p:pic>
      <p:sp>
        <p:nvSpPr>
          <p:cNvPr id="44" name="Text 37"/>
          <p:cNvSpPr/>
          <p:nvPr/>
        </p:nvSpPr>
        <p:spPr>
          <a:xfrm>
            <a:off x="9762500" y="3291840"/>
            <a:ext cx="1834835" cy="50292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Alation data catalog</a:t>
            </a:r>
            <a:endParaRPr lang="en-US" sz="1300" dirty="0"/>
          </a:p>
        </p:txBody>
      </p:sp>
      <p:sp>
        <p:nvSpPr>
          <p:cNvPr id="45" name="Shape 38"/>
          <p:cNvSpPr/>
          <p:nvPr/>
        </p:nvSpPr>
        <p:spPr>
          <a:xfrm>
            <a:off x="10085558" y="3840480"/>
            <a:ext cx="1188720" cy="292608"/>
          </a:xfrm>
          <a:prstGeom prst="roundRect">
            <a:avLst>
              <a:gd name="adj" fmla="val 50000"/>
            </a:avLst>
          </a:prstGeom>
          <a:solidFill>
            <a:srgbClr val="0D9488"/>
          </a:solidFill>
          <a:ln w="12700">
            <a:solidFill>
              <a:srgbClr val="0D9488"/>
            </a:solidFill>
            <a:prstDash val="solid"/>
          </a:ln>
        </p:spPr>
        <p:txBody>
          <a:bodyPr/>
          <a:lstStyle/>
          <a:p>
            <a:endParaRPr lang="en-US"/>
          </a:p>
        </p:txBody>
      </p:sp>
      <p:sp>
        <p:nvSpPr>
          <p:cNvPr id="46" name="Text 39"/>
          <p:cNvSpPr/>
          <p:nvPr/>
        </p:nvSpPr>
        <p:spPr>
          <a:xfrm>
            <a:off x="10085558" y="3840480"/>
            <a:ext cx="1188720" cy="292608"/>
          </a:xfrm>
          <a:prstGeom prst="rect">
            <a:avLst/>
          </a:prstGeom>
          <a:noFill/>
          <a:ln/>
        </p:spPr>
        <p:txBody>
          <a:bodyPr wrap="square" lIns="0" tIns="0" rIns="0" bIns="0" rtlCol="0" anchor="ctr"/>
          <a:lstStyle/>
          <a:p>
            <a:pPr marL="0" indent="0" algn="ctr">
              <a:buNone/>
            </a:pPr>
            <a:r>
              <a:rPr lang="en-US" sz="900" b="1" kern="0" spc="300" dirty="0">
                <a:solidFill>
                  <a:srgbClr val="FFFFFF"/>
                </a:solidFill>
                <a:latin typeface="Calibri" pitchFamily="34" charset="0"/>
                <a:ea typeface="Calibri" pitchFamily="34" charset="-122"/>
                <a:cs typeface="Calibri" pitchFamily="34" charset="-120"/>
              </a:rPr>
              <a:t>DESIGN</a:t>
            </a:r>
            <a:endParaRPr lang="en-US" sz="900" dirty="0"/>
          </a:p>
        </p:txBody>
      </p:sp>
      <p:sp>
        <p:nvSpPr>
          <p:cNvPr id="47" name="Text 40"/>
          <p:cNvSpPr/>
          <p:nvPr/>
        </p:nvSpPr>
        <p:spPr>
          <a:xfrm>
            <a:off x="9762500" y="4297680"/>
            <a:ext cx="1834835" cy="146304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Catalog model + first sources mapped</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PILLAR 04 — BACKEND</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18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Backend — six sources of payment data</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All roads lead to the medallion</a:t>
            </a:r>
            <a:endParaRPr lang="en-US" sz="1400" dirty="0"/>
          </a:p>
        </p:txBody>
      </p:sp>
      <p:sp>
        <p:nvSpPr>
          <p:cNvPr id="8" name="Shape 6"/>
          <p:cNvSpPr/>
          <p:nvPr/>
        </p:nvSpPr>
        <p:spPr>
          <a:xfrm>
            <a:off x="457200" y="2103120"/>
            <a:ext cx="3637178" cy="128016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9" name="Shape 7"/>
          <p:cNvSpPr/>
          <p:nvPr/>
        </p:nvSpPr>
        <p:spPr>
          <a:xfrm>
            <a:off x="457200" y="2103120"/>
            <a:ext cx="73152" cy="1280160"/>
          </a:xfrm>
          <a:prstGeom prst="rect">
            <a:avLst/>
          </a:prstGeom>
          <a:solidFill>
            <a:srgbClr val="0D9488"/>
          </a:solidFill>
          <a:ln w="12700">
            <a:solidFill>
              <a:srgbClr val="0D9488"/>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685800" y="2423160"/>
            <a:ext cx="548640" cy="548640"/>
          </a:xfrm>
          <a:prstGeom prst="rect">
            <a:avLst/>
          </a:prstGeom>
        </p:spPr>
      </p:pic>
      <p:sp>
        <p:nvSpPr>
          <p:cNvPr id="11" name="Shape 8"/>
          <p:cNvSpPr/>
          <p:nvPr/>
        </p:nvSpPr>
        <p:spPr>
          <a:xfrm>
            <a:off x="4277258" y="2103120"/>
            <a:ext cx="3637178" cy="128016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2" name="Shape 9"/>
          <p:cNvSpPr/>
          <p:nvPr/>
        </p:nvSpPr>
        <p:spPr>
          <a:xfrm>
            <a:off x="4277258" y="2103120"/>
            <a:ext cx="73152" cy="1280160"/>
          </a:xfrm>
          <a:prstGeom prst="rect">
            <a:avLst/>
          </a:prstGeom>
          <a:solidFill>
            <a:srgbClr val="0D9488"/>
          </a:solidFill>
          <a:ln w="12700">
            <a:solidFill>
              <a:srgbClr val="0D9488"/>
            </a:solidFill>
            <a:prstDash val="solid"/>
          </a:ln>
        </p:spPr>
        <p:txBody>
          <a:bodyPr/>
          <a:lstStyle/>
          <a:p>
            <a:endParaRPr lang="en-US"/>
          </a:p>
        </p:txBody>
      </p:sp>
      <p:pic>
        <p:nvPicPr>
          <p:cNvPr id="13" name="Image 1" descr="preencoded.png"/>
          <p:cNvPicPr>
            <a:picLocks noChangeAspect="1"/>
          </p:cNvPicPr>
          <p:nvPr/>
        </p:nvPicPr>
        <p:blipFill>
          <a:blip r:embed="rId3"/>
          <a:stretch>
            <a:fillRect/>
          </a:stretch>
        </p:blipFill>
        <p:spPr>
          <a:xfrm>
            <a:off x="4505858" y="2423160"/>
            <a:ext cx="548640" cy="548640"/>
          </a:xfrm>
          <a:prstGeom prst="rect">
            <a:avLst/>
          </a:prstGeom>
        </p:spPr>
      </p:pic>
      <p:sp>
        <p:nvSpPr>
          <p:cNvPr id="14" name="Shape 10"/>
          <p:cNvSpPr/>
          <p:nvPr/>
        </p:nvSpPr>
        <p:spPr>
          <a:xfrm>
            <a:off x="8097317" y="2103120"/>
            <a:ext cx="3637178" cy="128016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5" name="Shape 11"/>
          <p:cNvSpPr/>
          <p:nvPr/>
        </p:nvSpPr>
        <p:spPr>
          <a:xfrm>
            <a:off x="8097317" y="2103120"/>
            <a:ext cx="73152" cy="1280160"/>
          </a:xfrm>
          <a:prstGeom prst="rect">
            <a:avLst/>
          </a:prstGeom>
          <a:solidFill>
            <a:srgbClr val="0D9488"/>
          </a:solidFill>
          <a:ln w="12700">
            <a:solidFill>
              <a:srgbClr val="0D9488"/>
            </a:solidFill>
            <a:prstDash val="solid"/>
          </a:ln>
        </p:spPr>
        <p:txBody>
          <a:bodyPr/>
          <a:lstStyle/>
          <a:p>
            <a:endParaRPr lang="en-US"/>
          </a:p>
        </p:txBody>
      </p:sp>
      <p:pic>
        <p:nvPicPr>
          <p:cNvPr id="16" name="Image 2" descr="preencoded.png"/>
          <p:cNvPicPr>
            <a:picLocks noChangeAspect="1"/>
          </p:cNvPicPr>
          <p:nvPr/>
        </p:nvPicPr>
        <p:blipFill>
          <a:blip r:embed="rId3"/>
          <a:stretch>
            <a:fillRect/>
          </a:stretch>
        </p:blipFill>
        <p:spPr>
          <a:xfrm>
            <a:off x="8325917" y="2423160"/>
            <a:ext cx="548640" cy="548640"/>
          </a:xfrm>
          <a:prstGeom prst="rect">
            <a:avLst/>
          </a:prstGeom>
        </p:spPr>
      </p:pic>
      <p:sp>
        <p:nvSpPr>
          <p:cNvPr id="17" name="Shape 12"/>
          <p:cNvSpPr/>
          <p:nvPr/>
        </p:nvSpPr>
        <p:spPr>
          <a:xfrm>
            <a:off x="457200" y="3566160"/>
            <a:ext cx="3637178" cy="128016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8" name="Shape 13"/>
          <p:cNvSpPr/>
          <p:nvPr/>
        </p:nvSpPr>
        <p:spPr>
          <a:xfrm>
            <a:off x="457200" y="3566160"/>
            <a:ext cx="73152" cy="1280160"/>
          </a:xfrm>
          <a:prstGeom prst="rect">
            <a:avLst/>
          </a:prstGeom>
          <a:solidFill>
            <a:srgbClr val="0D9488"/>
          </a:solidFill>
          <a:ln w="12700">
            <a:solidFill>
              <a:srgbClr val="0D9488"/>
            </a:solidFill>
            <a:prstDash val="solid"/>
          </a:ln>
        </p:spPr>
        <p:txBody>
          <a:bodyPr/>
          <a:lstStyle/>
          <a:p>
            <a:endParaRPr lang="en-US"/>
          </a:p>
        </p:txBody>
      </p:sp>
      <p:pic>
        <p:nvPicPr>
          <p:cNvPr id="19" name="Image 3" descr="preencoded.png"/>
          <p:cNvPicPr>
            <a:picLocks noChangeAspect="1"/>
          </p:cNvPicPr>
          <p:nvPr/>
        </p:nvPicPr>
        <p:blipFill>
          <a:blip r:embed="rId3"/>
          <a:stretch>
            <a:fillRect/>
          </a:stretch>
        </p:blipFill>
        <p:spPr>
          <a:xfrm>
            <a:off x="685800" y="3886200"/>
            <a:ext cx="548640" cy="548640"/>
          </a:xfrm>
          <a:prstGeom prst="rect">
            <a:avLst/>
          </a:prstGeom>
        </p:spPr>
      </p:pic>
      <p:sp>
        <p:nvSpPr>
          <p:cNvPr id="20" name="Shape 14"/>
          <p:cNvSpPr/>
          <p:nvPr/>
        </p:nvSpPr>
        <p:spPr>
          <a:xfrm>
            <a:off x="4277258" y="3566160"/>
            <a:ext cx="3637178" cy="128016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1" name="Shape 15"/>
          <p:cNvSpPr/>
          <p:nvPr/>
        </p:nvSpPr>
        <p:spPr>
          <a:xfrm>
            <a:off x="4277258" y="3566160"/>
            <a:ext cx="73152" cy="1280160"/>
          </a:xfrm>
          <a:prstGeom prst="rect">
            <a:avLst/>
          </a:prstGeom>
          <a:solidFill>
            <a:srgbClr val="0D9488"/>
          </a:solidFill>
          <a:ln w="12700">
            <a:solidFill>
              <a:srgbClr val="0D9488"/>
            </a:solidFill>
            <a:prstDash val="solid"/>
          </a:ln>
        </p:spPr>
        <p:txBody>
          <a:bodyPr/>
          <a:lstStyle/>
          <a:p>
            <a:endParaRPr lang="en-US"/>
          </a:p>
        </p:txBody>
      </p:sp>
      <p:pic>
        <p:nvPicPr>
          <p:cNvPr id="22" name="Image 4" descr="preencoded.png"/>
          <p:cNvPicPr>
            <a:picLocks noChangeAspect="1"/>
          </p:cNvPicPr>
          <p:nvPr/>
        </p:nvPicPr>
        <p:blipFill>
          <a:blip r:embed="rId3"/>
          <a:stretch>
            <a:fillRect/>
          </a:stretch>
        </p:blipFill>
        <p:spPr>
          <a:xfrm>
            <a:off x="4505858" y="3886200"/>
            <a:ext cx="548640" cy="548640"/>
          </a:xfrm>
          <a:prstGeom prst="rect">
            <a:avLst/>
          </a:prstGeom>
        </p:spPr>
      </p:pic>
      <p:sp>
        <p:nvSpPr>
          <p:cNvPr id="23" name="Shape 16"/>
          <p:cNvSpPr/>
          <p:nvPr/>
        </p:nvSpPr>
        <p:spPr>
          <a:xfrm>
            <a:off x="8097317" y="3566160"/>
            <a:ext cx="3637178" cy="128016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4" name="Shape 17"/>
          <p:cNvSpPr/>
          <p:nvPr/>
        </p:nvSpPr>
        <p:spPr>
          <a:xfrm>
            <a:off x="8097317" y="3566160"/>
            <a:ext cx="73152" cy="1280160"/>
          </a:xfrm>
          <a:prstGeom prst="rect">
            <a:avLst/>
          </a:prstGeom>
          <a:solidFill>
            <a:srgbClr val="0D9488"/>
          </a:solidFill>
          <a:ln w="12700">
            <a:solidFill>
              <a:srgbClr val="0D9488"/>
            </a:solidFill>
            <a:prstDash val="solid"/>
          </a:ln>
        </p:spPr>
        <p:txBody>
          <a:bodyPr/>
          <a:lstStyle/>
          <a:p>
            <a:endParaRPr lang="en-US"/>
          </a:p>
        </p:txBody>
      </p:sp>
      <p:pic>
        <p:nvPicPr>
          <p:cNvPr id="25" name="Image 5" descr="preencoded.png"/>
          <p:cNvPicPr>
            <a:picLocks noChangeAspect="1"/>
          </p:cNvPicPr>
          <p:nvPr/>
        </p:nvPicPr>
        <p:blipFill>
          <a:blip r:embed="rId3"/>
          <a:stretch>
            <a:fillRect/>
          </a:stretch>
        </p:blipFill>
        <p:spPr>
          <a:xfrm>
            <a:off x="8325917" y="3886200"/>
            <a:ext cx="548640" cy="548640"/>
          </a:xfrm>
          <a:prstGeom prst="rect">
            <a:avLst/>
          </a:prstGeom>
        </p:spPr>
      </p:pic>
      <p:sp>
        <p:nvSpPr>
          <p:cNvPr id="26" name="Shape 18"/>
          <p:cNvSpPr/>
          <p:nvPr/>
        </p:nvSpPr>
        <p:spPr>
          <a:xfrm>
            <a:off x="685800" y="2377440"/>
            <a:ext cx="640080" cy="640080"/>
          </a:xfrm>
          <a:prstGeom prst="ellipse">
            <a:avLst/>
          </a:prstGeom>
          <a:solidFill>
            <a:srgbClr val="0D9488"/>
          </a:solidFill>
          <a:ln w="12700">
            <a:solidFill>
              <a:srgbClr val="0D9488"/>
            </a:solidFill>
            <a:prstDash val="solid"/>
          </a:ln>
        </p:spPr>
        <p:txBody>
          <a:bodyPr/>
          <a:lstStyle/>
          <a:p>
            <a:endParaRPr lang="en-US"/>
          </a:p>
        </p:txBody>
      </p:sp>
      <p:pic>
        <p:nvPicPr>
          <p:cNvPr id="27" name="Image 6" descr="preencoded.png"/>
          <p:cNvPicPr>
            <a:picLocks noChangeAspect="1"/>
          </p:cNvPicPr>
          <p:nvPr/>
        </p:nvPicPr>
        <p:blipFill>
          <a:blip r:embed="rId3"/>
          <a:stretch>
            <a:fillRect/>
          </a:stretch>
        </p:blipFill>
        <p:spPr>
          <a:xfrm>
            <a:off x="813816" y="2487168"/>
            <a:ext cx="420624" cy="420624"/>
          </a:xfrm>
          <a:prstGeom prst="rect">
            <a:avLst/>
          </a:prstGeom>
        </p:spPr>
      </p:pic>
      <p:sp>
        <p:nvSpPr>
          <p:cNvPr id="28" name="Text 19"/>
          <p:cNvSpPr/>
          <p:nvPr/>
        </p:nvSpPr>
        <p:spPr>
          <a:xfrm>
            <a:off x="1417320" y="2304288"/>
            <a:ext cx="2539898"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iPay Solutions</a:t>
            </a:r>
            <a:endParaRPr lang="en-US" sz="1400" dirty="0"/>
          </a:p>
        </p:txBody>
      </p:sp>
      <p:sp>
        <p:nvSpPr>
          <p:cNvPr id="29" name="Text 20"/>
          <p:cNvSpPr/>
          <p:nvPr/>
        </p:nvSpPr>
        <p:spPr>
          <a:xfrm>
            <a:off x="1417320" y="2743200"/>
            <a:ext cx="2539898" cy="45720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discovery</a:t>
            </a:r>
            <a:endParaRPr lang="en-US" sz="1100" dirty="0"/>
          </a:p>
        </p:txBody>
      </p:sp>
      <p:sp>
        <p:nvSpPr>
          <p:cNvPr id="30" name="Shape 21"/>
          <p:cNvSpPr/>
          <p:nvPr/>
        </p:nvSpPr>
        <p:spPr>
          <a:xfrm>
            <a:off x="4505858" y="2377440"/>
            <a:ext cx="640080" cy="640080"/>
          </a:xfrm>
          <a:prstGeom prst="ellipse">
            <a:avLst/>
          </a:prstGeom>
          <a:solidFill>
            <a:srgbClr val="0D9488"/>
          </a:solidFill>
          <a:ln w="12700">
            <a:solidFill>
              <a:srgbClr val="0D9488"/>
            </a:solidFill>
            <a:prstDash val="solid"/>
          </a:ln>
        </p:spPr>
        <p:txBody>
          <a:bodyPr/>
          <a:lstStyle/>
          <a:p>
            <a:endParaRPr lang="en-US"/>
          </a:p>
        </p:txBody>
      </p:sp>
      <p:pic>
        <p:nvPicPr>
          <p:cNvPr id="31" name="Image 7" descr="preencoded.png"/>
          <p:cNvPicPr>
            <a:picLocks noChangeAspect="1"/>
          </p:cNvPicPr>
          <p:nvPr/>
        </p:nvPicPr>
        <p:blipFill>
          <a:blip r:embed="rId3"/>
          <a:stretch>
            <a:fillRect/>
          </a:stretch>
        </p:blipFill>
        <p:spPr>
          <a:xfrm>
            <a:off x="4633874" y="2487168"/>
            <a:ext cx="420624" cy="420624"/>
          </a:xfrm>
          <a:prstGeom prst="rect">
            <a:avLst/>
          </a:prstGeom>
        </p:spPr>
      </p:pic>
      <p:sp>
        <p:nvSpPr>
          <p:cNvPr id="32" name="Text 22"/>
          <p:cNvSpPr/>
          <p:nvPr/>
        </p:nvSpPr>
        <p:spPr>
          <a:xfrm>
            <a:off x="5237378" y="2304288"/>
            <a:ext cx="2539898"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PayCenter</a:t>
            </a:r>
            <a:endParaRPr lang="en-US" sz="1400" dirty="0"/>
          </a:p>
        </p:txBody>
      </p:sp>
      <p:sp>
        <p:nvSpPr>
          <p:cNvPr id="33" name="Text 23"/>
          <p:cNvSpPr/>
          <p:nvPr/>
        </p:nvSpPr>
        <p:spPr>
          <a:xfrm>
            <a:off x="5237378" y="2743200"/>
            <a:ext cx="2539898" cy="45720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discovery</a:t>
            </a:r>
            <a:endParaRPr lang="en-US" sz="1100" dirty="0"/>
          </a:p>
        </p:txBody>
      </p:sp>
      <p:sp>
        <p:nvSpPr>
          <p:cNvPr id="34" name="Shape 24"/>
          <p:cNvSpPr/>
          <p:nvPr/>
        </p:nvSpPr>
        <p:spPr>
          <a:xfrm>
            <a:off x="8325917" y="2377440"/>
            <a:ext cx="640080" cy="640080"/>
          </a:xfrm>
          <a:prstGeom prst="ellipse">
            <a:avLst/>
          </a:prstGeom>
          <a:solidFill>
            <a:srgbClr val="0D9488"/>
          </a:solidFill>
          <a:ln w="12700">
            <a:solidFill>
              <a:srgbClr val="0D9488"/>
            </a:solidFill>
            <a:prstDash val="solid"/>
          </a:ln>
        </p:spPr>
        <p:txBody>
          <a:bodyPr/>
          <a:lstStyle/>
          <a:p>
            <a:endParaRPr lang="en-US"/>
          </a:p>
        </p:txBody>
      </p:sp>
      <p:pic>
        <p:nvPicPr>
          <p:cNvPr id="35" name="Image 8" descr="preencoded.png"/>
          <p:cNvPicPr>
            <a:picLocks noChangeAspect="1"/>
          </p:cNvPicPr>
          <p:nvPr/>
        </p:nvPicPr>
        <p:blipFill>
          <a:blip r:embed="rId3"/>
          <a:stretch>
            <a:fillRect/>
          </a:stretch>
        </p:blipFill>
        <p:spPr>
          <a:xfrm>
            <a:off x="8453933" y="2487168"/>
            <a:ext cx="420624" cy="420624"/>
          </a:xfrm>
          <a:prstGeom prst="rect">
            <a:avLst/>
          </a:prstGeom>
        </p:spPr>
      </p:pic>
      <p:sp>
        <p:nvSpPr>
          <p:cNvPr id="36" name="Text 25"/>
          <p:cNvSpPr/>
          <p:nvPr/>
        </p:nvSpPr>
        <p:spPr>
          <a:xfrm>
            <a:off x="9057437" y="2304288"/>
            <a:ext cx="2539898"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Payrailz Platform</a:t>
            </a:r>
            <a:endParaRPr lang="en-US" sz="1400" dirty="0"/>
          </a:p>
        </p:txBody>
      </p:sp>
      <p:sp>
        <p:nvSpPr>
          <p:cNvPr id="37" name="Text 26"/>
          <p:cNvSpPr/>
          <p:nvPr/>
        </p:nvSpPr>
        <p:spPr>
          <a:xfrm>
            <a:off x="9057437" y="2743200"/>
            <a:ext cx="2539898" cy="45720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CDC prototype</a:t>
            </a:r>
            <a:endParaRPr lang="en-US" sz="1100" dirty="0"/>
          </a:p>
        </p:txBody>
      </p:sp>
      <p:sp>
        <p:nvSpPr>
          <p:cNvPr id="38" name="Shape 27"/>
          <p:cNvSpPr/>
          <p:nvPr/>
        </p:nvSpPr>
        <p:spPr>
          <a:xfrm>
            <a:off x="685800" y="3840480"/>
            <a:ext cx="640080" cy="640080"/>
          </a:xfrm>
          <a:prstGeom prst="ellipse">
            <a:avLst/>
          </a:prstGeom>
          <a:solidFill>
            <a:srgbClr val="0D9488"/>
          </a:solidFill>
          <a:ln w="12700">
            <a:solidFill>
              <a:srgbClr val="0D9488"/>
            </a:solidFill>
            <a:prstDash val="solid"/>
          </a:ln>
        </p:spPr>
        <p:txBody>
          <a:bodyPr/>
          <a:lstStyle/>
          <a:p>
            <a:endParaRPr lang="en-US"/>
          </a:p>
        </p:txBody>
      </p:sp>
      <p:pic>
        <p:nvPicPr>
          <p:cNvPr id="39" name="Image 9" descr="preencoded.png"/>
          <p:cNvPicPr>
            <a:picLocks noChangeAspect="1"/>
          </p:cNvPicPr>
          <p:nvPr/>
        </p:nvPicPr>
        <p:blipFill>
          <a:blip r:embed="rId3"/>
          <a:stretch>
            <a:fillRect/>
          </a:stretch>
        </p:blipFill>
        <p:spPr>
          <a:xfrm>
            <a:off x="813816" y="3950208"/>
            <a:ext cx="420624" cy="420624"/>
          </a:xfrm>
          <a:prstGeom prst="rect">
            <a:avLst/>
          </a:prstGeom>
        </p:spPr>
      </p:pic>
      <p:sp>
        <p:nvSpPr>
          <p:cNvPr id="40" name="Text 28"/>
          <p:cNvSpPr/>
          <p:nvPr/>
        </p:nvSpPr>
        <p:spPr>
          <a:xfrm>
            <a:off x="1417320" y="3767328"/>
            <a:ext cx="2539898"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Enterprise Payment Solutions (EPS)</a:t>
            </a:r>
            <a:endParaRPr lang="en-US" sz="1400" dirty="0"/>
          </a:p>
        </p:txBody>
      </p:sp>
      <p:sp>
        <p:nvSpPr>
          <p:cNvPr id="41" name="Text 29"/>
          <p:cNvSpPr/>
          <p:nvPr/>
        </p:nvSpPr>
        <p:spPr>
          <a:xfrm>
            <a:off x="1417320" y="4206240"/>
            <a:ext cx="2539898" cy="45720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design</a:t>
            </a:r>
            <a:endParaRPr lang="en-US" sz="1100" dirty="0"/>
          </a:p>
        </p:txBody>
      </p:sp>
      <p:sp>
        <p:nvSpPr>
          <p:cNvPr id="42" name="Shape 30"/>
          <p:cNvSpPr/>
          <p:nvPr/>
        </p:nvSpPr>
        <p:spPr>
          <a:xfrm>
            <a:off x="4505858" y="3840480"/>
            <a:ext cx="640080" cy="640080"/>
          </a:xfrm>
          <a:prstGeom prst="ellipse">
            <a:avLst/>
          </a:prstGeom>
          <a:solidFill>
            <a:srgbClr val="0D9488"/>
          </a:solidFill>
          <a:ln w="12700">
            <a:solidFill>
              <a:srgbClr val="0D9488"/>
            </a:solidFill>
            <a:prstDash val="solid"/>
          </a:ln>
        </p:spPr>
        <p:txBody>
          <a:bodyPr/>
          <a:lstStyle/>
          <a:p>
            <a:endParaRPr lang="en-US"/>
          </a:p>
        </p:txBody>
      </p:sp>
      <p:pic>
        <p:nvPicPr>
          <p:cNvPr id="43" name="Image 10" descr="preencoded.png"/>
          <p:cNvPicPr>
            <a:picLocks noChangeAspect="1"/>
          </p:cNvPicPr>
          <p:nvPr/>
        </p:nvPicPr>
        <p:blipFill>
          <a:blip r:embed="rId3"/>
          <a:stretch>
            <a:fillRect/>
          </a:stretch>
        </p:blipFill>
        <p:spPr>
          <a:xfrm>
            <a:off x="4633874" y="3950208"/>
            <a:ext cx="420624" cy="420624"/>
          </a:xfrm>
          <a:prstGeom prst="rect">
            <a:avLst/>
          </a:prstGeom>
        </p:spPr>
      </p:pic>
      <p:sp>
        <p:nvSpPr>
          <p:cNvPr id="44" name="Text 31"/>
          <p:cNvSpPr/>
          <p:nvPr/>
        </p:nvSpPr>
        <p:spPr>
          <a:xfrm>
            <a:off x="5237378" y="3767328"/>
            <a:ext cx="2539898"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Jack Henry Wires</a:t>
            </a:r>
            <a:endParaRPr lang="en-US" sz="1400" dirty="0"/>
          </a:p>
        </p:txBody>
      </p:sp>
      <p:sp>
        <p:nvSpPr>
          <p:cNvPr id="45" name="Text 32"/>
          <p:cNvSpPr/>
          <p:nvPr/>
        </p:nvSpPr>
        <p:spPr>
          <a:xfrm>
            <a:off x="5237378" y="4206240"/>
            <a:ext cx="2539898" cy="45720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design</a:t>
            </a:r>
            <a:endParaRPr lang="en-US" sz="1100" dirty="0"/>
          </a:p>
        </p:txBody>
      </p:sp>
      <p:sp>
        <p:nvSpPr>
          <p:cNvPr id="46" name="Shape 33"/>
          <p:cNvSpPr/>
          <p:nvPr/>
        </p:nvSpPr>
        <p:spPr>
          <a:xfrm>
            <a:off x="8325917" y="3840480"/>
            <a:ext cx="640080" cy="640080"/>
          </a:xfrm>
          <a:prstGeom prst="ellipse">
            <a:avLst/>
          </a:prstGeom>
          <a:solidFill>
            <a:srgbClr val="0D9488"/>
          </a:solidFill>
          <a:ln w="12700">
            <a:solidFill>
              <a:srgbClr val="0D9488"/>
            </a:solidFill>
            <a:prstDash val="solid"/>
          </a:ln>
        </p:spPr>
        <p:txBody>
          <a:bodyPr/>
          <a:lstStyle/>
          <a:p>
            <a:endParaRPr lang="en-US"/>
          </a:p>
        </p:txBody>
      </p:sp>
      <p:pic>
        <p:nvPicPr>
          <p:cNvPr id="47" name="Image 11" descr="preencoded.png"/>
          <p:cNvPicPr>
            <a:picLocks noChangeAspect="1"/>
          </p:cNvPicPr>
          <p:nvPr/>
        </p:nvPicPr>
        <p:blipFill>
          <a:blip r:embed="rId3"/>
          <a:stretch>
            <a:fillRect/>
          </a:stretch>
        </p:blipFill>
        <p:spPr>
          <a:xfrm>
            <a:off x="8453933" y="3950208"/>
            <a:ext cx="420624" cy="420624"/>
          </a:xfrm>
          <a:prstGeom prst="rect">
            <a:avLst/>
          </a:prstGeom>
        </p:spPr>
      </p:pic>
      <p:sp>
        <p:nvSpPr>
          <p:cNvPr id="48" name="Text 34"/>
          <p:cNvSpPr/>
          <p:nvPr/>
        </p:nvSpPr>
        <p:spPr>
          <a:xfrm>
            <a:off x="9057437" y="3767328"/>
            <a:ext cx="2539898"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JHA SmartPay Platform</a:t>
            </a:r>
            <a:endParaRPr lang="en-US" sz="1400" dirty="0"/>
          </a:p>
        </p:txBody>
      </p:sp>
      <p:sp>
        <p:nvSpPr>
          <p:cNvPr id="49" name="Text 35"/>
          <p:cNvSpPr/>
          <p:nvPr/>
        </p:nvSpPr>
        <p:spPr>
          <a:xfrm>
            <a:off x="9057437" y="4206240"/>
            <a:ext cx="2539898" cy="45720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discovery</a:t>
            </a:r>
            <a:endParaRPr lang="en-US" sz="1100" dirty="0"/>
          </a:p>
        </p:txBody>
      </p:sp>
      <p:sp>
        <p:nvSpPr>
          <p:cNvPr id="50" name="Shape 36"/>
          <p:cNvSpPr/>
          <p:nvPr/>
        </p:nvSpPr>
        <p:spPr>
          <a:xfrm>
            <a:off x="457200" y="5212080"/>
            <a:ext cx="11277295" cy="9144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51" name="Shape 37"/>
          <p:cNvSpPr/>
          <p:nvPr/>
        </p:nvSpPr>
        <p:spPr>
          <a:xfrm>
            <a:off x="457200" y="5212080"/>
            <a:ext cx="73152" cy="914400"/>
          </a:xfrm>
          <a:prstGeom prst="rect">
            <a:avLst/>
          </a:prstGeom>
          <a:solidFill>
            <a:srgbClr val="F59E0B"/>
          </a:solidFill>
          <a:ln w="12700">
            <a:solidFill>
              <a:srgbClr val="F59E0B"/>
            </a:solidFill>
            <a:prstDash val="solid"/>
          </a:ln>
        </p:spPr>
        <p:txBody>
          <a:bodyPr/>
          <a:lstStyle/>
          <a:p>
            <a:endParaRPr lang="en-US"/>
          </a:p>
        </p:txBody>
      </p:sp>
      <p:pic>
        <p:nvPicPr>
          <p:cNvPr id="52" name="Image 12" descr="preencoded.png"/>
          <p:cNvPicPr>
            <a:picLocks noChangeAspect="1"/>
          </p:cNvPicPr>
          <p:nvPr/>
        </p:nvPicPr>
        <p:blipFill>
          <a:blip r:embed="rId4"/>
          <a:stretch>
            <a:fillRect/>
          </a:stretch>
        </p:blipFill>
        <p:spPr>
          <a:xfrm>
            <a:off x="777240" y="5440680"/>
            <a:ext cx="457200" cy="457200"/>
          </a:xfrm>
          <a:prstGeom prst="rect">
            <a:avLst/>
          </a:prstGeom>
        </p:spPr>
      </p:pic>
      <p:sp>
        <p:nvSpPr>
          <p:cNvPr id="53" name="Text 38"/>
          <p:cNvSpPr/>
          <p:nvPr/>
        </p:nvSpPr>
        <p:spPr>
          <a:xfrm>
            <a:off x="1463040" y="5303520"/>
            <a:ext cx="10180015" cy="777240"/>
          </a:xfrm>
          <a:prstGeom prst="rect">
            <a:avLst/>
          </a:prstGeom>
          <a:noFill/>
          <a:ln/>
        </p:spPr>
        <p:txBody>
          <a:bodyPr wrap="square" lIns="0" tIns="0" rIns="0" bIns="0" rtlCol="0" anchor="ctr"/>
          <a:lstStyle/>
          <a:p>
            <a:pPr marL="0" indent="0">
              <a:buNone/>
            </a:pPr>
            <a:r>
              <a:rPr lang="en-US" sz="1200" b="1" i="1" dirty="0">
                <a:solidFill>
                  <a:srgbClr val="1E293B"/>
                </a:solidFill>
                <a:latin typeface="Calibri" pitchFamily="34" charset="0"/>
                <a:ea typeface="Calibri" pitchFamily="34" charset="-122"/>
                <a:cs typeface="Calibri" pitchFamily="34" charset="-120"/>
              </a:rPr>
              <a:t>Heads up: </a:t>
            </a:r>
            <a:r>
              <a:rPr lang="en-US" sz="1200" i="1" dirty="0">
                <a:solidFill>
                  <a:srgbClr val="334155"/>
                </a:solidFill>
                <a:latin typeface="Calibri" pitchFamily="34" charset="0"/>
                <a:ea typeface="Calibri" pitchFamily="34" charset="-122"/>
                <a:cs typeface="Calibri" pitchFamily="34" charset="-120"/>
              </a:rPr>
              <a:t>We've gotten genuine pushback on CDC against a couple of these sources. We're working source-by-source rather than fighting a platform-wide battle. More on the next slide.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PILLAR 04 — BACKEND</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19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Ingestion, sensitive data, and the medallion</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How payments data lands and matures</a:t>
            </a:r>
            <a:endParaRPr lang="en-US" sz="1400" dirty="0"/>
          </a:p>
        </p:txBody>
      </p:sp>
      <p:sp>
        <p:nvSpPr>
          <p:cNvPr id="8" name="Shape 6"/>
          <p:cNvSpPr/>
          <p:nvPr/>
        </p:nvSpPr>
        <p:spPr>
          <a:xfrm>
            <a:off x="457200" y="2103120"/>
            <a:ext cx="3657600" cy="38404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9" name="Shape 7"/>
          <p:cNvSpPr/>
          <p:nvPr/>
        </p:nvSpPr>
        <p:spPr>
          <a:xfrm>
            <a:off x="457200" y="2103120"/>
            <a:ext cx="73152" cy="3840480"/>
          </a:xfrm>
          <a:prstGeom prst="rect">
            <a:avLst/>
          </a:prstGeom>
          <a:solidFill>
            <a:srgbClr val="0D9488"/>
          </a:solidFill>
          <a:ln w="12700">
            <a:solidFill>
              <a:srgbClr val="0D9488"/>
            </a:solidFill>
            <a:prstDash val="solid"/>
          </a:ln>
        </p:spPr>
        <p:txBody>
          <a:bodyPr/>
          <a:lstStyle/>
          <a:p>
            <a:endParaRPr lang="en-US"/>
          </a:p>
        </p:txBody>
      </p:sp>
      <p:sp>
        <p:nvSpPr>
          <p:cNvPr id="10" name="Shape 8"/>
          <p:cNvSpPr/>
          <p:nvPr/>
        </p:nvSpPr>
        <p:spPr>
          <a:xfrm>
            <a:off x="685800" y="2286000"/>
            <a:ext cx="640080" cy="640080"/>
          </a:xfrm>
          <a:prstGeom prst="ellipse">
            <a:avLst/>
          </a:prstGeom>
          <a:solidFill>
            <a:srgbClr val="0D9488"/>
          </a:solidFill>
          <a:ln w="12700">
            <a:solidFill>
              <a:srgbClr val="0D9488"/>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813816" y="2395728"/>
            <a:ext cx="420624" cy="420624"/>
          </a:xfrm>
          <a:prstGeom prst="rect">
            <a:avLst/>
          </a:prstGeom>
        </p:spPr>
      </p:pic>
      <p:sp>
        <p:nvSpPr>
          <p:cNvPr id="12" name="Text 9"/>
          <p:cNvSpPr/>
          <p:nvPr/>
        </p:nvSpPr>
        <p:spPr>
          <a:xfrm>
            <a:off x="1463040" y="2331720"/>
            <a:ext cx="246888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CDC — Debezium framework</a:t>
            </a:r>
            <a:endParaRPr lang="en-US" sz="1400" dirty="0"/>
          </a:p>
        </p:txBody>
      </p:sp>
      <p:sp>
        <p:nvSpPr>
          <p:cNvPr id="13" name="Text 10"/>
          <p:cNvSpPr/>
          <p:nvPr/>
        </p:nvSpPr>
        <p:spPr>
          <a:xfrm>
            <a:off x="685800" y="3063240"/>
            <a:ext cx="3200400" cy="27432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Source-agnostic connector pattern</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Schema registry + replay-from-offset</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Per-source onboarding playbook (auth, load, ownership)</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First source in prototype — pattern proven</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Pushback acknowledged; working with each source team individually</a:t>
            </a:r>
            <a:endParaRPr lang="en-US" sz="1100" dirty="0"/>
          </a:p>
        </p:txBody>
      </p:sp>
      <p:sp>
        <p:nvSpPr>
          <p:cNvPr id="14" name="Shape 11"/>
          <p:cNvSpPr/>
          <p:nvPr/>
        </p:nvSpPr>
        <p:spPr>
          <a:xfrm>
            <a:off x="4297680" y="2103120"/>
            <a:ext cx="3657600" cy="38404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5" name="Shape 12"/>
          <p:cNvSpPr/>
          <p:nvPr/>
        </p:nvSpPr>
        <p:spPr>
          <a:xfrm>
            <a:off x="4297680" y="2103120"/>
            <a:ext cx="73152" cy="3840480"/>
          </a:xfrm>
          <a:prstGeom prst="rect">
            <a:avLst/>
          </a:prstGeom>
          <a:solidFill>
            <a:srgbClr val="0D9488"/>
          </a:solidFill>
          <a:ln w="12700">
            <a:solidFill>
              <a:srgbClr val="0D9488"/>
            </a:solidFill>
            <a:prstDash val="solid"/>
          </a:ln>
        </p:spPr>
        <p:txBody>
          <a:bodyPr/>
          <a:lstStyle/>
          <a:p>
            <a:endParaRPr lang="en-US"/>
          </a:p>
        </p:txBody>
      </p:sp>
      <p:sp>
        <p:nvSpPr>
          <p:cNvPr id="16" name="Shape 13"/>
          <p:cNvSpPr/>
          <p:nvPr/>
        </p:nvSpPr>
        <p:spPr>
          <a:xfrm>
            <a:off x="4526280" y="2286000"/>
            <a:ext cx="640080" cy="640080"/>
          </a:xfrm>
          <a:prstGeom prst="ellipse">
            <a:avLst/>
          </a:prstGeom>
          <a:solidFill>
            <a:srgbClr val="0D9488"/>
          </a:solidFill>
          <a:ln w="12700">
            <a:solidFill>
              <a:srgbClr val="0D9488"/>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4654296" y="2395728"/>
            <a:ext cx="420624" cy="420624"/>
          </a:xfrm>
          <a:prstGeom prst="rect">
            <a:avLst/>
          </a:prstGeom>
        </p:spPr>
      </p:pic>
      <p:sp>
        <p:nvSpPr>
          <p:cNvPr id="18" name="Text 14"/>
          <p:cNvSpPr/>
          <p:nvPr/>
        </p:nvSpPr>
        <p:spPr>
          <a:xfrm>
            <a:off x="5303520" y="2331720"/>
            <a:ext cx="256032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Tokenization API</a:t>
            </a:r>
            <a:endParaRPr lang="en-US" sz="1400" dirty="0"/>
          </a:p>
        </p:txBody>
      </p:sp>
      <p:sp>
        <p:nvSpPr>
          <p:cNvPr id="19" name="Text 15"/>
          <p:cNvSpPr/>
          <p:nvPr/>
        </p:nvSpPr>
        <p:spPr>
          <a:xfrm>
            <a:off x="4526280" y="3063240"/>
            <a:ext cx="3200400" cy="27432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Sensitive fields tokenized at landing</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Reversible tokens behind PCI project boundary</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Hashing pattern for join-keys outside PCI</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Designed with security partners — under review</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Test data path uses synthetic values end-to-end</a:t>
            </a:r>
            <a:endParaRPr lang="en-US" sz="1100" dirty="0"/>
          </a:p>
        </p:txBody>
      </p:sp>
      <p:sp>
        <p:nvSpPr>
          <p:cNvPr id="20" name="Shape 16"/>
          <p:cNvSpPr/>
          <p:nvPr/>
        </p:nvSpPr>
        <p:spPr>
          <a:xfrm>
            <a:off x="8138160" y="2103120"/>
            <a:ext cx="3596335" cy="38404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1" name="Shape 17"/>
          <p:cNvSpPr/>
          <p:nvPr/>
        </p:nvSpPr>
        <p:spPr>
          <a:xfrm>
            <a:off x="8138160" y="2103120"/>
            <a:ext cx="73152" cy="3840480"/>
          </a:xfrm>
          <a:prstGeom prst="rect">
            <a:avLst/>
          </a:prstGeom>
          <a:solidFill>
            <a:srgbClr val="0D9488"/>
          </a:solidFill>
          <a:ln w="12700">
            <a:solidFill>
              <a:srgbClr val="0D9488"/>
            </a:solidFill>
            <a:prstDash val="solid"/>
          </a:ln>
        </p:spPr>
        <p:txBody>
          <a:bodyPr/>
          <a:lstStyle/>
          <a:p>
            <a:endParaRPr lang="en-US"/>
          </a:p>
        </p:txBody>
      </p:sp>
      <p:sp>
        <p:nvSpPr>
          <p:cNvPr id="22" name="Text 18"/>
          <p:cNvSpPr/>
          <p:nvPr/>
        </p:nvSpPr>
        <p:spPr>
          <a:xfrm>
            <a:off x="8366760" y="2331720"/>
            <a:ext cx="3200400"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Medallion architecture</a:t>
            </a:r>
            <a:endParaRPr lang="en-US" sz="1400" dirty="0"/>
          </a:p>
        </p:txBody>
      </p:sp>
      <p:sp>
        <p:nvSpPr>
          <p:cNvPr id="23" name="Shape 19"/>
          <p:cNvSpPr/>
          <p:nvPr/>
        </p:nvSpPr>
        <p:spPr>
          <a:xfrm>
            <a:off x="8366760" y="2788920"/>
            <a:ext cx="3367735" cy="594360"/>
          </a:xfrm>
          <a:prstGeom prst="rect">
            <a:avLst/>
          </a:prstGeom>
          <a:solidFill>
            <a:srgbClr val="F8FAFC"/>
          </a:solidFill>
          <a:ln w="6350">
            <a:solidFill>
              <a:srgbClr val="E2E8F0"/>
            </a:solidFill>
            <a:prstDash val="solid"/>
          </a:ln>
        </p:spPr>
        <p:txBody>
          <a:bodyPr/>
          <a:lstStyle/>
          <a:p>
            <a:endParaRPr lang="en-US"/>
          </a:p>
        </p:txBody>
      </p:sp>
      <p:sp>
        <p:nvSpPr>
          <p:cNvPr id="24" name="Shape 20"/>
          <p:cNvSpPr/>
          <p:nvPr/>
        </p:nvSpPr>
        <p:spPr>
          <a:xfrm>
            <a:off x="8366760" y="2788920"/>
            <a:ext cx="73152" cy="594360"/>
          </a:xfrm>
          <a:prstGeom prst="rect">
            <a:avLst/>
          </a:prstGeom>
          <a:solidFill>
            <a:srgbClr val="F59E0B"/>
          </a:solidFill>
          <a:ln w="12700">
            <a:solidFill>
              <a:srgbClr val="F59E0B"/>
            </a:solidFill>
            <a:prstDash val="solid"/>
          </a:ln>
        </p:spPr>
        <p:txBody>
          <a:bodyPr/>
          <a:lstStyle/>
          <a:p>
            <a:endParaRPr lang="en-US"/>
          </a:p>
        </p:txBody>
      </p:sp>
      <p:sp>
        <p:nvSpPr>
          <p:cNvPr id="25" name="Text 21"/>
          <p:cNvSpPr/>
          <p:nvPr/>
        </p:nvSpPr>
        <p:spPr>
          <a:xfrm>
            <a:off x="8503920" y="2834640"/>
            <a:ext cx="1371600" cy="5029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Bronze</a:t>
            </a:r>
            <a:endParaRPr lang="en-US" sz="1200" dirty="0"/>
          </a:p>
        </p:txBody>
      </p:sp>
      <p:sp>
        <p:nvSpPr>
          <p:cNvPr id="26" name="Text 22"/>
          <p:cNvSpPr/>
          <p:nvPr/>
        </p:nvSpPr>
        <p:spPr>
          <a:xfrm>
            <a:off x="9784080" y="2834640"/>
            <a:ext cx="1828800" cy="5029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raw, immutable</a:t>
            </a:r>
            <a:endParaRPr lang="en-US" sz="1000" dirty="0"/>
          </a:p>
        </p:txBody>
      </p:sp>
      <p:sp>
        <p:nvSpPr>
          <p:cNvPr id="27" name="Shape 23"/>
          <p:cNvSpPr/>
          <p:nvPr/>
        </p:nvSpPr>
        <p:spPr>
          <a:xfrm>
            <a:off x="8366760" y="3502152"/>
            <a:ext cx="3367735" cy="594360"/>
          </a:xfrm>
          <a:prstGeom prst="rect">
            <a:avLst/>
          </a:prstGeom>
          <a:solidFill>
            <a:srgbClr val="F8FAFC"/>
          </a:solidFill>
          <a:ln w="6350">
            <a:solidFill>
              <a:srgbClr val="E2E8F0"/>
            </a:solidFill>
            <a:prstDash val="solid"/>
          </a:ln>
        </p:spPr>
        <p:txBody>
          <a:bodyPr/>
          <a:lstStyle/>
          <a:p>
            <a:endParaRPr lang="en-US"/>
          </a:p>
        </p:txBody>
      </p:sp>
      <p:sp>
        <p:nvSpPr>
          <p:cNvPr id="28" name="Shape 24"/>
          <p:cNvSpPr/>
          <p:nvPr/>
        </p:nvSpPr>
        <p:spPr>
          <a:xfrm>
            <a:off x="8366760" y="3502152"/>
            <a:ext cx="73152" cy="594360"/>
          </a:xfrm>
          <a:prstGeom prst="rect">
            <a:avLst/>
          </a:prstGeom>
          <a:solidFill>
            <a:srgbClr val="0D9488"/>
          </a:solidFill>
          <a:ln w="12700">
            <a:solidFill>
              <a:srgbClr val="0D9488"/>
            </a:solidFill>
            <a:prstDash val="solid"/>
          </a:ln>
        </p:spPr>
        <p:txBody>
          <a:bodyPr/>
          <a:lstStyle/>
          <a:p>
            <a:endParaRPr lang="en-US"/>
          </a:p>
        </p:txBody>
      </p:sp>
      <p:sp>
        <p:nvSpPr>
          <p:cNvPr id="29" name="Text 25"/>
          <p:cNvSpPr/>
          <p:nvPr/>
        </p:nvSpPr>
        <p:spPr>
          <a:xfrm>
            <a:off x="8503920" y="3547872"/>
            <a:ext cx="1371600" cy="5029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Silver</a:t>
            </a:r>
            <a:endParaRPr lang="en-US" sz="1200" dirty="0"/>
          </a:p>
        </p:txBody>
      </p:sp>
      <p:sp>
        <p:nvSpPr>
          <p:cNvPr id="30" name="Text 26"/>
          <p:cNvSpPr/>
          <p:nvPr/>
        </p:nvSpPr>
        <p:spPr>
          <a:xfrm>
            <a:off x="9784080" y="3547872"/>
            <a:ext cx="1828800" cy="5029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conformed, joinable</a:t>
            </a:r>
            <a:endParaRPr lang="en-US" sz="1000" dirty="0"/>
          </a:p>
        </p:txBody>
      </p:sp>
      <p:sp>
        <p:nvSpPr>
          <p:cNvPr id="31" name="Shape 27"/>
          <p:cNvSpPr/>
          <p:nvPr/>
        </p:nvSpPr>
        <p:spPr>
          <a:xfrm>
            <a:off x="8366760" y="4215384"/>
            <a:ext cx="3367735" cy="594360"/>
          </a:xfrm>
          <a:prstGeom prst="rect">
            <a:avLst/>
          </a:prstGeom>
          <a:solidFill>
            <a:srgbClr val="F8FAFC"/>
          </a:solidFill>
          <a:ln w="6350">
            <a:solidFill>
              <a:srgbClr val="E2E8F0"/>
            </a:solidFill>
            <a:prstDash val="solid"/>
          </a:ln>
        </p:spPr>
        <p:txBody>
          <a:bodyPr/>
          <a:lstStyle/>
          <a:p>
            <a:endParaRPr lang="en-US"/>
          </a:p>
        </p:txBody>
      </p:sp>
      <p:sp>
        <p:nvSpPr>
          <p:cNvPr id="32" name="Shape 28"/>
          <p:cNvSpPr/>
          <p:nvPr/>
        </p:nvSpPr>
        <p:spPr>
          <a:xfrm>
            <a:off x="8366760" y="4215384"/>
            <a:ext cx="73152" cy="594360"/>
          </a:xfrm>
          <a:prstGeom prst="rect">
            <a:avLst/>
          </a:prstGeom>
          <a:solidFill>
            <a:srgbClr val="16A34A"/>
          </a:solidFill>
          <a:ln w="12700">
            <a:solidFill>
              <a:srgbClr val="16A34A"/>
            </a:solidFill>
            <a:prstDash val="solid"/>
          </a:ln>
        </p:spPr>
        <p:txBody>
          <a:bodyPr/>
          <a:lstStyle/>
          <a:p>
            <a:endParaRPr lang="en-US"/>
          </a:p>
        </p:txBody>
      </p:sp>
      <p:sp>
        <p:nvSpPr>
          <p:cNvPr id="33" name="Text 29"/>
          <p:cNvSpPr/>
          <p:nvPr/>
        </p:nvSpPr>
        <p:spPr>
          <a:xfrm>
            <a:off x="8503920" y="4261104"/>
            <a:ext cx="1371600" cy="5029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Gold</a:t>
            </a:r>
            <a:endParaRPr lang="en-US" sz="1200" dirty="0"/>
          </a:p>
        </p:txBody>
      </p:sp>
      <p:sp>
        <p:nvSpPr>
          <p:cNvPr id="34" name="Text 30"/>
          <p:cNvSpPr/>
          <p:nvPr/>
        </p:nvSpPr>
        <p:spPr>
          <a:xfrm>
            <a:off x="9784080" y="4261104"/>
            <a:ext cx="1828800" cy="5029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business-ready marts</a:t>
            </a:r>
            <a:endParaRPr lang="en-US" sz="1000" dirty="0"/>
          </a:p>
        </p:txBody>
      </p:sp>
      <p:sp>
        <p:nvSpPr>
          <p:cNvPr id="35" name="Shape 31"/>
          <p:cNvSpPr/>
          <p:nvPr/>
        </p:nvSpPr>
        <p:spPr>
          <a:xfrm>
            <a:off x="8366760" y="4928616"/>
            <a:ext cx="3367735" cy="594360"/>
          </a:xfrm>
          <a:prstGeom prst="rect">
            <a:avLst/>
          </a:prstGeom>
          <a:solidFill>
            <a:srgbClr val="F8FAFC"/>
          </a:solidFill>
          <a:ln w="6350">
            <a:solidFill>
              <a:srgbClr val="E2E8F0"/>
            </a:solidFill>
            <a:prstDash val="solid"/>
          </a:ln>
        </p:spPr>
        <p:txBody>
          <a:bodyPr/>
          <a:lstStyle/>
          <a:p>
            <a:endParaRPr lang="en-US"/>
          </a:p>
        </p:txBody>
      </p:sp>
      <p:sp>
        <p:nvSpPr>
          <p:cNvPr id="36" name="Shape 32"/>
          <p:cNvSpPr/>
          <p:nvPr/>
        </p:nvSpPr>
        <p:spPr>
          <a:xfrm>
            <a:off x="8366760" y="4928616"/>
            <a:ext cx="73152" cy="594360"/>
          </a:xfrm>
          <a:prstGeom prst="rect">
            <a:avLst/>
          </a:prstGeom>
          <a:solidFill>
            <a:srgbClr val="0F172A"/>
          </a:solidFill>
          <a:ln w="12700">
            <a:solidFill>
              <a:srgbClr val="0F172A"/>
            </a:solidFill>
            <a:prstDash val="solid"/>
          </a:ln>
        </p:spPr>
        <p:txBody>
          <a:bodyPr/>
          <a:lstStyle/>
          <a:p>
            <a:endParaRPr lang="en-US"/>
          </a:p>
        </p:txBody>
      </p:sp>
      <p:sp>
        <p:nvSpPr>
          <p:cNvPr id="37" name="Text 33"/>
          <p:cNvSpPr/>
          <p:nvPr/>
        </p:nvSpPr>
        <p:spPr>
          <a:xfrm>
            <a:off x="8503920" y="4974336"/>
            <a:ext cx="1371600" cy="5029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Platinum</a:t>
            </a:r>
            <a:endParaRPr lang="en-US" sz="1200" dirty="0"/>
          </a:p>
        </p:txBody>
      </p:sp>
      <p:sp>
        <p:nvSpPr>
          <p:cNvPr id="38" name="Text 34"/>
          <p:cNvSpPr/>
          <p:nvPr/>
        </p:nvSpPr>
        <p:spPr>
          <a:xfrm>
            <a:off x="9784080" y="4974336"/>
            <a:ext cx="1828800" cy="5029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curated, exec-ready</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PILLAR 05 — VISUALIZATION</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20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Visualization — 10 PowerBI reports</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What the buyer actually sees</a:t>
            </a:r>
            <a:endParaRPr lang="en-US" sz="1400" dirty="0"/>
          </a:p>
        </p:txBody>
      </p:sp>
      <p:sp>
        <p:nvSpPr>
          <p:cNvPr id="8" name="Shape 6"/>
          <p:cNvSpPr/>
          <p:nvPr/>
        </p:nvSpPr>
        <p:spPr>
          <a:xfrm>
            <a:off x="457200" y="2194560"/>
            <a:ext cx="2109155"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9" name="Shape 7"/>
          <p:cNvSpPr/>
          <p:nvPr/>
        </p:nvSpPr>
        <p:spPr>
          <a:xfrm>
            <a:off x="457200" y="2194560"/>
            <a:ext cx="73152" cy="1371600"/>
          </a:xfrm>
          <a:prstGeom prst="rect">
            <a:avLst/>
          </a:prstGeom>
          <a:solidFill>
            <a:srgbClr val="0D9488"/>
          </a:solidFill>
          <a:ln w="12700">
            <a:solidFill>
              <a:srgbClr val="0D9488"/>
            </a:solidFill>
            <a:prstDash val="solid"/>
          </a:ln>
        </p:spPr>
        <p:txBody>
          <a:bodyPr/>
          <a:lstStyle/>
          <a:p>
            <a:endParaRPr lang="en-US"/>
          </a:p>
        </p:txBody>
      </p:sp>
      <p:sp>
        <p:nvSpPr>
          <p:cNvPr id="10" name="Shape 8"/>
          <p:cNvSpPr/>
          <p:nvPr/>
        </p:nvSpPr>
        <p:spPr>
          <a:xfrm>
            <a:off x="1237458" y="2359152"/>
            <a:ext cx="548640" cy="548640"/>
          </a:xfrm>
          <a:prstGeom prst="ellipse">
            <a:avLst/>
          </a:prstGeom>
          <a:solidFill>
            <a:srgbClr val="0D9488"/>
          </a:solidFill>
          <a:ln w="12700">
            <a:solidFill>
              <a:srgbClr val="0D9488"/>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1347186" y="2468880"/>
            <a:ext cx="329184" cy="329184"/>
          </a:xfrm>
          <a:prstGeom prst="rect">
            <a:avLst/>
          </a:prstGeom>
        </p:spPr>
      </p:pic>
      <p:sp>
        <p:nvSpPr>
          <p:cNvPr id="12" name="Text 9"/>
          <p:cNvSpPr/>
          <p:nvPr/>
        </p:nvSpPr>
        <p:spPr>
          <a:xfrm>
            <a:off x="548640" y="2971800"/>
            <a:ext cx="1926275" cy="32004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Payment volume</a:t>
            </a:r>
            <a:endParaRPr lang="en-US" sz="1100" dirty="0"/>
          </a:p>
        </p:txBody>
      </p:sp>
      <p:sp>
        <p:nvSpPr>
          <p:cNvPr id="13" name="Text 10"/>
          <p:cNvSpPr/>
          <p:nvPr/>
        </p:nvSpPr>
        <p:spPr>
          <a:xfrm>
            <a:off x="548640" y="3273552"/>
            <a:ext cx="1926275" cy="274320"/>
          </a:xfrm>
          <a:prstGeom prst="rect">
            <a:avLst/>
          </a:prstGeom>
          <a:noFill/>
          <a:ln/>
        </p:spPr>
        <p:txBody>
          <a:bodyPr wrap="square" lIns="0" tIns="0" rIns="0" bIns="0" rtlCol="0" anchor="ctr"/>
          <a:lstStyle/>
          <a:p>
            <a:pPr marL="0" indent="0" algn="ctr">
              <a:buNone/>
            </a:pPr>
            <a:r>
              <a:rPr lang="en-US" sz="900" i="1" dirty="0">
                <a:solidFill>
                  <a:srgbClr val="0D9488"/>
                </a:solidFill>
                <a:latin typeface="Calibri" pitchFamily="34" charset="0"/>
                <a:ea typeface="Calibri" pitchFamily="34" charset="-122"/>
                <a:cs typeface="Calibri" pitchFamily="34" charset="-120"/>
              </a:rPr>
              <a:t>design</a:t>
            </a:r>
            <a:endParaRPr lang="en-US" sz="900" dirty="0"/>
          </a:p>
        </p:txBody>
      </p:sp>
      <p:sp>
        <p:nvSpPr>
          <p:cNvPr id="14" name="Shape 11"/>
          <p:cNvSpPr/>
          <p:nvPr/>
        </p:nvSpPr>
        <p:spPr>
          <a:xfrm>
            <a:off x="2749235" y="2194560"/>
            <a:ext cx="2109155"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5" name="Shape 12"/>
          <p:cNvSpPr/>
          <p:nvPr/>
        </p:nvSpPr>
        <p:spPr>
          <a:xfrm>
            <a:off x="2749235" y="2194560"/>
            <a:ext cx="73152" cy="1371600"/>
          </a:xfrm>
          <a:prstGeom prst="rect">
            <a:avLst/>
          </a:prstGeom>
          <a:solidFill>
            <a:srgbClr val="0D9488"/>
          </a:solidFill>
          <a:ln w="12700">
            <a:solidFill>
              <a:srgbClr val="0D9488"/>
            </a:solidFill>
            <a:prstDash val="solid"/>
          </a:ln>
        </p:spPr>
        <p:txBody>
          <a:bodyPr/>
          <a:lstStyle/>
          <a:p>
            <a:endParaRPr lang="en-US"/>
          </a:p>
        </p:txBody>
      </p:sp>
      <p:sp>
        <p:nvSpPr>
          <p:cNvPr id="16" name="Shape 13"/>
          <p:cNvSpPr/>
          <p:nvPr/>
        </p:nvSpPr>
        <p:spPr>
          <a:xfrm>
            <a:off x="3529493" y="2359152"/>
            <a:ext cx="548640" cy="548640"/>
          </a:xfrm>
          <a:prstGeom prst="ellipse">
            <a:avLst/>
          </a:prstGeom>
          <a:solidFill>
            <a:srgbClr val="0D9488"/>
          </a:solidFill>
          <a:ln w="12700">
            <a:solidFill>
              <a:srgbClr val="0D9488"/>
            </a:solidFill>
            <a:prstDash val="solid"/>
          </a:ln>
        </p:spPr>
        <p:txBody>
          <a:bodyPr/>
          <a:lstStyle/>
          <a:p>
            <a:endParaRPr lang="en-US"/>
          </a:p>
        </p:txBody>
      </p:sp>
      <p:pic>
        <p:nvPicPr>
          <p:cNvPr id="17" name="Image 1" descr="preencoded.png"/>
          <p:cNvPicPr>
            <a:picLocks noChangeAspect="1"/>
          </p:cNvPicPr>
          <p:nvPr/>
        </p:nvPicPr>
        <p:blipFill>
          <a:blip r:embed="rId3"/>
          <a:stretch>
            <a:fillRect/>
          </a:stretch>
        </p:blipFill>
        <p:spPr>
          <a:xfrm>
            <a:off x="3639221" y="2468880"/>
            <a:ext cx="329184" cy="329184"/>
          </a:xfrm>
          <a:prstGeom prst="rect">
            <a:avLst/>
          </a:prstGeom>
        </p:spPr>
      </p:pic>
      <p:sp>
        <p:nvSpPr>
          <p:cNvPr id="18" name="Text 14"/>
          <p:cNvSpPr/>
          <p:nvPr/>
        </p:nvSpPr>
        <p:spPr>
          <a:xfrm>
            <a:off x="2840675" y="2971800"/>
            <a:ext cx="1926275" cy="32004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Transaction success</a:t>
            </a:r>
            <a:endParaRPr lang="en-US" sz="1100" dirty="0"/>
          </a:p>
        </p:txBody>
      </p:sp>
      <p:sp>
        <p:nvSpPr>
          <p:cNvPr id="19" name="Text 15"/>
          <p:cNvSpPr/>
          <p:nvPr/>
        </p:nvSpPr>
        <p:spPr>
          <a:xfrm>
            <a:off x="2840675" y="3273552"/>
            <a:ext cx="1926275" cy="274320"/>
          </a:xfrm>
          <a:prstGeom prst="rect">
            <a:avLst/>
          </a:prstGeom>
          <a:noFill/>
          <a:ln/>
        </p:spPr>
        <p:txBody>
          <a:bodyPr wrap="square" lIns="0" tIns="0" rIns="0" bIns="0" rtlCol="0" anchor="ctr"/>
          <a:lstStyle/>
          <a:p>
            <a:pPr marL="0" indent="0" algn="ctr">
              <a:buNone/>
            </a:pPr>
            <a:r>
              <a:rPr lang="en-US" sz="900" i="1" dirty="0">
                <a:solidFill>
                  <a:srgbClr val="0D9488"/>
                </a:solidFill>
                <a:latin typeface="Calibri" pitchFamily="34" charset="0"/>
                <a:ea typeface="Calibri" pitchFamily="34" charset="-122"/>
                <a:cs typeface="Calibri" pitchFamily="34" charset="-120"/>
              </a:rPr>
              <a:t>design</a:t>
            </a:r>
            <a:endParaRPr lang="en-US" sz="900" dirty="0"/>
          </a:p>
        </p:txBody>
      </p:sp>
      <p:sp>
        <p:nvSpPr>
          <p:cNvPr id="20" name="Shape 16"/>
          <p:cNvSpPr/>
          <p:nvPr/>
        </p:nvSpPr>
        <p:spPr>
          <a:xfrm>
            <a:off x="5041270" y="2194560"/>
            <a:ext cx="2109155"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1" name="Shape 17"/>
          <p:cNvSpPr/>
          <p:nvPr/>
        </p:nvSpPr>
        <p:spPr>
          <a:xfrm>
            <a:off x="5041270" y="2194560"/>
            <a:ext cx="73152" cy="1371600"/>
          </a:xfrm>
          <a:prstGeom prst="rect">
            <a:avLst/>
          </a:prstGeom>
          <a:solidFill>
            <a:srgbClr val="0D9488"/>
          </a:solidFill>
          <a:ln w="12700">
            <a:solidFill>
              <a:srgbClr val="0D9488"/>
            </a:solidFill>
            <a:prstDash val="solid"/>
          </a:ln>
        </p:spPr>
        <p:txBody>
          <a:bodyPr/>
          <a:lstStyle/>
          <a:p>
            <a:endParaRPr lang="en-US"/>
          </a:p>
        </p:txBody>
      </p:sp>
      <p:sp>
        <p:nvSpPr>
          <p:cNvPr id="22" name="Shape 18"/>
          <p:cNvSpPr/>
          <p:nvPr/>
        </p:nvSpPr>
        <p:spPr>
          <a:xfrm>
            <a:off x="5821528" y="2359152"/>
            <a:ext cx="548640" cy="548640"/>
          </a:xfrm>
          <a:prstGeom prst="ellipse">
            <a:avLst/>
          </a:prstGeom>
          <a:solidFill>
            <a:srgbClr val="0D9488"/>
          </a:solidFill>
          <a:ln w="12700">
            <a:solidFill>
              <a:srgbClr val="0D9488"/>
            </a:solidFill>
            <a:prstDash val="solid"/>
          </a:ln>
        </p:spPr>
        <p:txBody>
          <a:bodyPr/>
          <a:lstStyle/>
          <a:p>
            <a:endParaRPr lang="en-US"/>
          </a:p>
        </p:txBody>
      </p:sp>
      <p:pic>
        <p:nvPicPr>
          <p:cNvPr id="23" name="Image 2" descr="preencoded.png"/>
          <p:cNvPicPr>
            <a:picLocks noChangeAspect="1"/>
          </p:cNvPicPr>
          <p:nvPr/>
        </p:nvPicPr>
        <p:blipFill>
          <a:blip r:embed="rId3"/>
          <a:stretch>
            <a:fillRect/>
          </a:stretch>
        </p:blipFill>
        <p:spPr>
          <a:xfrm>
            <a:off x="5931256" y="2468880"/>
            <a:ext cx="329184" cy="329184"/>
          </a:xfrm>
          <a:prstGeom prst="rect">
            <a:avLst/>
          </a:prstGeom>
        </p:spPr>
      </p:pic>
      <p:sp>
        <p:nvSpPr>
          <p:cNvPr id="24" name="Text 19"/>
          <p:cNvSpPr/>
          <p:nvPr/>
        </p:nvSpPr>
        <p:spPr>
          <a:xfrm>
            <a:off x="5132710" y="2971800"/>
            <a:ext cx="1926275" cy="32004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Channel mix</a:t>
            </a:r>
            <a:endParaRPr lang="en-US" sz="1100" dirty="0"/>
          </a:p>
        </p:txBody>
      </p:sp>
      <p:sp>
        <p:nvSpPr>
          <p:cNvPr id="25" name="Text 20"/>
          <p:cNvSpPr/>
          <p:nvPr/>
        </p:nvSpPr>
        <p:spPr>
          <a:xfrm>
            <a:off x="5132710" y="3273552"/>
            <a:ext cx="1926275" cy="274320"/>
          </a:xfrm>
          <a:prstGeom prst="rect">
            <a:avLst/>
          </a:prstGeom>
          <a:noFill/>
          <a:ln/>
        </p:spPr>
        <p:txBody>
          <a:bodyPr wrap="square" lIns="0" tIns="0" rIns="0" bIns="0" rtlCol="0" anchor="ctr"/>
          <a:lstStyle/>
          <a:p>
            <a:pPr marL="0" indent="0" algn="ctr">
              <a:buNone/>
            </a:pPr>
            <a:r>
              <a:rPr lang="en-US" sz="900" i="1" dirty="0">
                <a:solidFill>
                  <a:srgbClr val="0D9488"/>
                </a:solidFill>
                <a:latin typeface="Calibri" pitchFamily="34" charset="0"/>
                <a:ea typeface="Calibri" pitchFamily="34" charset="-122"/>
                <a:cs typeface="Calibri" pitchFamily="34" charset="-120"/>
              </a:rPr>
              <a:t>design</a:t>
            </a:r>
            <a:endParaRPr lang="en-US" sz="900" dirty="0"/>
          </a:p>
        </p:txBody>
      </p:sp>
      <p:sp>
        <p:nvSpPr>
          <p:cNvPr id="26" name="Shape 21"/>
          <p:cNvSpPr/>
          <p:nvPr/>
        </p:nvSpPr>
        <p:spPr>
          <a:xfrm>
            <a:off x="7333305" y="2194560"/>
            <a:ext cx="2109155"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7" name="Shape 22"/>
          <p:cNvSpPr/>
          <p:nvPr/>
        </p:nvSpPr>
        <p:spPr>
          <a:xfrm>
            <a:off x="7333305" y="2194560"/>
            <a:ext cx="73152" cy="1371600"/>
          </a:xfrm>
          <a:prstGeom prst="rect">
            <a:avLst/>
          </a:prstGeom>
          <a:solidFill>
            <a:srgbClr val="F59E0B"/>
          </a:solidFill>
          <a:ln w="12700">
            <a:solidFill>
              <a:srgbClr val="F59E0B"/>
            </a:solidFill>
            <a:prstDash val="solid"/>
          </a:ln>
        </p:spPr>
        <p:txBody>
          <a:bodyPr/>
          <a:lstStyle/>
          <a:p>
            <a:endParaRPr lang="en-US"/>
          </a:p>
        </p:txBody>
      </p:sp>
      <p:sp>
        <p:nvSpPr>
          <p:cNvPr id="28" name="Shape 23"/>
          <p:cNvSpPr/>
          <p:nvPr/>
        </p:nvSpPr>
        <p:spPr>
          <a:xfrm>
            <a:off x="8113563" y="2359152"/>
            <a:ext cx="548640" cy="548640"/>
          </a:xfrm>
          <a:prstGeom prst="ellipse">
            <a:avLst/>
          </a:prstGeom>
          <a:solidFill>
            <a:srgbClr val="F59E0B"/>
          </a:solidFill>
          <a:ln w="12700">
            <a:solidFill>
              <a:srgbClr val="F59E0B"/>
            </a:solidFill>
            <a:prstDash val="solid"/>
          </a:ln>
        </p:spPr>
        <p:txBody>
          <a:bodyPr/>
          <a:lstStyle/>
          <a:p>
            <a:endParaRPr lang="en-US"/>
          </a:p>
        </p:txBody>
      </p:sp>
      <p:pic>
        <p:nvPicPr>
          <p:cNvPr id="29" name="Image 3" descr="preencoded.png"/>
          <p:cNvPicPr>
            <a:picLocks noChangeAspect="1"/>
          </p:cNvPicPr>
          <p:nvPr/>
        </p:nvPicPr>
        <p:blipFill>
          <a:blip r:embed="rId3"/>
          <a:stretch>
            <a:fillRect/>
          </a:stretch>
        </p:blipFill>
        <p:spPr>
          <a:xfrm>
            <a:off x="8223291" y="2468880"/>
            <a:ext cx="329184" cy="329184"/>
          </a:xfrm>
          <a:prstGeom prst="rect">
            <a:avLst/>
          </a:prstGeom>
        </p:spPr>
      </p:pic>
      <p:sp>
        <p:nvSpPr>
          <p:cNvPr id="30" name="Text 24"/>
          <p:cNvSpPr/>
          <p:nvPr/>
        </p:nvSpPr>
        <p:spPr>
          <a:xfrm>
            <a:off x="7424745" y="2971800"/>
            <a:ext cx="1926275" cy="32004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Fee + interchange</a:t>
            </a:r>
            <a:endParaRPr lang="en-US" sz="1100" dirty="0"/>
          </a:p>
        </p:txBody>
      </p:sp>
      <p:sp>
        <p:nvSpPr>
          <p:cNvPr id="31" name="Text 25"/>
          <p:cNvSpPr/>
          <p:nvPr/>
        </p:nvSpPr>
        <p:spPr>
          <a:xfrm>
            <a:off x="7424745" y="3273552"/>
            <a:ext cx="1926275" cy="274320"/>
          </a:xfrm>
          <a:prstGeom prst="rect">
            <a:avLst/>
          </a:prstGeom>
          <a:noFill/>
          <a:ln/>
        </p:spPr>
        <p:txBody>
          <a:bodyPr wrap="square" lIns="0" tIns="0" rIns="0" bIns="0" rtlCol="0" anchor="ctr"/>
          <a:lstStyle/>
          <a:p>
            <a:pPr marL="0" indent="0" algn="ctr">
              <a:buNone/>
            </a:pPr>
            <a:r>
              <a:rPr lang="en-US" sz="900" i="1" dirty="0">
                <a:solidFill>
                  <a:srgbClr val="F59E0B"/>
                </a:solidFill>
                <a:latin typeface="Calibri" pitchFamily="34" charset="0"/>
                <a:ea typeface="Calibri" pitchFamily="34" charset="-122"/>
                <a:cs typeface="Calibri" pitchFamily="34" charset="-120"/>
              </a:rPr>
              <a:t>discovery</a:t>
            </a:r>
            <a:endParaRPr lang="en-US" sz="900" dirty="0"/>
          </a:p>
        </p:txBody>
      </p:sp>
      <p:sp>
        <p:nvSpPr>
          <p:cNvPr id="32" name="Shape 26"/>
          <p:cNvSpPr/>
          <p:nvPr/>
        </p:nvSpPr>
        <p:spPr>
          <a:xfrm>
            <a:off x="9625340" y="2194560"/>
            <a:ext cx="2109155"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33" name="Shape 27"/>
          <p:cNvSpPr/>
          <p:nvPr/>
        </p:nvSpPr>
        <p:spPr>
          <a:xfrm>
            <a:off x="9625340" y="2194560"/>
            <a:ext cx="73152" cy="1371600"/>
          </a:xfrm>
          <a:prstGeom prst="rect">
            <a:avLst/>
          </a:prstGeom>
          <a:solidFill>
            <a:srgbClr val="F59E0B"/>
          </a:solidFill>
          <a:ln w="12700">
            <a:solidFill>
              <a:srgbClr val="F59E0B"/>
            </a:solidFill>
            <a:prstDash val="solid"/>
          </a:ln>
        </p:spPr>
        <p:txBody>
          <a:bodyPr/>
          <a:lstStyle/>
          <a:p>
            <a:endParaRPr lang="en-US"/>
          </a:p>
        </p:txBody>
      </p:sp>
      <p:sp>
        <p:nvSpPr>
          <p:cNvPr id="34" name="Shape 28"/>
          <p:cNvSpPr/>
          <p:nvPr/>
        </p:nvSpPr>
        <p:spPr>
          <a:xfrm>
            <a:off x="10405598" y="2359152"/>
            <a:ext cx="548640" cy="548640"/>
          </a:xfrm>
          <a:prstGeom prst="ellipse">
            <a:avLst/>
          </a:prstGeom>
          <a:solidFill>
            <a:srgbClr val="F59E0B"/>
          </a:solidFill>
          <a:ln w="12700">
            <a:solidFill>
              <a:srgbClr val="F59E0B"/>
            </a:solidFill>
            <a:prstDash val="solid"/>
          </a:ln>
        </p:spPr>
        <p:txBody>
          <a:bodyPr/>
          <a:lstStyle/>
          <a:p>
            <a:endParaRPr lang="en-US"/>
          </a:p>
        </p:txBody>
      </p:sp>
      <p:pic>
        <p:nvPicPr>
          <p:cNvPr id="35" name="Image 4" descr="preencoded.png"/>
          <p:cNvPicPr>
            <a:picLocks noChangeAspect="1"/>
          </p:cNvPicPr>
          <p:nvPr/>
        </p:nvPicPr>
        <p:blipFill>
          <a:blip r:embed="rId3"/>
          <a:stretch>
            <a:fillRect/>
          </a:stretch>
        </p:blipFill>
        <p:spPr>
          <a:xfrm>
            <a:off x="10515326" y="2468880"/>
            <a:ext cx="329184" cy="329184"/>
          </a:xfrm>
          <a:prstGeom prst="rect">
            <a:avLst/>
          </a:prstGeom>
        </p:spPr>
      </p:pic>
      <p:sp>
        <p:nvSpPr>
          <p:cNvPr id="36" name="Text 29"/>
          <p:cNvSpPr/>
          <p:nvPr/>
        </p:nvSpPr>
        <p:spPr>
          <a:xfrm>
            <a:off x="9716780" y="2971800"/>
            <a:ext cx="1926275" cy="32004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Settlement timing</a:t>
            </a:r>
            <a:endParaRPr lang="en-US" sz="1100" dirty="0"/>
          </a:p>
        </p:txBody>
      </p:sp>
      <p:sp>
        <p:nvSpPr>
          <p:cNvPr id="37" name="Text 30"/>
          <p:cNvSpPr/>
          <p:nvPr/>
        </p:nvSpPr>
        <p:spPr>
          <a:xfrm>
            <a:off x="9716780" y="3273552"/>
            <a:ext cx="1926275" cy="274320"/>
          </a:xfrm>
          <a:prstGeom prst="rect">
            <a:avLst/>
          </a:prstGeom>
          <a:noFill/>
          <a:ln/>
        </p:spPr>
        <p:txBody>
          <a:bodyPr wrap="square" lIns="0" tIns="0" rIns="0" bIns="0" rtlCol="0" anchor="ctr"/>
          <a:lstStyle/>
          <a:p>
            <a:pPr marL="0" indent="0" algn="ctr">
              <a:buNone/>
            </a:pPr>
            <a:r>
              <a:rPr lang="en-US" sz="900" i="1" dirty="0">
                <a:solidFill>
                  <a:srgbClr val="F59E0B"/>
                </a:solidFill>
                <a:latin typeface="Calibri" pitchFamily="34" charset="0"/>
                <a:ea typeface="Calibri" pitchFamily="34" charset="-122"/>
                <a:cs typeface="Calibri" pitchFamily="34" charset="-120"/>
              </a:rPr>
              <a:t>discovery</a:t>
            </a:r>
            <a:endParaRPr lang="en-US" sz="900" dirty="0"/>
          </a:p>
        </p:txBody>
      </p:sp>
      <p:sp>
        <p:nvSpPr>
          <p:cNvPr id="38" name="Shape 31"/>
          <p:cNvSpPr/>
          <p:nvPr/>
        </p:nvSpPr>
        <p:spPr>
          <a:xfrm>
            <a:off x="457200" y="3749040"/>
            <a:ext cx="2109155"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39" name="Shape 32"/>
          <p:cNvSpPr/>
          <p:nvPr/>
        </p:nvSpPr>
        <p:spPr>
          <a:xfrm>
            <a:off x="457200" y="3749040"/>
            <a:ext cx="73152" cy="1371600"/>
          </a:xfrm>
          <a:prstGeom prst="rect">
            <a:avLst/>
          </a:prstGeom>
          <a:solidFill>
            <a:srgbClr val="F59E0B"/>
          </a:solidFill>
          <a:ln w="12700">
            <a:solidFill>
              <a:srgbClr val="F59E0B"/>
            </a:solidFill>
            <a:prstDash val="solid"/>
          </a:ln>
        </p:spPr>
        <p:txBody>
          <a:bodyPr/>
          <a:lstStyle/>
          <a:p>
            <a:endParaRPr lang="en-US"/>
          </a:p>
        </p:txBody>
      </p:sp>
      <p:sp>
        <p:nvSpPr>
          <p:cNvPr id="40" name="Shape 33"/>
          <p:cNvSpPr/>
          <p:nvPr/>
        </p:nvSpPr>
        <p:spPr>
          <a:xfrm>
            <a:off x="1237458" y="3913632"/>
            <a:ext cx="548640" cy="548640"/>
          </a:xfrm>
          <a:prstGeom prst="ellipse">
            <a:avLst/>
          </a:prstGeom>
          <a:solidFill>
            <a:srgbClr val="F59E0B"/>
          </a:solidFill>
          <a:ln w="12700">
            <a:solidFill>
              <a:srgbClr val="F59E0B"/>
            </a:solidFill>
            <a:prstDash val="solid"/>
          </a:ln>
        </p:spPr>
        <p:txBody>
          <a:bodyPr/>
          <a:lstStyle/>
          <a:p>
            <a:endParaRPr lang="en-US"/>
          </a:p>
        </p:txBody>
      </p:sp>
      <p:pic>
        <p:nvPicPr>
          <p:cNvPr id="41" name="Image 5" descr="preencoded.png"/>
          <p:cNvPicPr>
            <a:picLocks noChangeAspect="1"/>
          </p:cNvPicPr>
          <p:nvPr/>
        </p:nvPicPr>
        <p:blipFill>
          <a:blip r:embed="rId3"/>
          <a:stretch>
            <a:fillRect/>
          </a:stretch>
        </p:blipFill>
        <p:spPr>
          <a:xfrm>
            <a:off x="1347186" y="4023360"/>
            <a:ext cx="329184" cy="329184"/>
          </a:xfrm>
          <a:prstGeom prst="rect">
            <a:avLst/>
          </a:prstGeom>
        </p:spPr>
      </p:pic>
      <p:sp>
        <p:nvSpPr>
          <p:cNvPr id="42" name="Text 34"/>
          <p:cNvSpPr/>
          <p:nvPr/>
        </p:nvSpPr>
        <p:spPr>
          <a:xfrm>
            <a:off x="548640" y="4526280"/>
            <a:ext cx="1926275" cy="32004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Risk + exceptions</a:t>
            </a:r>
            <a:endParaRPr lang="en-US" sz="1100" dirty="0"/>
          </a:p>
        </p:txBody>
      </p:sp>
      <p:sp>
        <p:nvSpPr>
          <p:cNvPr id="43" name="Text 35"/>
          <p:cNvSpPr/>
          <p:nvPr/>
        </p:nvSpPr>
        <p:spPr>
          <a:xfrm>
            <a:off x="548640" y="4828032"/>
            <a:ext cx="1926275" cy="274320"/>
          </a:xfrm>
          <a:prstGeom prst="rect">
            <a:avLst/>
          </a:prstGeom>
          <a:noFill/>
          <a:ln/>
        </p:spPr>
        <p:txBody>
          <a:bodyPr wrap="square" lIns="0" tIns="0" rIns="0" bIns="0" rtlCol="0" anchor="ctr"/>
          <a:lstStyle/>
          <a:p>
            <a:pPr marL="0" indent="0" algn="ctr">
              <a:buNone/>
            </a:pPr>
            <a:r>
              <a:rPr lang="en-US" sz="900" i="1" dirty="0">
                <a:solidFill>
                  <a:srgbClr val="F59E0B"/>
                </a:solidFill>
                <a:latin typeface="Calibri" pitchFamily="34" charset="0"/>
                <a:ea typeface="Calibri" pitchFamily="34" charset="-122"/>
                <a:cs typeface="Calibri" pitchFamily="34" charset="-120"/>
              </a:rPr>
              <a:t>discovery</a:t>
            </a:r>
            <a:endParaRPr lang="en-US" sz="900" dirty="0"/>
          </a:p>
        </p:txBody>
      </p:sp>
      <p:sp>
        <p:nvSpPr>
          <p:cNvPr id="44" name="Shape 36"/>
          <p:cNvSpPr/>
          <p:nvPr/>
        </p:nvSpPr>
        <p:spPr>
          <a:xfrm>
            <a:off x="2749235" y="3749040"/>
            <a:ext cx="2109155"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45" name="Shape 37"/>
          <p:cNvSpPr/>
          <p:nvPr/>
        </p:nvSpPr>
        <p:spPr>
          <a:xfrm>
            <a:off x="2749235" y="3749040"/>
            <a:ext cx="73152" cy="1371600"/>
          </a:xfrm>
          <a:prstGeom prst="rect">
            <a:avLst/>
          </a:prstGeom>
          <a:solidFill>
            <a:srgbClr val="F59E0B"/>
          </a:solidFill>
          <a:ln w="12700">
            <a:solidFill>
              <a:srgbClr val="F59E0B"/>
            </a:solidFill>
            <a:prstDash val="solid"/>
          </a:ln>
        </p:spPr>
        <p:txBody>
          <a:bodyPr/>
          <a:lstStyle/>
          <a:p>
            <a:endParaRPr lang="en-US"/>
          </a:p>
        </p:txBody>
      </p:sp>
      <p:sp>
        <p:nvSpPr>
          <p:cNvPr id="46" name="Shape 38"/>
          <p:cNvSpPr/>
          <p:nvPr/>
        </p:nvSpPr>
        <p:spPr>
          <a:xfrm>
            <a:off x="3529493" y="3913632"/>
            <a:ext cx="548640" cy="548640"/>
          </a:xfrm>
          <a:prstGeom prst="ellipse">
            <a:avLst/>
          </a:prstGeom>
          <a:solidFill>
            <a:srgbClr val="F59E0B"/>
          </a:solidFill>
          <a:ln w="12700">
            <a:solidFill>
              <a:srgbClr val="F59E0B"/>
            </a:solidFill>
            <a:prstDash val="solid"/>
          </a:ln>
        </p:spPr>
        <p:txBody>
          <a:bodyPr/>
          <a:lstStyle/>
          <a:p>
            <a:endParaRPr lang="en-US"/>
          </a:p>
        </p:txBody>
      </p:sp>
      <p:pic>
        <p:nvPicPr>
          <p:cNvPr id="47" name="Image 6" descr="preencoded.png"/>
          <p:cNvPicPr>
            <a:picLocks noChangeAspect="1"/>
          </p:cNvPicPr>
          <p:nvPr/>
        </p:nvPicPr>
        <p:blipFill>
          <a:blip r:embed="rId3"/>
          <a:stretch>
            <a:fillRect/>
          </a:stretch>
        </p:blipFill>
        <p:spPr>
          <a:xfrm>
            <a:off x="3639221" y="4023360"/>
            <a:ext cx="329184" cy="329184"/>
          </a:xfrm>
          <a:prstGeom prst="rect">
            <a:avLst/>
          </a:prstGeom>
        </p:spPr>
      </p:pic>
      <p:sp>
        <p:nvSpPr>
          <p:cNvPr id="48" name="Text 39"/>
          <p:cNvSpPr/>
          <p:nvPr/>
        </p:nvSpPr>
        <p:spPr>
          <a:xfrm>
            <a:off x="2840675" y="4526280"/>
            <a:ext cx="1926275" cy="32004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Customer cohorts</a:t>
            </a:r>
            <a:endParaRPr lang="en-US" sz="1100" dirty="0"/>
          </a:p>
        </p:txBody>
      </p:sp>
      <p:sp>
        <p:nvSpPr>
          <p:cNvPr id="49" name="Text 40"/>
          <p:cNvSpPr/>
          <p:nvPr/>
        </p:nvSpPr>
        <p:spPr>
          <a:xfrm>
            <a:off x="2840675" y="4828032"/>
            <a:ext cx="1926275" cy="274320"/>
          </a:xfrm>
          <a:prstGeom prst="rect">
            <a:avLst/>
          </a:prstGeom>
          <a:noFill/>
          <a:ln/>
        </p:spPr>
        <p:txBody>
          <a:bodyPr wrap="square" lIns="0" tIns="0" rIns="0" bIns="0" rtlCol="0" anchor="ctr"/>
          <a:lstStyle/>
          <a:p>
            <a:pPr marL="0" indent="0" algn="ctr">
              <a:buNone/>
            </a:pPr>
            <a:r>
              <a:rPr lang="en-US" sz="900" i="1" dirty="0">
                <a:solidFill>
                  <a:srgbClr val="F59E0B"/>
                </a:solidFill>
                <a:latin typeface="Calibri" pitchFamily="34" charset="0"/>
                <a:ea typeface="Calibri" pitchFamily="34" charset="-122"/>
                <a:cs typeface="Calibri" pitchFamily="34" charset="-120"/>
              </a:rPr>
              <a:t>discovery</a:t>
            </a:r>
            <a:endParaRPr lang="en-US" sz="900" dirty="0"/>
          </a:p>
        </p:txBody>
      </p:sp>
      <p:sp>
        <p:nvSpPr>
          <p:cNvPr id="50" name="Shape 41"/>
          <p:cNvSpPr/>
          <p:nvPr/>
        </p:nvSpPr>
        <p:spPr>
          <a:xfrm>
            <a:off x="5041270" y="3749040"/>
            <a:ext cx="2109155"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51" name="Shape 42"/>
          <p:cNvSpPr/>
          <p:nvPr/>
        </p:nvSpPr>
        <p:spPr>
          <a:xfrm>
            <a:off x="5041270" y="3749040"/>
            <a:ext cx="73152" cy="1371600"/>
          </a:xfrm>
          <a:prstGeom prst="rect">
            <a:avLst/>
          </a:prstGeom>
          <a:solidFill>
            <a:srgbClr val="F59E0B"/>
          </a:solidFill>
          <a:ln w="12700">
            <a:solidFill>
              <a:srgbClr val="F59E0B"/>
            </a:solidFill>
            <a:prstDash val="solid"/>
          </a:ln>
        </p:spPr>
        <p:txBody>
          <a:bodyPr/>
          <a:lstStyle/>
          <a:p>
            <a:endParaRPr lang="en-US"/>
          </a:p>
        </p:txBody>
      </p:sp>
      <p:sp>
        <p:nvSpPr>
          <p:cNvPr id="52" name="Shape 43"/>
          <p:cNvSpPr/>
          <p:nvPr/>
        </p:nvSpPr>
        <p:spPr>
          <a:xfrm>
            <a:off x="5821528" y="3913632"/>
            <a:ext cx="548640" cy="548640"/>
          </a:xfrm>
          <a:prstGeom prst="ellipse">
            <a:avLst/>
          </a:prstGeom>
          <a:solidFill>
            <a:srgbClr val="F59E0B"/>
          </a:solidFill>
          <a:ln w="12700">
            <a:solidFill>
              <a:srgbClr val="F59E0B"/>
            </a:solidFill>
            <a:prstDash val="solid"/>
          </a:ln>
        </p:spPr>
        <p:txBody>
          <a:bodyPr/>
          <a:lstStyle/>
          <a:p>
            <a:endParaRPr lang="en-US"/>
          </a:p>
        </p:txBody>
      </p:sp>
      <p:pic>
        <p:nvPicPr>
          <p:cNvPr id="53" name="Image 7" descr="preencoded.png"/>
          <p:cNvPicPr>
            <a:picLocks noChangeAspect="1"/>
          </p:cNvPicPr>
          <p:nvPr/>
        </p:nvPicPr>
        <p:blipFill>
          <a:blip r:embed="rId3"/>
          <a:stretch>
            <a:fillRect/>
          </a:stretch>
        </p:blipFill>
        <p:spPr>
          <a:xfrm>
            <a:off x="5931256" y="4023360"/>
            <a:ext cx="329184" cy="329184"/>
          </a:xfrm>
          <a:prstGeom prst="rect">
            <a:avLst/>
          </a:prstGeom>
        </p:spPr>
      </p:pic>
      <p:sp>
        <p:nvSpPr>
          <p:cNvPr id="54" name="Text 44"/>
          <p:cNvSpPr/>
          <p:nvPr/>
        </p:nvSpPr>
        <p:spPr>
          <a:xfrm>
            <a:off x="5132710" y="4526280"/>
            <a:ext cx="1926275" cy="32004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Wires throughput</a:t>
            </a:r>
            <a:endParaRPr lang="en-US" sz="1100" dirty="0"/>
          </a:p>
        </p:txBody>
      </p:sp>
      <p:sp>
        <p:nvSpPr>
          <p:cNvPr id="55" name="Text 45"/>
          <p:cNvSpPr/>
          <p:nvPr/>
        </p:nvSpPr>
        <p:spPr>
          <a:xfrm>
            <a:off x="5132710" y="4828032"/>
            <a:ext cx="1926275" cy="274320"/>
          </a:xfrm>
          <a:prstGeom prst="rect">
            <a:avLst/>
          </a:prstGeom>
          <a:noFill/>
          <a:ln/>
        </p:spPr>
        <p:txBody>
          <a:bodyPr wrap="square" lIns="0" tIns="0" rIns="0" bIns="0" rtlCol="0" anchor="ctr"/>
          <a:lstStyle/>
          <a:p>
            <a:pPr marL="0" indent="0" algn="ctr">
              <a:buNone/>
            </a:pPr>
            <a:r>
              <a:rPr lang="en-US" sz="900" i="1" dirty="0">
                <a:solidFill>
                  <a:srgbClr val="F59E0B"/>
                </a:solidFill>
                <a:latin typeface="Calibri" pitchFamily="34" charset="0"/>
                <a:ea typeface="Calibri" pitchFamily="34" charset="-122"/>
                <a:cs typeface="Calibri" pitchFamily="34" charset="-120"/>
              </a:rPr>
              <a:t>discovery</a:t>
            </a:r>
            <a:endParaRPr lang="en-US" sz="900" dirty="0"/>
          </a:p>
        </p:txBody>
      </p:sp>
      <p:sp>
        <p:nvSpPr>
          <p:cNvPr id="56" name="Shape 46"/>
          <p:cNvSpPr/>
          <p:nvPr/>
        </p:nvSpPr>
        <p:spPr>
          <a:xfrm>
            <a:off x="7333305" y="3749040"/>
            <a:ext cx="2109155"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57" name="Shape 47"/>
          <p:cNvSpPr/>
          <p:nvPr/>
        </p:nvSpPr>
        <p:spPr>
          <a:xfrm>
            <a:off x="7333305" y="3749040"/>
            <a:ext cx="73152" cy="1371600"/>
          </a:xfrm>
          <a:prstGeom prst="rect">
            <a:avLst/>
          </a:prstGeom>
          <a:solidFill>
            <a:srgbClr val="F59E0B"/>
          </a:solidFill>
          <a:ln w="12700">
            <a:solidFill>
              <a:srgbClr val="F59E0B"/>
            </a:solidFill>
            <a:prstDash val="solid"/>
          </a:ln>
        </p:spPr>
        <p:txBody>
          <a:bodyPr/>
          <a:lstStyle/>
          <a:p>
            <a:endParaRPr lang="en-US"/>
          </a:p>
        </p:txBody>
      </p:sp>
      <p:sp>
        <p:nvSpPr>
          <p:cNvPr id="58" name="Shape 48"/>
          <p:cNvSpPr/>
          <p:nvPr/>
        </p:nvSpPr>
        <p:spPr>
          <a:xfrm>
            <a:off x="8113563" y="3913632"/>
            <a:ext cx="548640" cy="548640"/>
          </a:xfrm>
          <a:prstGeom prst="ellipse">
            <a:avLst/>
          </a:prstGeom>
          <a:solidFill>
            <a:srgbClr val="F59E0B"/>
          </a:solidFill>
          <a:ln w="12700">
            <a:solidFill>
              <a:srgbClr val="F59E0B"/>
            </a:solidFill>
            <a:prstDash val="solid"/>
          </a:ln>
        </p:spPr>
        <p:txBody>
          <a:bodyPr/>
          <a:lstStyle/>
          <a:p>
            <a:endParaRPr lang="en-US"/>
          </a:p>
        </p:txBody>
      </p:sp>
      <p:pic>
        <p:nvPicPr>
          <p:cNvPr id="59" name="Image 8" descr="preencoded.png"/>
          <p:cNvPicPr>
            <a:picLocks noChangeAspect="1"/>
          </p:cNvPicPr>
          <p:nvPr/>
        </p:nvPicPr>
        <p:blipFill>
          <a:blip r:embed="rId3"/>
          <a:stretch>
            <a:fillRect/>
          </a:stretch>
        </p:blipFill>
        <p:spPr>
          <a:xfrm>
            <a:off x="8223291" y="4023360"/>
            <a:ext cx="329184" cy="329184"/>
          </a:xfrm>
          <a:prstGeom prst="rect">
            <a:avLst/>
          </a:prstGeom>
        </p:spPr>
      </p:pic>
      <p:sp>
        <p:nvSpPr>
          <p:cNvPr id="60" name="Text 49"/>
          <p:cNvSpPr/>
          <p:nvPr/>
        </p:nvSpPr>
        <p:spPr>
          <a:xfrm>
            <a:off x="7424745" y="4526280"/>
            <a:ext cx="1926275" cy="32004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SmartPay adoption</a:t>
            </a:r>
            <a:endParaRPr lang="en-US" sz="1100" dirty="0"/>
          </a:p>
        </p:txBody>
      </p:sp>
      <p:sp>
        <p:nvSpPr>
          <p:cNvPr id="61" name="Text 50"/>
          <p:cNvSpPr/>
          <p:nvPr/>
        </p:nvSpPr>
        <p:spPr>
          <a:xfrm>
            <a:off x="7424745" y="4828032"/>
            <a:ext cx="1926275" cy="274320"/>
          </a:xfrm>
          <a:prstGeom prst="rect">
            <a:avLst/>
          </a:prstGeom>
          <a:noFill/>
          <a:ln/>
        </p:spPr>
        <p:txBody>
          <a:bodyPr wrap="square" lIns="0" tIns="0" rIns="0" bIns="0" rtlCol="0" anchor="ctr"/>
          <a:lstStyle/>
          <a:p>
            <a:pPr marL="0" indent="0" algn="ctr">
              <a:buNone/>
            </a:pPr>
            <a:r>
              <a:rPr lang="en-US" sz="900" i="1" dirty="0">
                <a:solidFill>
                  <a:srgbClr val="F59E0B"/>
                </a:solidFill>
                <a:latin typeface="Calibri" pitchFamily="34" charset="0"/>
                <a:ea typeface="Calibri" pitchFamily="34" charset="-122"/>
                <a:cs typeface="Calibri" pitchFamily="34" charset="-120"/>
              </a:rPr>
              <a:t>discovery</a:t>
            </a:r>
            <a:endParaRPr lang="en-US" sz="900" dirty="0"/>
          </a:p>
        </p:txBody>
      </p:sp>
      <p:sp>
        <p:nvSpPr>
          <p:cNvPr id="62" name="Shape 51"/>
          <p:cNvSpPr/>
          <p:nvPr/>
        </p:nvSpPr>
        <p:spPr>
          <a:xfrm>
            <a:off x="9625340" y="3749040"/>
            <a:ext cx="2109155" cy="1371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63" name="Shape 52"/>
          <p:cNvSpPr/>
          <p:nvPr/>
        </p:nvSpPr>
        <p:spPr>
          <a:xfrm>
            <a:off x="9625340" y="3749040"/>
            <a:ext cx="73152" cy="1371600"/>
          </a:xfrm>
          <a:prstGeom prst="rect">
            <a:avLst/>
          </a:prstGeom>
          <a:solidFill>
            <a:srgbClr val="0D9488"/>
          </a:solidFill>
          <a:ln w="12700">
            <a:solidFill>
              <a:srgbClr val="0D9488"/>
            </a:solidFill>
            <a:prstDash val="solid"/>
          </a:ln>
        </p:spPr>
        <p:txBody>
          <a:bodyPr/>
          <a:lstStyle/>
          <a:p>
            <a:endParaRPr lang="en-US"/>
          </a:p>
        </p:txBody>
      </p:sp>
      <p:sp>
        <p:nvSpPr>
          <p:cNvPr id="64" name="Shape 53"/>
          <p:cNvSpPr/>
          <p:nvPr/>
        </p:nvSpPr>
        <p:spPr>
          <a:xfrm>
            <a:off x="10405598" y="3913632"/>
            <a:ext cx="548640" cy="548640"/>
          </a:xfrm>
          <a:prstGeom prst="ellipse">
            <a:avLst/>
          </a:prstGeom>
          <a:solidFill>
            <a:srgbClr val="0D9488"/>
          </a:solidFill>
          <a:ln w="12700">
            <a:solidFill>
              <a:srgbClr val="0D9488"/>
            </a:solidFill>
            <a:prstDash val="solid"/>
          </a:ln>
        </p:spPr>
        <p:txBody>
          <a:bodyPr/>
          <a:lstStyle/>
          <a:p>
            <a:endParaRPr lang="en-US"/>
          </a:p>
        </p:txBody>
      </p:sp>
      <p:pic>
        <p:nvPicPr>
          <p:cNvPr id="65" name="Image 9" descr="preencoded.png"/>
          <p:cNvPicPr>
            <a:picLocks noChangeAspect="1"/>
          </p:cNvPicPr>
          <p:nvPr/>
        </p:nvPicPr>
        <p:blipFill>
          <a:blip r:embed="rId3"/>
          <a:stretch>
            <a:fillRect/>
          </a:stretch>
        </p:blipFill>
        <p:spPr>
          <a:xfrm>
            <a:off x="10515326" y="4023360"/>
            <a:ext cx="329184" cy="329184"/>
          </a:xfrm>
          <a:prstGeom prst="rect">
            <a:avLst/>
          </a:prstGeom>
        </p:spPr>
      </p:pic>
      <p:sp>
        <p:nvSpPr>
          <p:cNvPr id="66" name="Text 54"/>
          <p:cNvSpPr/>
          <p:nvPr/>
        </p:nvSpPr>
        <p:spPr>
          <a:xfrm>
            <a:off x="9716780" y="4526280"/>
            <a:ext cx="1926275" cy="32004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Exec scorecard</a:t>
            </a:r>
            <a:endParaRPr lang="en-US" sz="1100" dirty="0"/>
          </a:p>
        </p:txBody>
      </p:sp>
      <p:sp>
        <p:nvSpPr>
          <p:cNvPr id="67" name="Text 55"/>
          <p:cNvSpPr/>
          <p:nvPr/>
        </p:nvSpPr>
        <p:spPr>
          <a:xfrm>
            <a:off x="9716780" y="4828032"/>
            <a:ext cx="1926275" cy="274320"/>
          </a:xfrm>
          <a:prstGeom prst="rect">
            <a:avLst/>
          </a:prstGeom>
          <a:noFill/>
          <a:ln/>
        </p:spPr>
        <p:txBody>
          <a:bodyPr wrap="square" lIns="0" tIns="0" rIns="0" bIns="0" rtlCol="0" anchor="ctr"/>
          <a:lstStyle/>
          <a:p>
            <a:pPr marL="0" indent="0" algn="ctr">
              <a:buNone/>
            </a:pPr>
            <a:r>
              <a:rPr lang="en-US" sz="900" i="1" dirty="0">
                <a:solidFill>
                  <a:srgbClr val="0D9488"/>
                </a:solidFill>
                <a:latin typeface="Calibri" pitchFamily="34" charset="0"/>
                <a:ea typeface="Calibri" pitchFamily="34" charset="-122"/>
                <a:cs typeface="Calibri" pitchFamily="34" charset="-120"/>
              </a:rPr>
              <a:t>design</a:t>
            </a:r>
            <a:endParaRPr lang="en-US" sz="900" dirty="0"/>
          </a:p>
        </p:txBody>
      </p:sp>
      <p:sp>
        <p:nvSpPr>
          <p:cNvPr id="68" name="Shape 56"/>
          <p:cNvSpPr/>
          <p:nvPr/>
        </p:nvSpPr>
        <p:spPr>
          <a:xfrm>
            <a:off x="457200" y="5486400"/>
            <a:ext cx="11277295" cy="868680"/>
          </a:xfrm>
          <a:prstGeom prst="rect">
            <a:avLst/>
          </a:prstGeom>
          <a:solidFill>
            <a:srgbClr val="0F172A"/>
          </a:solidFill>
          <a:ln w="12700">
            <a:solidFill>
              <a:srgbClr val="0F172A"/>
            </a:solidFill>
            <a:prstDash val="solid"/>
          </a:ln>
          <a:effectLst>
            <a:outerShdw blurRad="101600" dist="25400" dir="5400000" algn="bl" rotWithShape="0">
              <a:srgbClr val="000000">
                <a:alpha val="10000"/>
              </a:srgbClr>
            </a:outerShdw>
          </a:effectLst>
        </p:spPr>
        <p:txBody>
          <a:bodyPr/>
          <a:lstStyle/>
          <a:p>
            <a:endParaRPr lang="en-US"/>
          </a:p>
        </p:txBody>
      </p:sp>
      <p:sp>
        <p:nvSpPr>
          <p:cNvPr id="69" name="Shape 57"/>
          <p:cNvSpPr/>
          <p:nvPr/>
        </p:nvSpPr>
        <p:spPr>
          <a:xfrm>
            <a:off x="457200" y="5486400"/>
            <a:ext cx="73152" cy="868680"/>
          </a:xfrm>
          <a:prstGeom prst="rect">
            <a:avLst/>
          </a:prstGeom>
          <a:solidFill>
            <a:srgbClr val="F59E0B"/>
          </a:solidFill>
          <a:ln w="12700">
            <a:solidFill>
              <a:srgbClr val="F59E0B"/>
            </a:solidFill>
            <a:prstDash val="solid"/>
          </a:ln>
        </p:spPr>
        <p:txBody>
          <a:bodyPr/>
          <a:lstStyle/>
          <a:p>
            <a:endParaRPr lang="en-US"/>
          </a:p>
        </p:txBody>
      </p:sp>
      <p:sp>
        <p:nvSpPr>
          <p:cNvPr id="70" name="Text 58"/>
          <p:cNvSpPr/>
          <p:nvPr/>
        </p:nvSpPr>
        <p:spPr>
          <a:xfrm>
            <a:off x="777240" y="5532120"/>
            <a:ext cx="10637215" cy="777240"/>
          </a:xfrm>
          <a:prstGeom prst="rect">
            <a:avLst/>
          </a:prstGeom>
          <a:noFill/>
          <a:ln/>
        </p:spPr>
        <p:txBody>
          <a:bodyPr wrap="square" lIns="0" tIns="0" rIns="0" bIns="0" rtlCol="0" anchor="ctr"/>
          <a:lstStyle/>
          <a:p>
            <a:pPr marL="0" indent="0">
              <a:buNone/>
            </a:pPr>
            <a:r>
              <a:rPr lang="en-US" sz="1300" b="1" i="1" dirty="0">
                <a:solidFill>
                  <a:srgbClr val="F59E0B"/>
                </a:solidFill>
                <a:latin typeface="Calibri" pitchFamily="34" charset="0"/>
                <a:ea typeface="Calibri" pitchFamily="34" charset="-122"/>
                <a:cs typeface="Calibri" pitchFamily="34" charset="-120"/>
              </a:rPr>
              <a:t>Heuristic: </a:t>
            </a:r>
            <a:r>
              <a:rPr lang="en-US" sz="1300" i="1" dirty="0">
                <a:solidFill>
                  <a:srgbClr val="FFFFFF"/>
                </a:solidFill>
                <a:latin typeface="Calibri" pitchFamily="34" charset="0"/>
                <a:ea typeface="Calibri" pitchFamily="34" charset="-122"/>
                <a:cs typeface="Calibri" pitchFamily="34" charset="-120"/>
              </a:rPr>
              <a:t>if a report doesn't show up in a CU conversation, it doesn't ship in MVP. We'd rather have 6 great reports than 10 mediocre ones.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40080" y="1463040"/>
            <a:ext cx="3657600" cy="2286000"/>
          </a:xfrm>
          <a:prstGeom prst="rect">
            <a:avLst/>
          </a:prstGeom>
          <a:noFill/>
          <a:ln/>
        </p:spPr>
        <p:txBody>
          <a:bodyPr wrap="square" lIns="0" tIns="0" rIns="0" bIns="0" rtlCol="0" anchor="ctr"/>
          <a:lstStyle/>
          <a:p>
            <a:pPr marL="0" indent="0">
              <a:buNone/>
            </a:pPr>
            <a:r>
              <a:rPr lang="en-US" sz="20000" b="1" dirty="0">
                <a:solidFill>
                  <a:srgbClr val="F59E0B"/>
                </a:solidFill>
                <a:latin typeface="Calibri" pitchFamily="34" charset="0"/>
                <a:ea typeface="Calibri" pitchFamily="34" charset="-122"/>
                <a:cs typeface="Calibri" pitchFamily="34" charset="-120"/>
              </a:rPr>
              <a:t>03</a:t>
            </a:r>
            <a:endParaRPr lang="en-US" sz="20000" dirty="0"/>
          </a:p>
        </p:txBody>
      </p:sp>
      <p:sp>
        <p:nvSpPr>
          <p:cNvPr id="3" name="Text 1"/>
          <p:cNvSpPr/>
          <p:nvPr/>
        </p:nvSpPr>
        <p:spPr>
          <a:xfrm>
            <a:off x="4572000" y="2194560"/>
            <a:ext cx="7315200" cy="91440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The honest</a:t>
            </a:r>
            <a:endParaRPr lang="en-US" sz="5600" dirty="0"/>
          </a:p>
        </p:txBody>
      </p:sp>
      <p:sp>
        <p:nvSpPr>
          <p:cNvPr id="4" name="Text 2"/>
          <p:cNvSpPr/>
          <p:nvPr/>
        </p:nvSpPr>
        <p:spPr>
          <a:xfrm>
            <a:off x="4572000" y="3108960"/>
            <a:ext cx="7315200" cy="914400"/>
          </a:xfrm>
          <a:prstGeom prst="rect">
            <a:avLst/>
          </a:prstGeom>
          <a:noFill/>
          <a:ln/>
        </p:spPr>
        <p:txBody>
          <a:bodyPr wrap="square" lIns="0" tIns="0" rIns="0" bIns="0" rtlCol="0" anchor="ctr"/>
          <a:lstStyle/>
          <a:p>
            <a:pPr marL="0" indent="0">
              <a:buNone/>
            </a:pPr>
            <a:r>
              <a:rPr lang="en-US" sz="5600" b="1" dirty="0">
                <a:solidFill>
                  <a:srgbClr val="F59E0B"/>
                </a:solidFill>
                <a:latin typeface="Calibri" pitchFamily="34" charset="0"/>
                <a:ea typeface="Calibri" pitchFamily="34" charset="-122"/>
                <a:cs typeface="Calibri" pitchFamily="34" charset="-120"/>
              </a:rPr>
              <a:t>truth.</a:t>
            </a:r>
            <a:endParaRPr lang="en-US" sz="5600" dirty="0"/>
          </a:p>
        </p:txBody>
      </p:sp>
      <p:sp>
        <p:nvSpPr>
          <p:cNvPr id="5" name="Text 3"/>
          <p:cNvSpPr/>
          <p:nvPr/>
        </p:nvSpPr>
        <p:spPr>
          <a:xfrm>
            <a:off x="4572000" y="4206240"/>
            <a:ext cx="7315200" cy="457200"/>
          </a:xfrm>
          <a:prstGeom prst="rect">
            <a:avLst/>
          </a:prstGeom>
          <a:noFill/>
          <a:ln/>
        </p:spPr>
        <p:txBody>
          <a:bodyPr wrap="square" lIns="0" tIns="0" rIns="0" bIns="0" rtlCol="0" anchor="ctr"/>
          <a:lstStyle/>
          <a:p>
            <a:pPr marL="0" indent="0">
              <a:buNone/>
            </a:pPr>
            <a:r>
              <a:rPr lang="en-US" sz="1800" i="1" dirty="0">
                <a:solidFill>
                  <a:srgbClr val="94A3B8"/>
                </a:solidFill>
                <a:latin typeface="Calibri" pitchFamily="34" charset="0"/>
                <a:ea typeface="Calibri" pitchFamily="34" charset="-122"/>
                <a:cs typeface="Calibri" pitchFamily="34" charset="-120"/>
              </a:rPr>
              <a:t>We're roughly two months behind. Here's why — and what we're doing.</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HONEST TRUTH</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22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Why we're ~2 months behind</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Three causes, ranked by impact</a:t>
            </a:r>
            <a:endParaRPr lang="en-US" sz="1400" dirty="0"/>
          </a:p>
        </p:txBody>
      </p:sp>
      <p:sp>
        <p:nvSpPr>
          <p:cNvPr id="8" name="Shape 6"/>
          <p:cNvSpPr/>
          <p:nvPr/>
        </p:nvSpPr>
        <p:spPr>
          <a:xfrm>
            <a:off x="457200" y="2194560"/>
            <a:ext cx="11277295" cy="10972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9" name="Shape 7"/>
          <p:cNvSpPr/>
          <p:nvPr/>
        </p:nvSpPr>
        <p:spPr>
          <a:xfrm>
            <a:off x="457200" y="2194560"/>
            <a:ext cx="73152" cy="1097280"/>
          </a:xfrm>
          <a:prstGeom prst="rect">
            <a:avLst/>
          </a:prstGeom>
          <a:solidFill>
            <a:srgbClr val="F59E0B"/>
          </a:solidFill>
          <a:ln w="12700">
            <a:solidFill>
              <a:srgbClr val="F59E0B"/>
            </a:solidFill>
            <a:prstDash val="solid"/>
          </a:ln>
        </p:spPr>
        <p:txBody>
          <a:bodyPr/>
          <a:lstStyle/>
          <a:p>
            <a:endParaRPr lang="en-US"/>
          </a:p>
        </p:txBody>
      </p:sp>
      <p:sp>
        <p:nvSpPr>
          <p:cNvPr id="10" name="Text 8"/>
          <p:cNvSpPr/>
          <p:nvPr/>
        </p:nvSpPr>
        <p:spPr>
          <a:xfrm>
            <a:off x="640080" y="2359152"/>
            <a:ext cx="731520" cy="777240"/>
          </a:xfrm>
          <a:prstGeom prst="rect">
            <a:avLst/>
          </a:prstGeom>
          <a:noFill/>
          <a:ln/>
        </p:spPr>
        <p:txBody>
          <a:bodyPr wrap="square" lIns="0" tIns="0" rIns="0" bIns="0" rtlCol="0" anchor="ctr"/>
          <a:lstStyle/>
          <a:p>
            <a:pPr marL="0" indent="0">
              <a:buNone/>
            </a:pPr>
            <a:r>
              <a:rPr lang="en-US" sz="4800" b="1" dirty="0">
                <a:solidFill>
                  <a:srgbClr val="F59E0B"/>
                </a:solidFill>
                <a:latin typeface="Calibri" pitchFamily="34" charset="0"/>
                <a:ea typeface="Calibri" pitchFamily="34" charset="-122"/>
                <a:cs typeface="Calibri" pitchFamily="34" charset="-120"/>
              </a:rPr>
              <a:t>1</a:t>
            </a:r>
            <a:endParaRPr lang="en-US" sz="4800" dirty="0"/>
          </a:p>
        </p:txBody>
      </p:sp>
      <p:sp>
        <p:nvSpPr>
          <p:cNvPr id="11" name="Text 9"/>
          <p:cNvSpPr/>
          <p:nvPr/>
        </p:nvSpPr>
        <p:spPr>
          <a:xfrm>
            <a:off x="1463040" y="2331720"/>
            <a:ext cx="7772400" cy="36576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Slow contractor onboarding</a:t>
            </a:r>
            <a:endParaRPr lang="en-US" sz="1600" dirty="0"/>
          </a:p>
        </p:txBody>
      </p:sp>
      <p:sp>
        <p:nvSpPr>
          <p:cNvPr id="12" name="Text 10"/>
          <p:cNvSpPr/>
          <p:nvPr/>
        </p:nvSpPr>
        <p:spPr>
          <a:xfrm>
            <a:off x="1463040" y="2697480"/>
            <a:ext cx="7772400" cy="59436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Background checks, access provisioning, and laptop logistics took weeks longer than planned. This is the biggest single contributor.</a:t>
            </a:r>
            <a:endParaRPr lang="en-US" sz="1100" dirty="0"/>
          </a:p>
        </p:txBody>
      </p:sp>
      <p:sp>
        <p:nvSpPr>
          <p:cNvPr id="13" name="Shape 11"/>
          <p:cNvSpPr/>
          <p:nvPr/>
        </p:nvSpPr>
        <p:spPr>
          <a:xfrm>
            <a:off x="10180015" y="2560320"/>
            <a:ext cx="1371600" cy="411480"/>
          </a:xfrm>
          <a:prstGeom prst="roundRect">
            <a:avLst>
              <a:gd name="adj" fmla="val 48889"/>
            </a:avLst>
          </a:prstGeom>
          <a:solidFill>
            <a:srgbClr val="F59E0B"/>
          </a:solidFill>
          <a:ln w="12700">
            <a:solidFill>
              <a:srgbClr val="F59E0B"/>
            </a:solidFill>
            <a:prstDash val="solid"/>
          </a:ln>
        </p:spPr>
        <p:txBody>
          <a:bodyPr/>
          <a:lstStyle/>
          <a:p>
            <a:endParaRPr lang="en-US"/>
          </a:p>
        </p:txBody>
      </p:sp>
      <p:sp>
        <p:nvSpPr>
          <p:cNvPr id="14" name="Text 12"/>
          <p:cNvSpPr/>
          <p:nvPr/>
        </p:nvSpPr>
        <p:spPr>
          <a:xfrm>
            <a:off x="10180015" y="2560320"/>
            <a:ext cx="13716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 weeks</a:t>
            </a:r>
            <a:endParaRPr lang="en-US" sz="1200" dirty="0"/>
          </a:p>
        </p:txBody>
      </p:sp>
      <p:sp>
        <p:nvSpPr>
          <p:cNvPr id="15" name="Shape 13"/>
          <p:cNvSpPr/>
          <p:nvPr/>
        </p:nvSpPr>
        <p:spPr>
          <a:xfrm>
            <a:off x="457200" y="3474720"/>
            <a:ext cx="11277295" cy="10972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6" name="Shape 14"/>
          <p:cNvSpPr/>
          <p:nvPr/>
        </p:nvSpPr>
        <p:spPr>
          <a:xfrm>
            <a:off x="457200" y="3474720"/>
            <a:ext cx="73152" cy="1097280"/>
          </a:xfrm>
          <a:prstGeom prst="rect">
            <a:avLst/>
          </a:prstGeom>
          <a:solidFill>
            <a:srgbClr val="F59E0B"/>
          </a:solidFill>
          <a:ln w="12700">
            <a:solidFill>
              <a:srgbClr val="F59E0B"/>
            </a:solidFill>
            <a:prstDash val="solid"/>
          </a:ln>
        </p:spPr>
        <p:txBody>
          <a:bodyPr/>
          <a:lstStyle/>
          <a:p>
            <a:endParaRPr lang="en-US"/>
          </a:p>
        </p:txBody>
      </p:sp>
      <p:sp>
        <p:nvSpPr>
          <p:cNvPr id="17" name="Text 15"/>
          <p:cNvSpPr/>
          <p:nvPr/>
        </p:nvSpPr>
        <p:spPr>
          <a:xfrm>
            <a:off x="640080" y="3639312"/>
            <a:ext cx="731520" cy="777240"/>
          </a:xfrm>
          <a:prstGeom prst="rect">
            <a:avLst/>
          </a:prstGeom>
          <a:noFill/>
          <a:ln/>
        </p:spPr>
        <p:txBody>
          <a:bodyPr wrap="square" lIns="0" tIns="0" rIns="0" bIns="0" rtlCol="0" anchor="ctr"/>
          <a:lstStyle/>
          <a:p>
            <a:pPr marL="0" indent="0">
              <a:buNone/>
            </a:pPr>
            <a:r>
              <a:rPr lang="en-US" sz="4800" b="1" dirty="0">
                <a:solidFill>
                  <a:srgbClr val="F59E0B"/>
                </a:solidFill>
                <a:latin typeface="Calibri" pitchFamily="34" charset="0"/>
                <a:ea typeface="Calibri" pitchFamily="34" charset="-122"/>
                <a:cs typeface="Calibri" pitchFamily="34" charset="-120"/>
              </a:rPr>
              <a:t>2</a:t>
            </a:r>
            <a:endParaRPr lang="en-US" sz="4800" dirty="0"/>
          </a:p>
        </p:txBody>
      </p:sp>
      <p:sp>
        <p:nvSpPr>
          <p:cNvPr id="18" name="Text 16"/>
          <p:cNvSpPr/>
          <p:nvPr/>
        </p:nvSpPr>
        <p:spPr>
          <a:xfrm>
            <a:off x="1463040" y="3611880"/>
            <a:ext cx="7772400" cy="36576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Infrastructure ramp-up cost</a:t>
            </a:r>
            <a:endParaRPr lang="en-US" sz="1600" dirty="0"/>
          </a:p>
        </p:txBody>
      </p:sp>
      <p:sp>
        <p:nvSpPr>
          <p:cNvPr id="19" name="Text 17"/>
          <p:cNvSpPr/>
          <p:nvPr/>
        </p:nvSpPr>
        <p:spPr>
          <a:xfrm>
            <a:off x="1463040" y="3977640"/>
            <a:ext cx="7772400" cy="59436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Standing up GCP project structure, org policies, IAM, and PCI scoping at a regulated company is genuinely heavy lift the first time. We're now past most of it.</a:t>
            </a:r>
            <a:endParaRPr lang="en-US" sz="1100" dirty="0"/>
          </a:p>
        </p:txBody>
      </p:sp>
      <p:sp>
        <p:nvSpPr>
          <p:cNvPr id="20" name="Shape 18"/>
          <p:cNvSpPr/>
          <p:nvPr/>
        </p:nvSpPr>
        <p:spPr>
          <a:xfrm>
            <a:off x="10180015" y="3840480"/>
            <a:ext cx="1371600" cy="411480"/>
          </a:xfrm>
          <a:prstGeom prst="roundRect">
            <a:avLst>
              <a:gd name="adj" fmla="val 48889"/>
            </a:avLst>
          </a:prstGeom>
          <a:solidFill>
            <a:srgbClr val="F59E0B"/>
          </a:solidFill>
          <a:ln w="12700">
            <a:solidFill>
              <a:srgbClr val="F59E0B"/>
            </a:solidFill>
            <a:prstDash val="solid"/>
          </a:ln>
        </p:spPr>
        <p:txBody>
          <a:bodyPr/>
          <a:lstStyle/>
          <a:p>
            <a:endParaRPr lang="en-US"/>
          </a:p>
        </p:txBody>
      </p:sp>
      <p:sp>
        <p:nvSpPr>
          <p:cNvPr id="21" name="Text 19"/>
          <p:cNvSpPr/>
          <p:nvPr/>
        </p:nvSpPr>
        <p:spPr>
          <a:xfrm>
            <a:off x="10180015" y="3840480"/>
            <a:ext cx="13716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 weeks</a:t>
            </a:r>
            <a:endParaRPr lang="en-US" sz="1200" dirty="0"/>
          </a:p>
        </p:txBody>
      </p:sp>
      <p:sp>
        <p:nvSpPr>
          <p:cNvPr id="22" name="Shape 20"/>
          <p:cNvSpPr/>
          <p:nvPr/>
        </p:nvSpPr>
        <p:spPr>
          <a:xfrm>
            <a:off x="457200" y="4754880"/>
            <a:ext cx="11277295" cy="10972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3" name="Shape 21"/>
          <p:cNvSpPr/>
          <p:nvPr/>
        </p:nvSpPr>
        <p:spPr>
          <a:xfrm>
            <a:off x="457200" y="4754880"/>
            <a:ext cx="73152" cy="1097280"/>
          </a:xfrm>
          <a:prstGeom prst="rect">
            <a:avLst/>
          </a:prstGeom>
          <a:solidFill>
            <a:srgbClr val="F59E0B"/>
          </a:solidFill>
          <a:ln w="12700">
            <a:solidFill>
              <a:srgbClr val="F59E0B"/>
            </a:solidFill>
            <a:prstDash val="solid"/>
          </a:ln>
        </p:spPr>
        <p:txBody>
          <a:bodyPr/>
          <a:lstStyle/>
          <a:p>
            <a:endParaRPr lang="en-US"/>
          </a:p>
        </p:txBody>
      </p:sp>
      <p:sp>
        <p:nvSpPr>
          <p:cNvPr id="24" name="Text 22"/>
          <p:cNvSpPr/>
          <p:nvPr/>
        </p:nvSpPr>
        <p:spPr>
          <a:xfrm>
            <a:off x="640080" y="4919472"/>
            <a:ext cx="731520" cy="777240"/>
          </a:xfrm>
          <a:prstGeom prst="rect">
            <a:avLst/>
          </a:prstGeom>
          <a:noFill/>
          <a:ln/>
        </p:spPr>
        <p:txBody>
          <a:bodyPr wrap="square" lIns="0" tIns="0" rIns="0" bIns="0" rtlCol="0" anchor="ctr"/>
          <a:lstStyle/>
          <a:p>
            <a:pPr marL="0" indent="0">
              <a:buNone/>
            </a:pPr>
            <a:r>
              <a:rPr lang="en-US" sz="4800" b="1" dirty="0">
                <a:solidFill>
                  <a:srgbClr val="F59E0B"/>
                </a:solidFill>
                <a:latin typeface="Calibri" pitchFamily="34" charset="0"/>
                <a:ea typeface="Calibri" pitchFamily="34" charset="-122"/>
                <a:cs typeface="Calibri" pitchFamily="34" charset="-120"/>
              </a:rPr>
              <a:t>3</a:t>
            </a:r>
            <a:endParaRPr lang="en-US" sz="4800" dirty="0"/>
          </a:p>
        </p:txBody>
      </p:sp>
      <p:sp>
        <p:nvSpPr>
          <p:cNvPr id="25" name="Text 23"/>
          <p:cNvSpPr/>
          <p:nvPr/>
        </p:nvSpPr>
        <p:spPr>
          <a:xfrm>
            <a:off x="1463040" y="4892040"/>
            <a:ext cx="7772400" cy="36576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CDC pushback on data sources</a:t>
            </a:r>
            <a:endParaRPr lang="en-US" sz="1600" dirty="0"/>
          </a:p>
        </p:txBody>
      </p:sp>
      <p:sp>
        <p:nvSpPr>
          <p:cNvPr id="26" name="Text 24"/>
          <p:cNvSpPr/>
          <p:nvPr/>
        </p:nvSpPr>
        <p:spPr>
          <a:xfrm>
            <a:off x="1463040" y="5257800"/>
            <a:ext cx="7772400" cy="59436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Source teams have legitimate concerns about replication load, ownership, and audit. We're working source-by-source, but it adds calendar time.</a:t>
            </a:r>
            <a:endParaRPr lang="en-US" sz="1100" dirty="0"/>
          </a:p>
        </p:txBody>
      </p:sp>
      <p:sp>
        <p:nvSpPr>
          <p:cNvPr id="27" name="Shape 25"/>
          <p:cNvSpPr/>
          <p:nvPr/>
        </p:nvSpPr>
        <p:spPr>
          <a:xfrm>
            <a:off x="10180015" y="5120640"/>
            <a:ext cx="1371600" cy="411480"/>
          </a:xfrm>
          <a:prstGeom prst="roundRect">
            <a:avLst>
              <a:gd name="adj" fmla="val 48889"/>
            </a:avLst>
          </a:prstGeom>
          <a:solidFill>
            <a:srgbClr val="F59E0B"/>
          </a:solidFill>
          <a:ln w="12700">
            <a:solidFill>
              <a:srgbClr val="F59E0B"/>
            </a:solidFill>
            <a:prstDash val="solid"/>
          </a:ln>
        </p:spPr>
        <p:txBody>
          <a:bodyPr/>
          <a:lstStyle/>
          <a:p>
            <a:endParaRPr lang="en-US"/>
          </a:p>
        </p:txBody>
      </p:sp>
      <p:sp>
        <p:nvSpPr>
          <p:cNvPr id="28" name="Text 26"/>
          <p:cNvSpPr/>
          <p:nvPr/>
        </p:nvSpPr>
        <p:spPr>
          <a:xfrm>
            <a:off x="10180015" y="5120640"/>
            <a:ext cx="13716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 weeks</a:t>
            </a:r>
            <a:endParaRPr lang="en-US" sz="1200" dirty="0"/>
          </a:p>
        </p:txBody>
      </p:sp>
      <p:sp>
        <p:nvSpPr>
          <p:cNvPr id="29" name="Text 27"/>
          <p:cNvSpPr/>
          <p:nvPr/>
        </p:nvSpPr>
        <p:spPr>
          <a:xfrm>
            <a:off x="457200" y="5989320"/>
            <a:ext cx="11277295" cy="36576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Context: </a:t>
            </a:r>
            <a:r>
              <a:rPr lang="en-US" sz="1200" i="1" dirty="0">
                <a:solidFill>
                  <a:srgbClr val="64748B"/>
                </a:solidFill>
                <a:latin typeface="Calibri" pitchFamily="34" charset="0"/>
                <a:ea typeface="Calibri" pitchFamily="34" charset="-122"/>
                <a:cs typeface="Calibri" pitchFamily="34" charset="-120"/>
              </a:rPr>
              <a:t>We're the only group at Jack Henry doing net-new modern-cloud work at this scale. Some of this tax is one-time and we're paying it once.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HONEST TRUTH</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23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What we're doing about it</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Six concrete actions in the next 30 days</a:t>
            </a:r>
            <a:endParaRPr lang="en-US" sz="1400" dirty="0"/>
          </a:p>
        </p:txBody>
      </p:sp>
      <p:sp>
        <p:nvSpPr>
          <p:cNvPr id="8" name="Shape 6"/>
          <p:cNvSpPr/>
          <p:nvPr/>
        </p:nvSpPr>
        <p:spPr>
          <a:xfrm>
            <a:off x="457200" y="2194560"/>
            <a:ext cx="3637178" cy="164592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9" name="Shape 7"/>
          <p:cNvSpPr/>
          <p:nvPr/>
        </p:nvSpPr>
        <p:spPr>
          <a:xfrm>
            <a:off x="457200" y="2194560"/>
            <a:ext cx="73152" cy="1645920"/>
          </a:xfrm>
          <a:prstGeom prst="rect">
            <a:avLst/>
          </a:prstGeom>
          <a:solidFill>
            <a:srgbClr val="0D9488"/>
          </a:solidFill>
          <a:ln w="12700">
            <a:solidFill>
              <a:srgbClr val="0D9488"/>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685800" y="2423160"/>
            <a:ext cx="457200" cy="457200"/>
          </a:xfrm>
          <a:prstGeom prst="rect">
            <a:avLst/>
          </a:prstGeom>
        </p:spPr>
      </p:pic>
      <p:sp>
        <p:nvSpPr>
          <p:cNvPr id="11" name="Text 8"/>
          <p:cNvSpPr/>
          <p:nvPr/>
        </p:nvSpPr>
        <p:spPr>
          <a:xfrm>
            <a:off x="1234440" y="2377440"/>
            <a:ext cx="2722778" cy="45720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Onboarding runbook</a:t>
            </a:r>
            <a:endParaRPr lang="en-US" sz="1500" dirty="0"/>
          </a:p>
        </p:txBody>
      </p:sp>
      <p:sp>
        <p:nvSpPr>
          <p:cNvPr id="12" name="Text 9"/>
          <p:cNvSpPr/>
          <p:nvPr/>
        </p:nvSpPr>
        <p:spPr>
          <a:xfrm>
            <a:off x="685800" y="3063240"/>
            <a:ext cx="3271418" cy="7315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Lock the playbook so we don't repay the tax in Q3</a:t>
            </a:r>
            <a:endParaRPr lang="en-US" sz="1100" dirty="0"/>
          </a:p>
        </p:txBody>
      </p:sp>
      <p:sp>
        <p:nvSpPr>
          <p:cNvPr id="13" name="Shape 10"/>
          <p:cNvSpPr/>
          <p:nvPr/>
        </p:nvSpPr>
        <p:spPr>
          <a:xfrm>
            <a:off x="4277258" y="2194560"/>
            <a:ext cx="3637178" cy="164592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4" name="Shape 11"/>
          <p:cNvSpPr/>
          <p:nvPr/>
        </p:nvSpPr>
        <p:spPr>
          <a:xfrm>
            <a:off x="4277258" y="2194560"/>
            <a:ext cx="73152" cy="1645920"/>
          </a:xfrm>
          <a:prstGeom prst="rect">
            <a:avLst/>
          </a:prstGeom>
          <a:solidFill>
            <a:srgbClr val="0D9488"/>
          </a:solidFill>
          <a:ln w="12700">
            <a:solidFill>
              <a:srgbClr val="0D9488"/>
            </a:solidFill>
            <a:prstDash val="solid"/>
          </a:ln>
        </p:spPr>
        <p:txBody>
          <a:bodyPr/>
          <a:lstStyle/>
          <a:p>
            <a:endParaRPr lang="en-US"/>
          </a:p>
        </p:txBody>
      </p:sp>
      <p:pic>
        <p:nvPicPr>
          <p:cNvPr id="15" name="Image 1" descr="preencoded.png"/>
          <p:cNvPicPr>
            <a:picLocks noChangeAspect="1"/>
          </p:cNvPicPr>
          <p:nvPr/>
        </p:nvPicPr>
        <p:blipFill>
          <a:blip r:embed="rId3"/>
          <a:stretch>
            <a:fillRect/>
          </a:stretch>
        </p:blipFill>
        <p:spPr>
          <a:xfrm>
            <a:off x="4505858" y="2423160"/>
            <a:ext cx="457200" cy="457200"/>
          </a:xfrm>
          <a:prstGeom prst="rect">
            <a:avLst/>
          </a:prstGeom>
        </p:spPr>
      </p:pic>
      <p:sp>
        <p:nvSpPr>
          <p:cNvPr id="16" name="Text 12"/>
          <p:cNvSpPr/>
          <p:nvPr/>
        </p:nvSpPr>
        <p:spPr>
          <a:xfrm>
            <a:off x="5054498" y="2377440"/>
            <a:ext cx="2722778" cy="45720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Pre-staged access</a:t>
            </a:r>
            <a:endParaRPr lang="en-US" sz="1500" dirty="0"/>
          </a:p>
        </p:txBody>
      </p:sp>
      <p:sp>
        <p:nvSpPr>
          <p:cNvPr id="17" name="Text 13"/>
          <p:cNvSpPr/>
          <p:nvPr/>
        </p:nvSpPr>
        <p:spPr>
          <a:xfrm>
            <a:off x="4505858" y="3063240"/>
            <a:ext cx="3271418" cy="7315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GCP IAM and PowerBI roles created at offer-accept, not day-one</a:t>
            </a:r>
            <a:endParaRPr lang="en-US" sz="1100" dirty="0"/>
          </a:p>
        </p:txBody>
      </p:sp>
      <p:sp>
        <p:nvSpPr>
          <p:cNvPr id="18" name="Shape 14"/>
          <p:cNvSpPr/>
          <p:nvPr/>
        </p:nvSpPr>
        <p:spPr>
          <a:xfrm>
            <a:off x="8097317" y="2194560"/>
            <a:ext cx="3637178" cy="164592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9" name="Shape 15"/>
          <p:cNvSpPr/>
          <p:nvPr/>
        </p:nvSpPr>
        <p:spPr>
          <a:xfrm>
            <a:off x="8097317" y="2194560"/>
            <a:ext cx="73152" cy="1645920"/>
          </a:xfrm>
          <a:prstGeom prst="rect">
            <a:avLst/>
          </a:prstGeom>
          <a:solidFill>
            <a:srgbClr val="0D9488"/>
          </a:solidFill>
          <a:ln w="12700">
            <a:solidFill>
              <a:srgbClr val="0D9488"/>
            </a:solidFill>
            <a:prstDash val="solid"/>
          </a:ln>
        </p:spPr>
        <p:txBody>
          <a:bodyPr/>
          <a:lstStyle/>
          <a:p>
            <a:endParaRPr lang="en-US"/>
          </a:p>
        </p:txBody>
      </p:sp>
      <p:pic>
        <p:nvPicPr>
          <p:cNvPr id="20" name="Image 2" descr="preencoded.png"/>
          <p:cNvPicPr>
            <a:picLocks noChangeAspect="1"/>
          </p:cNvPicPr>
          <p:nvPr/>
        </p:nvPicPr>
        <p:blipFill>
          <a:blip r:embed="rId3"/>
          <a:stretch>
            <a:fillRect/>
          </a:stretch>
        </p:blipFill>
        <p:spPr>
          <a:xfrm>
            <a:off x="8325917" y="2423160"/>
            <a:ext cx="457200" cy="457200"/>
          </a:xfrm>
          <a:prstGeom prst="rect">
            <a:avLst/>
          </a:prstGeom>
        </p:spPr>
      </p:pic>
      <p:sp>
        <p:nvSpPr>
          <p:cNvPr id="21" name="Text 16"/>
          <p:cNvSpPr/>
          <p:nvPr/>
        </p:nvSpPr>
        <p:spPr>
          <a:xfrm>
            <a:off x="8874557" y="2377440"/>
            <a:ext cx="2722778" cy="45720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Source-by-source CDC plan</a:t>
            </a:r>
            <a:endParaRPr lang="en-US" sz="1500" dirty="0"/>
          </a:p>
        </p:txBody>
      </p:sp>
      <p:sp>
        <p:nvSpPr>
          <p:cNvPr id="22" name="Text 17"/>
          <p:cNvSpPr/>
          <p:nvPr/>
        </p:nvSpPr>
        <p:spPr>
          <a:xfrm>
            <a:off x="8325917" y="3063240"/>
            <a:ext cx="3271418" cy="7315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Named owner per source, weekly working session</a:t>
            </a:r>
            <a:endParaRPr lang="en-US" sz="1100" dirty="0"/>
          </a:p>
        </p:txBody>
      </p:sp>
      <p:sp>
        <p:nvSpPr>
          <p:cNvPr id="23" name="Shape 18"/>
          <p:cNvSpPr/>
          <p:nvPr/>
        </p:nvSpPr>
        <p:spPr>
          <a:xfrm>
            <a:off x="457200" y="4023360"/>
            <a:ext cx="3637178" cy="164592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4" name="Shape 19"/>
          <p:cNvSpPr/>
          <p:nvPr/>
        </p:nvSpPr>
        <p:spPr>
          <a:xfrm>
            <a:off x="457200" y="4023360"/>
            <a:ext cx="73152" cy="1645920"/>
          </a:xfrm>
          <a:prstGeom prst="rect">
            <a:avLst/>
          </a:prstGeom>
          <a:solidFill>
            <a:srgbClr val="0D9488"/>
          </a:solidFill>
          <a:ln w="12700">
            <a:solidFill>
              <a:srgbClr val="0D9488"/>
            </a:solidFill>
            <a:prstDash val="solid"/>
          </a:ln>
        </p:spPr>
        <p:txBody>
          <a:bodyPr/>
          <a:lstStyle/>
          <a:p>
            <a:endParaRPr lang="en-US"/>
          </a:p>
        </p:txBody>
      </p:sp>
      <p:pic>
        <p:nvPicPr>
          <p:cNvPr id="25" name="Image 3" descr="preencoded.png"/>
          <p:cNvPicPr>
            <a:picLocks noChangeAspect="1"/>
          </p:cNvPicPr>
          <p:nvPr/>
        </p:nvPicPr>
        <p:blipFill>
          <a:blip r:embed="rId3"/>
          <a:stretch>
            <a:fillRect/>
          </a:stretch>
        </p:blipFill>
        <p:spPr>
          <a:xfrm>
            <a:off x="685800" y="4251960"/>
            <a:ext cx="457200" cy="457200"/>
          </a:xfrm>
          <a:prstGeom prst="rect">
            <a:avLst/>
          </a:prstGeom>
        </p:spPr>
      </p:pic>
      <p:sp>
        <p:nvSpPr>
          <p:cNvPr id="26" name="Text 20"/>
          <p:cNvSpPr/>
          <p:nvPr/>
        </p:nvSpPr>
        <p:spPr>
          <a:xfrm>
            <a:off x="1234440" y="4206240"/>
            <a:ext cx="2722778" cy="45720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PCI scope close-out</a:t>
            </a:r>
            <a:endParaRPr lang="en-US" sz="1500" dirty="0"/>
          </a:p>
        </p:txBody>
      </p:sp>
      <p:sp>
        <p:nvSpPr>
          <p:cNvPr id="27" name="Text 21"/>
          <p:cNvSpPr/>
          <p:nvPr/>
        </p:nvSpPr>
        <p:spPr>
          <a:xfrm>
            <a:off x="685800" y="4892040"/>
            <a:ext cx="3271418" cy="7315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Final boundary + control mapping with security partners</a:t>
            </a:r>
            <a:endParaRPr lang="en-US" sz="1100" dirty="0"/>
          </a:p>
        </p:txBody>
      </p:sp>
      <p:sp>
        <p:nvSpPr>
          <p:cNvPr id="28" name="Shape 22"/>
          <p:cNvSpPr/>
          <p:nvPr/>
        </p:nvSpPr>
        <p:spPr>
          <a:xfrm>
            <a:off x="4277258" y="4023360"/>
            <a:ext cx="3637178" cy="164592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9" name="Shape 23"/>
          <p:cNvSpPr/>
          <p:nvPr/>
        </p:nvSpPr>
        <p:spPr>
          <a:xfrm>
            <a:off x="4277258" y="4023360"/>
            <a:ext cx="73152" cy="1645920"/>
          </a:xfrm>
          <a:prstGeom prst="rect">
            <a:avLst/>
          </a:prstGeom>
          <a:solidFill>
            <a:srgbClr val="0D9488"/>
          </a:solidFill>
          <a:ln w="12700">
            <a:solidFill>
              <a:srgbClr val="0D9488"/>
            </a:solidFill>
            <a:prstDash val="solid"/>
          </a:ln>
        </p:spPr>
        <p:txBody>
          <a:bodyPr/>
          <a:lstStyle/>
          <a:p>
            <a:endParaRPr lang="en-US"/>
          </a:p>
        </p:txBody>
      </p:sp>
      <p:pic>
        <p:nvPicPr>
          <p:cNvPr id="30" name="Image 4" descr="preencoded.png"/>
          <p:cNvPicPr>
            <a:picLocks noChangeAspect="1"/>
          </p:cNvPicPr>
          <p:nvPr/>
        </p:nvPicPr>
        <p:blipFill>
          <a:blip r:embed="rId3"/>
          <a:stretch>
            <a:fillRect/>
          </a:stretch>
        </p:blipFill>
        <p:spPr>
          <a:xfrm>
            <a:off x="4505858" y="4251960"/>
            <a:ext cx="457200" cy="457200"/>
          </a:xfrm>
          <a:prstGeom prst="rect">
            <a:avLst/>
          </a:prstGeom>
        </p:spPr>
      </p:pic>
      <p:sp>
        <p:nvSpPr>
          <p:cNvPr id="31" name="Text 24"/>
          <p:cNvSpPr/>
          <p:nvPr/>
        </p:nvSpPr>
        <p:spPr>
          <a:xfrm>
            <a:off x="5054498" y="4206240"/>
            <a:ext cx="2722778" cy="45720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MVP pruning</a:t>
            </a:r>
            <a:endParaRPr lang="en-US" sz="1500" dirty="0"/>
          </a:p>
        </p:txBody>
      </p:sp>
      <p:sp>
        <p:nvSpPr>
          <p:cNvPr id="32" name="Text 25"/>
          <p:cNvSpPr/>
          <p:nvPr/>
        </p:nvSpPr>
        <p:spPr>
          <a:xfrm>
            <a:off x="4505858" y="4892040"/>
            <a:ext cx="3271418" cy="7315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Cut anything not on the demo critical path</a:t>
            </a:r>
            <a:endParaRPr lang="en-US" sz="1100" dirty="0"/>
          </a:p>
        </p:txBody>
      </p:sp>
      <p:sp>
        <p:nvSpPr>
          <p:cNvPr id="33" name="Shape 26"/>
          <p:cNvSpPr/>
          <p:nvPr/>
        </p:nvSpPr>
        <p:spPr>
          <a:xfrm>
            <a:off x="8097317" y="4023360"/>
            <a:ext cx="3637178" cy="164592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34" name="Shape 27"/>
          <p:cNvSpPr/>
          <p:nvPr/>
        </p:nvSpPr>
        <p:spPr>
          <a:xfrm>
            <a:off x="8097317" y="4023360"/>
            <a:ext cx="73152" cy="1645920"/>
          </a:xfrm>
          <a:prstGeom prst="rect">
            <a:avLst/>
          </a:prstGeom>
          <a:solidFill>
            <a:srgbClr val="0D9488"/>
          </a:solidFill>
          <a:ln w="12700">
            <a:solidFill>
              <a:srgbClr val="0D9488"/>
            </a:solidFill>
            <a:prstDash val="solid"/>
          </a:ln>
        </p:spPr>
        <p:txBody>
          <a:bodyPr/>
          <a:lstStyle/>
          <a:p>
            <a:endParaRPr lang="en-US"/>
          </a:p>
        </p:txBody>
      </p:sp>
      <p:pic>
        <p:nvPicPr>
          <p:cNvPr id="35" name="Image 5" descr="preencoded.png"/>
          <p:cNvPicPr>
            <a:picLocks noChangeAspect="1"/>
          </p:cNvPicPr>
          <p:nvPr/>
        </p:nvPicPr>
        <p:blipFill>
          <a:blip r:embed="rId3"/>
          <a:stretch>
            <a:fillRect/>
          </a:stretch>
        </p:blipFill>
        <p:spPr>
          <a:xfrm>
            <a:off x="8325917" y="4251960"/>
            <a:ext cx="457200" cy="457200"/>
          </a:xfrm>
          <a:prstGeom prst="rect">
            <a:avLst/>
          </a:prstGeom>
        </p:spPr>
      </p:pic>
      <p:sp>
        <p:nvSpPr>
          <p:cNvPr id="36" name="Text 28"/>
          <p:cNvSpPr/>
          <p:nvPr/>
        </p:nvSpPr>
        <p:spPr>
          <a:xfrm>
            <a:off x="8874557" y="4206240"/>
            <a:ext cx="2722778" cy="45720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Weekly slip review</a:t>
            </a:r>
            <a:endParaRPr lang="en-US" sz="1500" dirty="0"/>
          </a:p>
        </p:txBody>
      </p:sp>
      <p:sp>
        <p:nvSpPr>
          <p:cNvPr id="37" name="Text 29"/>
          <p:cNvSpPr/>
          <p:nvPr/>
        </p:nvSpPr>
        <p:spPr>
          <a:xfrm>
            <a:off x="8325917" y="4892040"/>
            <a:ext cx="3271418" cy="7315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Visible burn-up on shared dashboard — no surprises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40080" y="1463040"/>
            <a:ext cx="3657600" cy="2286000"/>
          </a:xfrm>
          <a:prstGeom prst="rect">
            <a:avLst/>
          </a:prstGeom>
          <a:noFill/>
          <a:ln/>
        </p:spPr>
        <p:txBody>
          <a:bodyPr wrap="square" lIns="0" tIns="0" rIns="0" bIns="0" rtlCol="0" anchor="ctr"/>
          <a:lstStyle/>
          <a:p>
            <a:pPr marL="0" indent="0">
              <a:buNone/>
            </a:pPr>
            <a:r>
              <a:rPr lang="en-US" sz="20000" b="1" dirty="0">
                <a:solidFill>
                  <a:srgbClr val="0D9488"/>
                </a:solidFill>
                <a:latin typeface="Calibri" pitchFamily="34" charset="0"/>
                <a:ea typeface="Calibri" pitchFamily="34" charset="-122"/>
                <a:cs typeface="Calibri" pitchFamily="34" charset="-120"/>
              </a:rPr>
              <a:t>04</a:t>
            </a:r>
            <a:endParaRPr lang="en-US" sz="20000" dirty="0"/>
          </a:p>
        </p:txBody>
      </p:sp>
      <p:sp>
        <p:nvSpPr>
          <p:cNvPr id="3" name="Text 1"/>
          <p:cNvSpPr/>
          <p:nvPr/>
        </p:nvSpPr>
        <p:spPr>
          <a:xfrm>
            <a:off x="4572000" y="2194560"/>
            <a:ext cx="7315200" cy="91440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AI in our</a:t>
            </a:r>
            <a:endParaRPr lang="en-US" sz="5600" dirty="0"/>
          </a:p>
        </p:txBody>
      </p:sp>
      <p:sp>
        <p:nvSpPr>
          <p:cNvPr id="4" name="Text 2"/>
          <p:cNvSpPr/>
          <p:nvPr/>
        </p:nvSpPr>
        <p:spPr>
          <a:xfrm>
            <a:off x="4572000" y="3108960"/>
            <a:ext cx="7315200" cy="914400"/>
          </a:xfrm>
          <a:prstGeom prst="rect">
            <a:avLst/>
          </a:prstGeom>
          <a:noFill/>
          <a:ln/>
        </p:spPr>
        <p:txBody>
          <a:bodyPr wrap="square" lIns="0" tIns="0" rIns="0" bIns="0" rtlCol="0" anchor="ctr"/>
          <a:lstStyle/>
          <a:p>
            <a:pPr marL="0" indent="0">
              <a:buNone/>
            </a:pPr>
            <a:r>
              <a:rPr lang="en-US" sz="5600" b="1" dirty="0">
                <a:solidFill>
                  <a:srgbClr val="CCFBF1"/>
                </a:solidFill>
                <a:latin typeface="Calibri" pitchFamily="34" charset="0"/>
                <a:ea typeface="Calibri" pitchFamily="34" charset="-122"/>
                <a:cs typeface="Calibri" pitchFamily="34" charset="-120"/>
              </a:rPr>
              <a:t>SDLC.</a:t>
            </a:r>
            <a:endParaRPr lang="en-US" sz="5600" dirty="0"/>
          </a:p>
        </p:txBody>
      </p:sp>
      <p:sp>
        <p:nvSpPr>
          <p:cNvPr id="5" name="Text 3"/>
          <p:cNvSpPr/>
          <p:nvPr/>
        </p:nvSpPr>
        <p:spPr>
          <a:xfrm>
            <a:off x="4572000" y="4206240"/>
            <a:ext cx="7315200" cy="457200"/>
          </a:xfrm>
          <a:prstGeom prst="rect">
            <a:avLst/>
          </a:prstGeom>
          <a:noFill/>
          <a:ln/>
        </p:spPr>
        <p:txBody>
          <a:bodyPr wrap="square" lIns="0" tIns="0" rIns="0" bIns="0" rtlCol="0" anchor="ctr"/>
          <a:lstStyle/>
          <a:p>
            <a:pPr marL="0" indent="0">
              <a:buNone/>
            </a:pPr>
            <a:r>
              <a:rPr lang="en-US" sz="1800" i="1" dirty="0">
                <a:solidFill>
                  <a:srgbClr val="94A3B8"/>
                </a:solidFill>
                <a:latin typeface="Calibri" pitchFamily="34" charset="0"/>
                <a:ea typeface="Calibri" pitchFamily="34" charset="-122"/>
                <a:cs typeface="Calibri" pitchFamily="34" charset="-120"/>
              </a:rPr>
              <a:t>Cursor + Opus + Sonnet — and the practices that make it real leverage.</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AI SDLC</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25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Our AI stack today</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What's in our hands — and what each tool is for</a:t>
            </a:r>
            <a:endParaRPr lang="en-US" sz="1400" dirty="0"/>
          </a:p>
        </p:txBody>
      </p:sp>
      <p:sp>
        <p:nvSpPr>
          <p:cNvPr id="8" name="Shape 6"/>
          <p:cNvSpPr/>
          <p:nvPr/>
        </p:nvSpPr>
        <p:spPr>
          <a:xfrm>
            <a:off x="457200" y="2194560"/>
            <a:ext cx="3637178" cy="402336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9" name="Shape 7"/>
          <p:cNvSpPr/>
          <p:nvPr/>
        </p:nvSpPr>
        <p:spPr>
          <a:xfrm>
            <a:off x="457200" y="2194560"/>
            <a:ext cx="73152" cy="4023360"/>
          </a:xfrm>
          <a:prstGeom prst="rect">
            <a:avLst/>
          </a:prstGeom>
          <a:solidFill>
            <a:srgbClr val="0D9488"/>
          </a:solidFill>
          <a:ln w="12700">
            <a:solidFill>
              <a:srgbClr val="0D9488"/>
            </a:solidFill>
            <a:prstDash val="solid"/>
          </a:ln>
        </p:spPr>
        <p:txBody>
          <a:bodyPr/>
          <a:lstStyle/>
          <a:p>
            <a:endParaRPr lang="en-US"/>
          </a:p>
        </p:txBody>
      </p:sp>
      <p:sp>
        <p:nvSpPr>
          <p:cNvPr id="10" name="Text 8"/>
          <p:cNvSpPr/>
          <p:nvPr/>
        </p:nvSpPr>
        <p:spPr>
          <a:xfrm>
            <a:off x="731520" y="2331720"/>
            <a:ext cx="3179978" cy="320040"/>
          </a:xfrm>
          <a:prstGeom prst="rect">
            <a:avLst/>
          </a:prstGeom>
          <a:noFill/>
          <a:ln/>
        </p:spPr>
        <p:txBody>
          <a:bodyPr wrap="square" lIns="0" tIns="0" rIns="0" bIns="0" rtlCol="0" anchor="ctr"/>
          <a:lstStyle/>
          <a:p>
            <a:pPr marL="0" indent="0">
              <a:buNone/>
            </a:pPr>
            <a:r>
              <a:rPr lang="en-US" sz="1100" b="1" kern="0" spc="400" dirty="0">
                <a:solidFill>
                  <a:srgbClr val="64748B"/>
                </a:solidFill>
                <a:latin typeface="Calibri" pitchFamily="34" charset="0"/>
                <a:ea typeface="Calibri" pitchFamily="34" charset="-122"/>
                <a:cs typeface="Calibri" pitchFamily="34" charset="-120"/>
              </a:rPr>
              <a:t>IDE</a:t>
            </a:r>
            <a:endParaRPr lang="en-US" sz="1100" dirty="0"/>
          </a:p>
        </p:txBody>
      </p:sp>
      <p:sp>
        <p:nvSpPr>
          <p:cNvPr id="11" name="Text 9"/>
          <p:cNvSpPr/>
          <p:nvPr/>
        </p:nvSpPr>
        <p:spPr>
          <a:xfrm>
            <a:off x="731520" y="2651760"/>
            <a:ext cx="3179978" cy="640080"/>
          </a:xfrm>
          <a:prstGeom prst="rect">
            <a:avLst/>
          </a:prstGeom>
          <a:noFill/>
          <a:ln/>
        </p:spPr>
        <p:txBody>
          <a:bodyPr wrap="square" lIns="0" tIns="0" rIns="0" bIns="0" rtlCol="0" anchor="ctr"/>
          <a:lstStyle/>
          <a:p>
            <a:pPr marL="0" indent="0">
              <a:buNone/>
            </a:pPr>
            <a:r>
              <a:rPr lang="en-US" sz="3200" b="1" dirty="0">
                <a:solidFill>
                  <a:srgbClr val="0D9488"/>
                </a:solidFill>
                <a:latin typeface="Calibri" pitchFamily="34" charset="0"/>
                <a:ea typeface="Calibri" pitchFamily="34" charset="-122"/>
                <a:cs typeface="Calibri" pitchFamily="34" charset="-120"/>
              </a:rPr>
              <a:t>Cursor</a:t>
            </a:r>
            <a:endParaRPr lang="en-US" sz="3200" dirty="0"/>
          </a:p>
        </p:txBody>
      </p:sp>
      <p:sp>
        <p:nvSpPr>
          <p:cNvPr id="12" name="Shape 10"/>
          <p:cNvSpPr/>
          <p:nvPr/>
        </p:nvSpPr>
        <p:spPr>
          <a:xfrm>
            <a:off x="731520" y="3383280"/>
            <a:ext cx="548640" cy="36576"/>
          </a:xfrm>
          <a:prstGeom prst="rect">
            <a:avLst/>
          </a:prstGeom>
          <a:solidFill>
            <a:srgbClr val="0D9488"/>
          </a:solidFill>
          <a:ln w="12700">
            <a:solidFill>
              <a:srgbClr val="0D9488"/>
            </a:solidFill>
            <a:prstDash val="solid"/>
          </a:ln>
        </p:spPr>
        <p:txBody>
          <a:bodyPr/>
          <a:lstStyle/>
          <a:p>
            <a:endParaRPr lang="en-US"/>
          </a:p>
        </p:txBody>
      </p:sp>
      <p:sp>
        <p:nvSpPr>
          <p:cNvPr id="13" name="Text 11"/>
          <p:cNvSpPr/>
          <p:nvPr/>
        </p:nvSpPr>
        <p:spPr>
          <a:xfrm>
            <a:off x="731520" y="3566160"/>
            <a:ext cx="3179978"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Inline completion + agentic edits</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Multi-file refactors</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Repo-aware chat with @file / @symbol</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Where most of our coding happens</a:t>
            </a:r>
            <a:endParaRPr lang="en-US" sz="1200" dirty="0"/>
          </a:p>
        </p:txBody>
      </p:sp>
      <p:sp>
        <p:nvSpPr>
          <p:cNvPr id="14" name="Shape 12"/>
          <p:cNvSpPr/>
          <p:nvPr/>
        </p:nvSpPr>
        <p:spPr>
          <a:xfrm>
            <a:off x="4277258" y="2194560"/>
            <a:ext cx="3637178" cy="402336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5" name="Shape 13"/>
          <p:cNvSpPr/>
          <p:nvPr/>
        </p:nvSpPr>
        <p:spPr>
          <a:xfrm>
            <a:off x="4277258" y="2194560"/>
            <a:ext cx="73152" cy="4023360"/>
          </a:xfrm>
          <a:prstGeom prst="rect">
            <a:avLst/>
          </a:prstGeom>
          <a:solidFill>
            <a:srgbClr val="0F172A"/>
          </a:solidFill>
          <a:ln w="12700">
            <a:solidFill>
              <a:srgbClr val="0F172A"/>
            </a:solidFill>
            <a:prstDash val="solid"/>
          </a:ln>
        </p:spPr>
        <p:txBody>
          <a:bodyPr/>
          <a:lstStyle/>
          <a:p>
            <a:endParaRPr lang="en-US"/>
          </a:p>
        </p:txBody>
      </p:sp>
      <p:sp>
        <p:nvSpPr>
          <p:cNvPr id="16" name="Text 14"/>
          <p:cNvSpPr/>
          <p:nvPr/>
        </p:nvSpPr>
        <p:spPr>
          <a:xfrm>
            <a:off x="4551578" y="2331720"/>
            <a:ext cx="3179978" cy="320040"/>
          </a:xfrm>
          <a:prstGeom prst="rect">
            <a:avLst/>
          </a:prstGeom>
          <a:noFill/>
          <a:ln/>
        </p:spPr>
        <p:txBody>
          <a:bodyPr wrap="square" lIns="0" tIns="0" rIns="0" bIns="0" rtlCol="0" anchor="ctr"/>
          <a:lstStyle/>
          <a:p>
            <a:pPr marL="0" indent="0">
              <a:buNone/>
            </a:pPr>
            <a:r>
              <a:rPr lang="en-US" sz="1100" b="1" kern="0" spc="400" dirty="0">
                <a:solidFill>
                  <a:srgbClr val="64748B"/>
                </a:solidFill>
                <a:latin typeface="Calibri" pitchFamily="34" charset="0"/>
                <a:ea typeface="Calibri" pitchFamily="34" charset="-122"/>
                <a:cs typeface="Calibri" pitchFamily="34" charset="-120"/>
              </a:rPr>
              <a:t>HARD REASONING</a:t>
            </a:r>
            <a:endParaRPr lang="en-US" sz="1100" dirty="0"/>
          </a:p>
        </p:txBody>
      </p:sp>
      <p:sp>
        <p:nvSpPr>
          <p:cNvPr id="17" name="Text 15"/>
          <p:cNvSpPr/>
          <p:nvPr/>
        </p:nvSpPr>
        <p:spPr>
          <a:xfrm>
            <a:off x="4551578" y="2651760"/>
            <a:ext cx="3179978" cy="640080"/>
          </a:xfrm>
          <a:prstGeom prst="rect">
            <a:avLst/>
          </a:prstGeom>
          <a:noFill/>
          <a:ln/>
        </p:spPr>
        <p:txBody>
          <a:bodyPr wrap="square" lIns="0" tIns="0" rIns="0" bIns="0" rtlCol="0" anchor="ctr"/>
          <a:lstStyle/>
          <a:p>
            <a:pPr marL="0" indent="0">
              <a:buNone/>
            </a:pPr>
            <a:r>
              <a:rPr lang="en-US" sz="3200" b="1" dirty="0">
                <a:solidFill>
                  <a:srgbClr val="0F172A"/>
                </a:solidFill>
                <a:latin typeface="Calibri" pitchFamily="34" charset="0"/>
                <a:ea typeface="Calibri" pitchFamily="34" charset="-122"/>
                <a:cs typeface="Calibri" pitchFamily="34" charset="-120"/>
              </a:rPr>
              <a:t>Opus</a:t>
            </a:r>
            <a:endParaRPr lang="en-US" sz="3200" dirty="0"/>
          </a:p>
        </p:txBody>
      </p:sp>
      <p:sp>
        <p:nvSpPr>
          <p:cNvPr id="18" name="Shape 16"/>
          <p:cNvSpPr/>
          <p:nvPr/>
        </p:nvSpPr>
        <p:spPr>
          <a:xfrm>
            <a:off x="4551578" y="3383280"/>
            <a:ext cx="548640" cy="36576"/>
          </a:xfrm>
          <a:prstGeom prst="rect">
            <a:avLst/>
          </a:prstGeom>
          <a:solidFill>
            <a:srgbClr val="0F172A"/>
          </a:solidFill>
          <a:ln w="12700">
            <a:solidFill>
              <a:srgbClr val="0F172A"/>
            </a:solidFill>
            <a:prstDash val="solid"/>
          </a:ln>
        </p:spPr>
        <p:txBody>
          <a:bodyPr/>
          <a:lstStyle/>
          <a:p>
            <a:endParaRPr lang="en-US"/>
          </a:p>
        </p:txBody>
      </p:sp>
      <p:sp>
        <p:nvSpPr>
          <p:cNvPr id="19" name="Text 17"/>
          <p:cNvSpPr/>
          <p:nvPr/>
        </p:nvSpPr>
        <p:spPr>
          <a:xfrm>
            <a:off x="4551578" y="3566160"/>
            <a:ext cx="3179978"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Architecture and ambiguous specs</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Security and data-model reviews</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Gnarly debugging when stuck</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Reach for it when stakes are high</a:t>
            </a:r>
            <a:endParaRPr lang="en-US" sz="1200" dirty="0"/>
          </a:p>
        </p:txBody>
      </p:sp>
      <p:sp>
        <p:nvSpPr>
          <p:cNvPr id="20" name="Shape 18"/>
          <p:cNvSpPr/>
          <p:nvPr/>
        </p:nvSpPr>
        <p:spPr>
          <a:xfrm>
            <a:off x="8097317" y="2194560"/>
            <a:ext cx="3637178" cy="402336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1" name="Shape 19"/>
          <p:cNvSpPr/>
          <p:nvPr/>
        </p:nvSpPr>
        <p:spPr>
          <a:xfrm>
            <a:off x="8097317" y="2194560"/>
            <a:ext cx="73152" cy="4023360"/>
          </a:xfrm>
          <a:prstGeom prst="rect">
            <a:avLst/>
          </a:prstGeom>
          <a:solidFill>
            <a:srgbClr val="0D9488"/>
          </a:solidFill>
          <a:ln w="12700">
            <a:solidFill>
              <a:srgbClr val="0D9488"/>
            </a:solidFill>
            <a:prstDash val="solid"/>
          </a:ln>
        </p:spPr>
        <p:txBody>
          <a:bodyPr/>
          <a:lstStyle/>
          <a:p>
            <a:endParaRPr lang="en-US"/>
          </a:p>
        </p:txBody>
      </p:sp>
      <p:sp>
        <p:nvSpPr>
          <p:cNvPr id="22" name="Text 20"/>
          <p:cNvSpPr/>
          <p:nvPr/>
        </p:nvSpPr>
        <p:spPr>
          <a:xfrm>
            <a:off x="8371637" y="2331720"/>
            <a:ext cx="3179978" cy="320040"/>
          </a:xfrm>
          <a:prstGeom prst="rect">
            <a:avLst/>
          </a:prstGeom>
          <a:noFill/>
          <a:ln/>
        </p:spPr>
        <p:txBody>
          <a:bodyPr wrap="square" lIns="0" tIns="0" rIns="0" bIns="0" rtlCol="0" anchor="ctr"/>
          <a:lstStyle/>
          <a:p>
            <a:pPr marL="0" indent="0">
              <a:buNone/>
            </a:pPr>
            <a:r>
              <a:rPr lang="en-US" sz="1100" b="1" kern="0" spc="400" dirty="0">
                <a:solidFill>
                  <a:srgbClr val="64748B"/>
                </a:solidFill>
                <a:latin typeface="Calibri" pitchFamily="34" charset="0"/>
                <a:ea typeface="Calibri" pitchFamily="34" charset="-122"/>
                <a:cs typeface="Calibri" pitchFamily="34" charset="-120"/>
              </a:rPr>
              <a:t>DAILY DRIVER</a:t>
            </a:r>
            <a:endParaRPr lang="en-US" sz="1100" dirty="0"/>
          </a:p>
        </p:txBody>
      </p:sp>
      <p:sp>
        <p:nvSpPr>
          <p:cNvPr id="23" name="Text 21"/>
          <p:cNvSpPr/>
          <p:nvPr/>
        </p:nvSpPr>
        <p:spPr>
          <a:xfrm>
            <a:off x="8371637" y="2651760"/>
            <a:ext cx="3179978" cy="640080"/>
          </a:xfrm>
          <a:prstGeom prst="rect">
            <a:avLst/>
          </a:prstGeom>
          <a:noFill/>
          <a:ln/>
        </p:spPr>
        <p:txBody>
          <a:bodyPr wrap="square" lIns="0" tIns="0" rIns="0" bIns="0" rtlCol="0" anchor="ctr"/>
          <a:lstStyle/>
          <a:p>
            <a:pPr marL="0" indent="0">
              <a:buNone/>
            </a:pPr>
            <a:r>
              <a:rPr lang="en-US" sz="3200" b="1" dirty="0">
                <a:solidFill>
                  <a:srgbClr val="0D9488"/>
                </a:solidFill>
                <a:latin typeface="Calibri" pitchFamily="34" charset="0"/>
                <a:ea typeface="Calibri" pitchFamily="34" charset="-122"/>
                <a:cs typeface="Calibri" pitchFamily="34" charset="-120"/>
              </a:rPr>
              <a:t>Sonnet</a:t>
            </a:r>
            <a:endParaRPr lang="en-US" sz="3200" dirty="0"/>
          </a:p>
        </p:txBody>
      </p:sp>
      <p:sp>
        <p:nvSpPr>
          <p:cNvPr id="24" name="Shape 22"/>
          <p:cNvSpPr/>
          <p:nvPr/>
        </p:nvSpPr>
        <p:spPr>
          <a:xfrm>
            <a:off x="8371637" y="3383280"/>
            <a:ext cx="548640" cy="36576"/>
          </a:xfrm>
          <a:prstGeom prst="rect">
            <a:avLst/>
          </a:prstGeom>
          <a:solidFill>
            <a:srgbClr val="0D9488"/>
          </a:solidFill>
          <a:ln w="12700">
            <a:solidFill>
              <a:srgbClr val="0D9488"/>
            </a:solidFill>
            <a:prstDash val="solid"/>
          </a:ln>
        </p:spPr>
        <p:txBody>
          <a:bodyPr/>
          <a:lstStyle/>
          <a:p>
            <a:endParaRPr lang="en-US"/>
          </a:p>
        </p:txBody>
      </p:sp>
      <p:sp>
        <p:nvSpPr>
          <p:cNvPr id="25" name="Text 23"/>
          <p:cNvSpPr/>
          <p:nvPr/>
        </p:nvSpPr>
        <p:spPr>
          <a:xfrm>
            <a:off x="8371637" y="3566160"/>
            <a:ext cx="3179978"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Most code generation and tests</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SQL and dbt model authoring</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Doc writing, summaries, prompts</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Fast pair-programming partner</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AI SDLC</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26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Best practices we're adopting</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Six habits that turn AI from a toy into leverage</a:t>
            </a:r>
            <a:endParaRPr lang="en-US" sz="1400" dirty="0"/>
          </a:p>
        </p:txBody>
      </p:sp>
      <p:sp>
        <p:nvSpPr>
          <p:cNvPr id="8" name="Shape 6"/>
          <p:cNvSpPr/>
          <p:nvPr/>
        </p:nvSpPr>
        <p:spPr>
          <a:xfrm>
            <a:off x="457200" y="2148840"/>
            <a:ext cx="5501488" cy="11430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9" name="Shape 7"/>
          <p:cNvSpPr/>
          <p:nvPr/>
        </p:nvSpPr>
        <p:spPr>
          <a:xfrm>
            <a:off x="457200" y="2148840"/>
            <a:ext cx="73152" cy="1143000"/>
          </a:xfrm>
          <a:prstGeom prst="rect">
            <a:avLst/>
          </a:prstGeom>
          <a:solidFill>
            <a:srgbClr val="0D9488"/>
          </a:solidFill>
          <a:ln w="12700">
            <a:solidFill>
              <a:srgbClr val="0D9488"/>
            </a:solidFill>
            <a:prstDash val="solid"/>
          </a:ln>
        </p:spPr>
        <p:txBody>
          <a:bodyPr/>
          <a:lstStyle/>
          <a:p>
            <a:endParaRPr lang="en-US"/>
          </a:p>
        </p:txBody>
      </p:sp>
      <p:sp>
        <p:nvSpPr>
          <p:cNvPr id="10" name="Shape 8"/>
          <p:cNvSpPr/>
          <p:nvPr/>
        </p:nvSpPr>
        <p:spPr>
          <a:xfrm>
            <a:off x="685800" y="2441448"/>
            <a:ext cx="548640" cy="548640"/>
          </a:xfrm>
          <a:prstGeom prst="ellipse">
            <a:avLst/>
          </a:prstGeom>
          <a:solidFill>
            <a:srgbClr val="0D9488"/>
          </a:solidFill>
          <a:ln w="12700">
            <a:solidFill>
              <a:srgbClr val="0D9488"/>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777240" y="2532888"/>
            <a:ext cx="365760" cy="365760"/>
          </a:xfrm>
          <a:prstGeom prst="rect">
            <a:avLst/>
          </a:prstGeom>
        </p:spPr>
      </p:pic>
      <p:sp>
        <p:nvSpPr>
          <p:cNvPr id="12" name="Text 9"/>
          <p:cNvSpPr/>
          <p:nvPr/>
        </p:nvSpPr>
        <p:spPr>
          <a:xfrm>
            <a:off x="1371600" y="2286000"/>
            <a:ext cx="4449928"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Right model for the lift</a:t>
            </a:r>
            <a:endParaRPr lang="en-US" sz="1400" dirty="0"/>
          </a:p>
        </p:txBody>
      </p:sp>
      <p:sp>
        <p:nvSpPr>
          <p:cNvPr id="13" name="Text 10"/>
          <p:cNvSpPr/>
          <p:nvPr/>
        </p:nvSpPr>
        <p:spPr>
          <a:xfrm>
            <a:off x="1371600" y="2651760"/>
            <a:ext cx="4449928" cy="64008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Sonnet for most work. Opus when stuck, ambiguous, or stakes are high (architecture, security, data model, gnarly debug).</a:t>
            </a:r>
            <a:endParaRPr lang="en-US" sz="1050" dirty="0"/>
          </a:p>
        </p:txBody>
      </p:sp>
      <p:sp>
        <p:nvSpPr>
          <p:cNvPr id="14" name="Shape 11"/>
          <p:cNvSpPr/>
          <p:nvPr/>
        </p:nvSpPr>
        <p:spPr>
          <a:xfrm>
            <a:off x="6233008" y="2148840"/>
            <a:ext cx="5501488" cy="11430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5" name="Shape 12"/>
          <p:cNvSpPr/>
          <p:nvPr/>
        </p:nvSpPr>
        <p:spPr>
          <a:xfrm>
            <a:off x="6233008" y="2148840"/>
            <a:ext cx="73152" cy="1143000"/>
          </a:xfrm>
          <a:prstGeom prst="rect">
            <a:avLst/>
          </a:prstGeom>
          <a:solidFill>
            <a:srgbClr val="0D9488"/>
          </a:solidFill>
          <a:ln w="12700">
            <a:solidFill>
              <a:srgbClr val="0D9488"/>
            </a:solidFill>
            <a:prstDash val="solid"/>
          </a:ln>
        </p:spPr>
        <p:txBody>
          <a:bodyPr/>
          <a:lstStyle/>
          <a:p>
            <a:endParaRPr lang="en-US"/>
          </a:p>
        </p:txBody>
      </p:sp>
      <p:sp>
        <p:nvSpPr>
          <p:cNvPr id="16" name="Shape 13"/>
          <p:cNvSpPr/>
          <p:nvPr/>
        </p:nvSpPr>
        <p:spPr>
          <a:xfrm>
            <a:off x="6461608" y="2441448"/>
            <a:ext cx="548640" cy="548640"/>
          </a:xfrm>
          <a:prstGeom prst="ellipse">
            <a:avLst/>
          </a:prstGeom>
          <a:solidFill>
            <a:srgbClr val="0D9488"/>
          </a:solidFill>
          <a:ln w="12700">
            <a:solidFill>
              <a:srgbClr val="0D9488"/>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6553048" y="2532888"/>
            <a:ext cx="365760" cy="365760"/>
          </a:xfrm>
          <a:prstGeom prst="rect">
            <a:avLst/>
          </a:prstGeom>
        </p:spPr>
      </p:pic>
      <p:sp>
        <p:nvSpPr>
          <p:cNvPr id="18" name="Text 14"/>
          <p:cNvSpPr/>
          <p:nvPr/>
        </p:nvSpPr>
        <p:spPr>
          <a:xfrm>
            <a:off x="7147408" y="2286000"/>
            <a:ext cx="4449928"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Spec before code</a:t>
            </a:r>
            <a:endParaRPr lang="en-US" sz="1400" dirty="0"/>
          </a:p>
        </p:txBody>
      </p:sp>
      <p:sp>
        <p:nvSpPr>
          <p:cNvPr id="19" name="Text 15"/>
          <p:cNvSpPr/>
          <p:nvPr/>
        </p:nvSpPr>
        <p:spPr>
          <a:xfrm>
            <a:off x="7147408" y="2651760"/>
            <a:ext cx="4449928" cy="64008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Write the prompt like a small PRD: goal, inputs, constraints, acceptance criteria. The clearer the spec, the better the output — same as humans.</a:t>
            </a:r>
            <a:endParaRPr lang="en-US" sz="1050" dirty="0"/>
          </a:p>
        </p:txBody>
      </p:sp>
      <p:sp>
        <p:nvSpPr>
          <p:cNvPr id="20" name="Shape 16"/>
          <p:cNvSpPr/>
          <p:nvPr/>
        </p:nvSpPr>
        <p:spPr>
          <a:xfrm>
            <a:off x="457200" y="3474720"/>
            <a:ext cx="5501488" cy="11430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1" name="Shape 17"/>
          <p:cNvSpPr/>
          <p:nvPr/>
        </p:nvSpPr>
        <p:spPr>
          <a:xfrm>
            <a:off x="457200" y="3474720"/>
            <a:ext cx="73152" cy="1143000"/>
          </a:xfrm>
          <a:prstGeom prst="rect">
            <a:avLst/>
          </a:prstGeom>
          <a:solidFill>
            <a:srgbClr val="0D9488"/>
          </a:solidFill>
          <a:ln w="12700">
            <a:solidFill>
              <a:srgbClr val="0D9488"/>
            </a:solidFill>
            <a:prstDash val="solid"/>
          </a:ln>
        </p:spPr>
        <p:txBody>
          <a:bodyPr/>
          <a:lstStyle/>
          <a:p>
            <a:endParaRPr lang="en-US"/>
          </a:p>
        </p:txBody>
      </p:sp>
      <p:sp>
        <p:nvSpPr>
          <p:cNvPr id="22" name="Shape 18"/>
          <p:cNvSpPr/>
          <p:nvPr/>
        </p:nvSpPr>
        <p:spPr>
          <a:xfrm>
            <a:off x="685800" y="3767328"/>
            <a:ext cx="548640" cy="548640"/>
          </a:xfrm>
          <a:prstGeom prst="ellipse">
            <a:avLst/>
          </a:prstGeom>
          <a:solidFill>
            <a:srgbClr val="0D9488"/>
          </a:solidFill>
          <a:ln w="12700">
            <a:solidFill>
              <a:srgbClr val="0D9488"/>
            </a:solidFill>
            <a:prstDash val="solid"/>
          </a:ln>
        </p:spPr>
        <p:txBody>
          <a:bodyPr/>
          <a:lstStyle/>
          <a:p>
            <a:endParaRPr lang="en-US"/>
          </a:p>
        </p:txBody>
      </p:sp>
      <p:pic>
        <p:nvPicPr>
          <p:cNvPr id="23" name="Image 2" descr="preencoded.png"/>
          <p:cNvPicPr>
            <a:picLocks noChangeAspect="1"/>
          </p:cNvPicPr>
          <p:nvPr/>
        </p:nvPicPr>
        <p:blipFill>
          <a:blip r:embed="rId5"/>
          <a:stretch>
            <a:fillRect/>
          </a:stretch>
        </p:blipFill>
        <p:spPr>
          <a:xfrm>
            <a:off x="777240" y="3858768"/>
            <a:ext cx="365760" cy="365760"/>
          </a:xfrm>
          <a:prstGeom prst="rect">
            <a:avLst/>
          </a:prstGeom>
        </p:spPr>
      </p:pic>
      <p:sp>
        <p:nvSpPr>
          <p:cNvPr id="24" name="Text 19"/>
          <p:cNvSpPr/>
          <p:nvPr/>
        </p:nvSpPr>
        <p:spPr>
          <a:xfrm>
            <a:off x="1371600" y="3611880"/>
            <a:ext cx="4449928"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Never trust, always verify</a:t>
            </a:r>
            <a:endParaRPr lang="en-US" sz="1400" dirty="0"/>
          </a:p>
        </p:txBody>
      </p:sp>
      <p:sp>
        <p:nvSpPr>
          <p:cNvPr id="25" name="Text 20"/>
          <p:cNvSpPr/>
          <p:nvPr/>
        </p:nvSpPr>
        <p:spPr>
          <a:xfrm>
            <a:off x="1371600" y="3977640"/>
            <a:ext cx="4449928" cy="64008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Tests, types, code review. AI hallucinates plausible code. Treat its output like a confident junior — read every line.</a:t>
            </a:r>
            <a:endParaRPr lang="en-US" sz="1050" dirty="0"/>
          </a:p>
        </p:txBody>
      </p:sp>
      <p:sp>
        <p:nvSpPr>
          <p:cNvPr id="26" name="Shape 21"/>
          <p:cNvSpPr/>
          <p:nvPr/>
        </p:nvSpPr>
        <p:spPr>
          <a:xfrm>
            <a:off x="6233008" y="3474720"/>
            <a:ext cx="5501488" cy="11430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7" name="Shape 22"/>
          <p:cNvSpPr/>
          <p:nvPr/>
        </p:nvSpPr>
        <p:spPr>
          <a:xfrm>
            <a:off x="6233008" y="3474720"/>
            <a:ext cx="73152" cy="1143000"/>
          </a:xfrm>
          <a:prstGeom prst="rect">
            <a:avLst/>
          </a:prstGeom>
          <a:solidFill>
            <a:srgbClr val="0D9488"/>
          </a:solidFill>
          <a:ln w="12700">
            <a:solidFill>
              <a:srgbClr val="0D9488"/>
            </a:solidFill>
            <a:prstDash val="solid"/>
          </a:ln>
        </p:spPr>
        <p:txBody>
          <a:bodyPr/>
          <a:lstStyle/>
          <a:p>
            <a:endParaRPr lang="en-US"/>
          </a:p>
        </p:txBody>
      </p:sp>
      <p:sp>
        <p:nvSpPr>
          <p:cNvPr id="28" name="Shape 23"/>
          <p:cNvSpPr/>
          <p:nvPr/>
        </p:nvSpPr>
        <p:spPr>
          <a:xfrm>
            <a:off x="6461608" y="3767328"/>
            <a:ext cx="548640" cy="548640"/>
          </a:xfrm>
          <a:prstGeom prst="ellipse">
            <a:avLst/>
          </a:prstGeom>
          <a:solidFill>
            <a:srgbClr val="0D9488"/>
          </a:solidFill>
          <a:ln w="12700">
            <a:solidFill>
              <a:srgbClr val="0D9488"/>
            </a:solidFill>
            <a:prstDash val="solid"/>
          </a:ln>
        </p:spPr>
        <p:txBody>
          <a:bodyPr/>
          <a:lstStyle/>
          <a:p>
            <a:endParaRPr lang="en-US"/>
          </a:p>
        </p:txBody>
      </p:sp>
      <p:pic>
        <p:nvPicPr>
          <p:cNvPr id="29" name="Image 3" descr="preencoded.png"/>
          <p:cNvPicPr>
            <a:picLocks noChangeAspect="1"/>
          </p:cNvPicPr>
          <p:nvPr/>
        </p:nvPicPr>
        <p:blipFill>
          <a:blip r:embed="rId6"/>
          <a:stretch>
            <a:fillRect/>
          </a:stretch>
        </p:blipFill>
        <p:spPr>
          <a:xfrm>
            <a:off x="6553048" y="3858768"/>
            <a:ext cx="365760" cy="365760"/>
          </a:xfrm>
          <a:prstGeom prst="rect">
            <a:avLst/>
          </a:prstGeom>
        </p:spPr>
      </p:pic>
      <p:sp>
        <p:nvSpPr>
          <p:cNvPr id="30" name="Text 24"/>
          <p:cNvSpPr/>
          <p:nvPr/>
        </p:nvSpPr>
        <p:spPr>
          <a:xfrm>
            <a:off x="7147408" y="3611880"/>
            <a:ext cx="4449928"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Repo-aware context</a:t>
            </a:r>
            <a:endParaRPr lang="en-US" sz="1400" dirty="0"/>
          </a:p>
        </p:txBody>
      </p:sp>
      <p:sp>
        <p:nvSpPr>
          <p:cNvPr id="31" name="Text 25"/>
          <p:cNvSpPr/>
          <p:nvPr/>
        </p:nvSpPr>
        <p:spPr>
          <a:xfrm>
            <a:off x="7147408" y="3977640"/>
            <a:ext cx="4449928" cy="64008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Use Cursor's @file / @symbol so the model sees the real codebase. Cut-paste blind prompts produce blind code.</a:t>
            </a:r>
            <a:endParaRPr lang="en-US" sz="1050" dirty="0"/>
          </a:p>
        </p:txBody>
      </p:sp>
      <p:sp>
        <p:nvSpPr>
          <p:cNvPr id="32" name="Shape 26"/>
          <p:cNvSpPr/>
          <p:nvPr/>
        </p:nvSpPr>
        <p:spPr>
          <a:xfrm>
            <a:off x="457200" y="4800600"/>
            <a:ext cx="5501488" cy="11430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33" name="Shape 27"/>
          <p:cNvSpPr/>
          <p:nvPr/>
        </p:nvSpPr>
        <p:spPr>
          <a:xfrm>
            <a:off x="457200" y="4800600"/>
            <a:ext cx="73152" cy="1143000"/>
          </a:xfrm>
          <a:prstGeom prst="rect">
            <a:avLst/>
          </a:prstGeom>
          <a:solidFill>
            <a:srgbClr val="0D9488"/>
          </a:solidFill>
          <a:ln w="12700">
            <a:solidFill>
              <a:srgbClr val="0D9488"/>
            </a:solidFill>
            <a:prstDash val="solid"/>
          </a:ln>
        </p:spPr>
        <p:txBody>
          <a:bodyPr/>
          <a:lstStyle/>
          <a:p>
            <a:endParaRPr lang="en-US"/>
          </a:p>
        </p:txBody>
      </p:sp>
      <p:sp>
        <p:nvSpPr>
          <p:cNvPr id="34" name="Shape 28"/>
          <p:cNvSpPr/>
          <p:nvPr/>
        </p:nvSpPr>
        <p:spPr>
          <a:xfrm>
            <a:off x="685800" y="5093208"/>
            <a:ext cx="548640" cy="548640"/>
          </a:xfrm>
          <a:prstGeom prst="ellipse">
            <a:avLst/>
          </a:prstGeom>
          <a:solidFill>
            <a:srgbClr val="0D9488"/>
          </a:solidFill>
          <a:ln w="12700">
            <a:solidFill>
              <a:srgbClr val="0D9488"/>
            </a:solidFill>
            <a:prstDash val="solid"/>
          </a:ln>
        </p:spPr>
        <p:txBody>
          <a:bodyPr/>
          <a:lstStyle/>
          <a:p>
            <a:endParaRPr lang="en-US"/>
          </a:p>
        </p:txBody>
      </p:sp>
      <p:pic>
        <p:nvPicPr>
          <p:cNvPr id="35" name="Image 4" descr="preencoded.png"/>
          <p:cNvPicPr>
            <a:picLocks noChangeAspect="1"/>
          </p:cNvPicPr>
          <p:nvPr/>
        </p:nvPicPr>
        <p:blipFill>
          <a:blip r:embed="rId7"/>
          <a:stretch>
            <a:fillRect/>
          </a:stretch>
        </p:blipFill>
        <p:spPr>
          <a:xfrm>
            <a:off x="777240" y="5184648"/>
            <a:ext cx="365760" cy="365760"/>
          </a:xfrm>
          <a:prstGeom prst="rect">
            <a:avLst/>
          </a:prstGeom>
        </p:spPr>
      </p:pic>
      <p:sp>
        <p:nvSpPr>
          <p:cNvPr id="36" name="Text 29"/>
          <p:cNvSpPr/>
          <p:nvPr/>
        </p:nvSpPr>
        <p:spPr>
          <a:xfrm>
            <a:off x="1371600" y="4937760"/>
            <a:ext cx="4449928"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Capture the prompts that work</a:t>
            </a:r>
            <a:endParaRPr lang="en-US" sz="1400" dirty="0"/>
          </a:p>
        </p:txBody>
      </p:sp>
      <p:sp>
        <p:nvSpPr>
          <p:cNvPr id="37" name="Text 30"/>
          <p:cNvSpPr/>
          <p:nvPr/>
        </p:nvSpPr>
        <p:spPr>
          <a:xfrm>
            <a:off x="1371600" y="5303520"/>
            <a:ext cx="4449928" cy="64008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Shared prompt library in the repo. Treat winning prompts as artifacts — version them like code.</a:t>
            </a:r>
            <a:endParaRPr lang="en-US" sz="1050" dirty="0"/>
          </a:p>
        </p:txBody>
      </p:sp>
      <p:sp>
        <p:nvSpPr>
          <p:cNvPr id="38" name="Shape 31"/>
          <p:cNvSpPr/>
          <p:nvPr/>
        </p:nvSpPr>
        <p:spPr>
          <a:xfrm>
            <a:off x="6233008" y="4800600"/>
            <a:ext cx="5501488" cy="11430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39" name="Shape 32"/>
          <p:cNvSpPr/>
          <p:nvPr/>
        </p:nvSpPr>
        <p:spPr>
          <a:xfrm>
            <a:off x="6233008" y="4800600"/>
            <a:ext cx="73152" cy="1143000"/>
          </a:xfrm>
          <a:prstGeom prst="rect">
            <a:avLst/>
          </a:prstGeom>
          <a:solidFill>
            <a:srgbClr val="0D9488"/>
          </a:solidFill>
          <a:ln w="12700">
            <a:solidFill>
              <a:srgbClr val="0D9488"/>
            </a:solidFill>
            <a:prstDash val="solid"/>
          </a:ln>
        </p:spPr>
        <p:txBody>
          <a:bodyPr/>
          <a:lstStyle/>
          <a:p>
            <a:endParaRPr lang="en-US"/>
          </a:p>
        </p:txBody>
      </p:sp>
      <p:sp>
        <p:nvSpPr>
          <p:cNvPr id="40" name="Shape 33"/>
          <p:cNvSpPr/>
          <p:nvPr/>
        </p:nvSpPr>
        <p:spPr>
          <a:xfrm>
            <a:off x="6461608" y="5093208"/>
            <a:ext cx="548640" cy="548640"/>
          </a:xfrm>
          <a:prstGeom prst="ellipse">
            <a:avLst/>
          </a:prstGeom>
          <a:solidFill>
            <a:srgbClr val="0D9488"/>
          </a:solidFill>
          <a:ln w="12700">
            <a:solidFill>
              <a:srgbClr val="0D9488"/>
            </a:solidFill>
            <a:prstDash val="solid"/>
          </a:ln>
        </p:spPr>
        <p:txBody>
          <a:bodyPr/>
          <a:lstStyle/>
          <a:p>
            <a:endParaRPr lang="en-US"/>
          </a:p>
        </p:txBody>
      </p:sp>
      <p:pic>
        <p:nvPicPr>
          <p:cNvPr id="41" name="Image 5" descr="preencoded.png"/>
          <p:cNvPicPr>
            <a:picLocks noChangeAspect="1"/>
          </p:cNvPicPr>
          <p:nvPr/>
        </p:nvPicPr>
        <p:blipFill>
          <a:blip r:embed="rId8"/>
          <a:stretch>
            <a:fillRect/>
          </a:stretch>
        </p:blipFill>
        <p:spPr>
          <a:xfrm>
            <a:off x="6553048" y="5184648"/>
            <a:ext cx="365760" cy="365760"/>
          </a:xfrm>
          <a:prstGeom prst="rect">
            <a:avLst/>
          </a:prstGeom>
        </p:spPr>
      </p:pic>
      <p:sp>
        <p:nvSpPr>
          <p:cNvPr id="42" name="Text 34"/>
          <p:cNvSpPr/>
          <p:nvPr/>
        </p:nvSpPr>
        <p:spPr>
          <a:xfrm>
            <a:off x="7147408" y="4937760"/>
            <a:ext cx="4449928"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AI-aware review etiquette</a:t>
            </a:r>
            <a:endParaRPr lang="en-US" sz="1400" dirty="0"/>
          </a:p>
        </p:txBody>
      </p:sp>
      <p:sp>
        <p:nvSpPr>
          <p:cNvPr id="43" name="Text 35"/>
          <p:cNvSpPr/>
          <p:nvPr/>
        </p:nvSpPr>
        <p:spPr>
          <a:xfrm>
            <a:off x="7147408" y="5303520"/>
            <a:ext cx="4449928" cy="64008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Be explicit when a PR was AI-assisted. Reviewers know to look harder for plausible-but-wrong patterns.</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40080" y="1463040"/>
            <a:ext cx="3657600" cy="2286000"/>
          </a:xfrm>
          <a:prstGeom prst="rect">
            <a:avLst/>
          </a:prstGeom>
          <a:noFill/>
          <a:ln/>
        </p:spPr>
        <p:txBody>
          <a:bodyPr wrap="square" lIns="0" tIns="0" rIns="0" bIns="0" rtlCol="0" anchor="ctr"/>
          <a:lstStyle/>
          <a:p>
            <a:pPr marL="0" indent="0">
              <a:buNone/>
            </a:pPr>
            <a:r>
              <a:rPr lang="en-US" sz="20000" b="1" dirty="0">
                <a:solidFill>
                  <a:srgbClr val="0D9488"/>
                </a:solidFill>
                <a:latin typeface="Calibri" pitchFamily="34" charset="0"/>
                <a:ea typeface="Calibri" pitchFamily="34" charset="-122"/>
                <a:cs typeface="Calibri" pitchFamily="34" charset="-120"/>
              </a:rPr>
              <a:t>05</a:t>
            </a:r>
            <a:endParaRPr lang="en-US" sz="20000" dirty="0"/>
          </a:p>
        </p:txBody>
      </p:sp>
      <p:sp>
        <p:nvSpPr>
          <p:cNvPr id="3" name="Text 1"/>
          <p:cNvSpPr/>
          <p:nvPr/>
        </p:nvSpPr>
        <p:spPr>
          <a:xfrm>
            <a:off x="4572000" y="2194560"/>
            <a:ext cx="7315200" cy="109728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Roundtable.</a:t>
            </a:r>
            <a:endParaRPr lang="en-US" sz="5600" dirty="0"/>
          </a:p>
        </p:txBody>
      </p:sp>
      <p:sp>
        <p:nvSpPr>
          <p:cNvPr id="4" name="Text 2"/>
          <p:cNvSpPr/>
          <p:nvPr/>
        </p:nvSpPr>
        <p:spPr>
          <a:xfrm>
            <a:off x="4572000" y="3657600"/>
            <a:ext cx="7315200" cy="457200"/>
          </a:xfrm>
          <a:prstGeom prst="rect">
            <a:avLst/>
          </a:prstGeom>
          <a:noFill/>
          <a:ln/>
        </p:spPr>
        <p:txBody>
          <a:bodyPr wrap="square" lIns="0" tIns="0" rIns="0" bIns="0" rtlCol="0" anchor="ctr"/>
          <a:lstStyle/>
          <a:p>
            <a:pPr marL="0" indent="0">
              <a:buNone/>
            </a:pPr>
            <a:r>
              <a:rPr lang="en-US" sz="2000" i="1" dirty="0">
                <a:solidFill>
                  <a:srgbClr val="CCFBF1"/>
                </a:solidFill>
                <a:latin typeface="Calibri" pitchFamily="34" charset="0"/>
                <a:ea typeface="Calibri" pitchFamily="34" charset="-122"/>
                <a:cs typeface="Calibri" pitchFamily="34" charset="-120"/>
              </a:rPr>
              <a:t>Microphone moves around. Everyone gets one.</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ROUNDTABLE</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28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Four prompts. Mic goes around.</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Keep it to ~30 seconds — we want everyone in</a:t>
            </a:r>
            <a:endParaRPr lang="en-US" sz="1400" dirty="0"/>
          </a:p>
        </p:txBody>
      </p:sp>
      <p:sp>
        <p:nvSpPr>
          <p:cNvPr id="8" name="Shape 6"/>
          <p:cNvSpPr/>
          <p:nvPr/>
        </p:nvSpPr>
        <p:spPr>
          <a:xfrm>
            <a:off x="457200" y="2194560"/>
            <a:ext cx="2682164" cy="38404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9" name="Shape 7"/>
          <p:cNvSpPr/>
          <p:nvPr/>
        </p:nvSpPr>
        <p:spPr>
          <a:xfrm>
            <a:off x="457200" y="2194560"/>
            <a:ext cx="73152" cy="3840480"/>
          </a:xfrm>
          <a:prstGeom prst="rect">
            <a:avLst/>
          </a:prstGeom>
          <a:solidFill>
            <a:srgbClr val="F59E0B"/>
          </a:solidFill>
          <a:ln w="12700">
            <a:solidFill>
              <a:srgbClr val="F59E0B"/>
            </a:solidFill>
            <a:prstDash val="solid"/>
          </a:ln>
        </p:spPr>
        <p:txBody>
          <a:bodyPr/>
          <a:lstStyle/>
          <a:p>
            <a:endParaRPr lang="en-US"/>
          </a:p>
        </p:txBody>
      </p:sp>
      <p:sp>
        <p:nvSpPr>
          <p:cNvPr id="10" name="Shape 8"/>
          <p:cNvSpPr/>
          <p:nvPr/>
        </p:nvSpPr>
        <p:spPr>
          <a:xfrm>
            <a:off x="1386802" y="2468880"/>
            <a:ext cx="822960" cy="822960"/>
          </a:xfrm>
          <a:prstGeom prst="ellipse">
            <a:avLst/>
          </a:prstGeom>
          <a:solidFill>
            <a:srgbClr val="F59E0B"/>
          </a:solidFill>
          <a:ln w="12700">
            <a:solidFill>
              <a:srgbClr val="F59E0B"/>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1542250" y="2606040"/>
            <a:ext cx="512064" cy="512064"/>
          </a:xfrm>
          <a:prstGeom prst="rect">
            <a:avLst/>
          </a:prstGeom>
        </p:spPr>
      </p:pic>
      <p:sp>
        <p:nvSpPr>
          <p:cNvPr id="12" name="Text 9"/>
          <p:cNvSpPr/>
          <p:nvPr/>
        </p:nvSpPr>
        <p:spPr>
          <a:xfrm>
            <a:off x="594360" y="3429000"/>
            <a:ext cx="2407844" cy="457200"/>
          </a:xfrm>
          <a:prstGeom prst="rect">
            <a:avLst/>
          </a:prstGeom>
          <a:noFill/>
          <a:ln/>
        </p:spPr>
        <p:txBody>
          <a:bodyPr wrap="square" lIns="0" tIns="0" rIns="0" bIns="0" rtlCol="0" anchor="ctr"/>
          <a:lstStyle/>
          <a:p>
            <a:pPr marL="0" indent="0" algn="ctr">
              <a:buNone/>
            </a:pPr>
            <a:r>
              <a:rPr lang="en-US" sz="1800" b="1" dirty="0">
                <a:solidFill>
                  <a:srgbClr val="1E293B"/>
                </a:solidFill>
                <a:latin typeface="Calibri" pitchFamily="34" charset="0"/>
                <a:ea typeface="Calibri" pitchFamily="34" charset="-122"/>
                <a:cs typeface="Calibri" pitchFamily="34" charset="-120"/>
              </a:rPr>
              <a:t>Brag</a:t>
            </a:r>
            <a:endParaRPr lang="en-US" sz="1800" dirty="0"/>
          </a:p>
        </p:txBody>
      </p:sp>
      <p:sp>
        <p:nvSpPr>
          <p:cNvPr id="13" name="Text 10"/>
          <p:cNvSpPr/>
          <p:nvPr/>
        </p:nvSpPr>
        <p:spPr>
          <a:xfrm>
            <a:off x="640080" y="3931920"/>
            <a:ext cx="2316404" cy="1828800"/>
          </a:xfrm>
          <a:prstGeom prst="rect">
            <a:avLst/>
          </a:prstGeom>
          <a:noFill/>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What's one thing you shipped or figured out this quarter that you're quietly proud of?</a:t>
            </a:r>
            <a:endParaRPr lang="en-US" sz="1200" dirty="0"/>
          </a:p>
        </p:txBody>
      </p:sp>
      <p:sp>
        <p:nvSpPr>
          <p:cNvPr id="14" name="Shape 11"/>
          <p:cNvSpPr/>
          <p:nvPr/>
        </p:nvSpPr>
        <p:spPr>
          <a:xfrm>
            <a:off x="3322244" y="2194560"/>
            <a:ext cx="2682164" cy="38404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5" name="Shape 12"/>
          <p:cNvSpPr/>
          <p:nvPr/>
        </p:nvSpPr>
        <p:spPr>
          <a:xfrm>
            <a:off x="3322244" y="2194560"/>
            <a:ext cx="73152" cy="3840480"/>
          </a:xfrm>
          <a:prstGeom prst="rect">
            <a:avLst/>
          </a:prstGeom>
          <a:solidFill>
            <a:srgbClr val="F59E0B"/>
          </a:solidFill>
          <a:ln w="12700">
            <a:solidFill>
              <a:srgbClr val="F59E0B"/>
            </a:solidFill>
            <a:prstDash val="solid"/>
          </a:ln>
        </p:spPr>
        <p:txBody>
          <a:bodyPr/>
          <a:lstStyle/>
          <a:p>
            <a:endParaRPr lang="en-US"/>
          </a:p>
        </p:txBody>
      </p:sp>
      <p:sp>
        <p:nvSpPr>
          <p:cNvPr id="16" name="Shape 13"/>
          <p:cNvSpPr/>
          <p:nvPr/>
        </p:nvSpPr>
        <p:spPr>
          <a:xfrm>
            <a:off x="4251846" y="2468880"/>
            <a:ext cx="822960" cy="822960"/>
          </a:xfrm>
          <a:prstGeom prst="ellipse">
            <a:avLst/>
          </a:prstGeom>
          <a:solidFill>
            <a:srgbClr val="F59E0B"/>
          </a:solidFill>
          <a:ln w="12700">
            <a:solidFill>
              <a:srgbClr val="F59E0B"/>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4407294" y="2606040"/>
            <a:ext cx="512064" cy="512064"/>
          </a:xfrm>
          <a:prstGeom prst="rect">
            <a:avLst/>
          </a:prstGeom>
        </p:spPr>
      </p:pic>
      <p:sp>
        <p:nvSpPr>
          <p:cNvPr id="18" name="Text 14"/>
          <p:cNvSpPr/>
          <p:nvPr/>
        </p:nvSpPr>
        <p:spPr>
          <a:xfrm>
            <a:off x="3459404" y="3429000"/>
            <a:ext cx="2407844" cy="457200"/>
          </a:xfrm>
          <a:prstGeom prst="rect">
            <a:avLst/>
          </a:prstGeom>
          <a:noFill/>
          <a:ln/>
        </p:spPr>
        <p:txBody>
          <a:bodyPr wrap="square" lIns="0" tIns="0" rIns="0" bIns="0" rtlCol="0" anchor="ctr"/>
          <a:lstStyle/>
          <a:p>
            <a:pPr marL="0" indent="0" algn="ctr">
              <a:buNone/>
            </a:pPr>
            <a:r>
              <a:rPr lang="en-US" sz="1800" b="1" dirty="0">
                <a:solidFill>
                  <a:srgbClr val="1E293B"/>
                </a:solidFill>
                <a:latin typeface="Calibri" pitchFamily="34" charset="0"/>
                <a:ea typeface="Calibri" pitchFamily="34" charset="-122"/>
                <a:cs typeface="Calibri" pitchFamily="34" charset="-120"/>
              </a:rPr>
              <a:t>WTF moment</a:t>
            </a:r>
            <a:endParaRPr lang="en-US" sz="1800" dirty="0"/>
          </a:p>
        </p:txBody>
      </p:sp>
      <p:sp>
        <p:nvSpPr>
          <p:cNvPr id="19" name="Text 15"/>
          <p:cNvSpPr/>
          <p:nvPr/>
        </p:nvSpPr>
        <p:spPr>
          <a:xfrm>
            <a:off x="3505124" y="3931920"/>
            <a:ext cx="2316404" cy="1828800"/>
          </a:xfrm>
          <a:prstGeom prst="rect">
            <a:avLst/>
          </a:prstGeom>
          <a:noFill/>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What was the most ridiculous blocker, bug, or process moment? (No names, just the story.)</a:t>
            </a:r>
            <a:endParaRPr lang="en-US" sz="1200" dirty="0"/>
          </a:p>
        </p:txBody>
      </p:sp>
      <p:sp>
        <p:nvSpPr>
          <p:cNvPr id="20" name="Shape 16"/>
          <p:cNvSpPr/>
          <p:nvPr/>
        </p:nvSpPr>
        <p:spPr>
          <a:xfrm>
            <a:off x="6187288" y="2194560"/>
            <a:ext cx="2682164" cy="38404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1" name="Shape 17"/>
          <p:cNvSpPr/>
          <p:nvPr/>
        </p:nvSpPr>
        <p:spPr>
          <a:xfrm>
            <a:off x="6187288" y="2194560"/>
            <a:ext cx="73152" cy="3840480"/>
          </a:xfrm>
          <a:prstGeom prst="rect">
            <a:avLst/>
          </a:prstGeom>
          <a:solidFill>
            <a:srgbClr val="F59E0B"/>
          </a:solidFill>
          <a:ln w="12700">
            <a:solidFill>
              <a:srgbClr val="F59E0B"/>
            </a:solidFill>
            <a:prstDash val="solid"/>
          </a:ln>
        </p:spPr>
        <p:txBody>
          <a:bodyPr/>
          <a:lstStyle/>
          <a:p>
            <a:endParaRPr lang="en-US"/>
          </a:p>
        </p:txBody>
      </p:sp>
      <p:sp>
        <p:nvSpPr>
          <p:cNvPr id="22" name="Shape 18"/>
          <p:cNvSpPr/>
          <p:nvPr/>
        </p:nvSpPr>
        <p:spPr>
          <a:xfrm>
            <a:off x="7116890" y="2468880"/>
            <a:ext cx="822960" cy="822960"/>
          </a:xfrm>
          <a:prstGeom prst="ellipse">
            <a:avLst/>
          </a:prstGeom>
          <a:solidFill>
            <a:srgbClr val="F59E0B"/>
          </a:solidFill>
          <a:ln w="12700">
            <a:solidFill>
              <a:srgbClr val="F59E0B"/>
            </a:solidFill>
            <a:prstDash val="solid"/>
          </a:ln>
        </p:spPr>
        <p:txBody>
          <a:bodyPr/>
          <a:lstStyle/>
          <a:p>
            <a:endParaRPr lang="en-US"/>
          </a:p>
        </p:txBody>
      </p:sp>
      <p:pic>
        <p:nvPicPr>
          <p:cNvPr id="23" name="Image 2" descr="preencoded.png"/>
          <p:cNvPicPr>
            <a:picLocks noChangeAspect="1"/>
          </p:cNvPicPr>
          <p:nvPr/>
        </p:nvPicPr>
        <p:blipFill>
          <a:blip r:embed="rId5"/>
          <a:stretch>
            <a:fillRect/>
          </a:stretch>
        </p:blipFill>
        <p:spPr>
          <a:xfrm>
            <a:off x="7272338" y="2606040"/>
            <a:ext cx="512064" cy="512064"/>
          </a:xfrm>
          <a:prstGeom prst="rect">
            <a:avLst/>
          </a:prstGeom>
        </p:spPr>
      </p:pic>
      <p:sp>
        <p:nvSpPr>
          <p:cNvPr id="24" name="Text 19"/>
          <p:cNvSpPr/>
          <p:nvPr/>
        </p:nvSpPr>
        <p:spPr>
          <a:xfrm>
            <a:off x="6324448" y="3429000"/>
            <a:ext cx="2407844" cy="457200"/>
          </a:xfrm>
          <a:prstGeom prst="rect">
            <a:avLst/>
          </a:prstGeom>
          <a:noFill/>
          <a:ln/>
        </p:spPr>
        <p:txBody>
          <a:bodyPr wrap="square" lIns="0" tIns="0" rIns="0" bIns="0" rtlCol="0" anchor="ctr"/>
          <a:lstStyle/>
          <a:p>
            <a:pPr marL="0" indent="0" algn="ctr">
              <a:buNone/>
            </a:pPr>
            <a:r>
              <a:rPr lang="en-US" sz="1800" b="1" dirty="0">
                <a:solidFill>
                  <a:srgbClr val="1E293B"/>
                </a:solidFill>
                <a:latin typeface="Calibri" pitchFamily="34" charset="0"/>
                <a:ea typeface="Calibri" pitchFamily="34" charset="-122"/>
                <a:cs typeface="Calibri" pitchFamily="34" charset="-120"/>
              </a:rPr>
              <a:t>Shout-out</a:t>
            </a:r>
            <a:endParaRPr lang="en-US" sz="1800" dirty="0"/>
          </a:p>
        </p:txBody>
      </p:sp>
      <p:sp>
        <p:nvSpPr>
          <p:cNvPr id="25" name="Text 20"/>
          <p:cNvSpPr/>
          <p:nvPr/>
        </p:nvSpPr>
        <p:spPr>
          <a:xfrm>
            <a:off x="6370168" y="3931920"/>
            <a:ext cx="2316404" cy="1828800"/>
          </a:xfrm>
          <a:prstGeom prst="rect">
            <a:avLst/>
          </a:prstGeom>
          <a:noFill/>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Brag about someone else on the team. Specific is better than vague.</a:t>
            </a:r>
            <a:endParaRPr lang="en-US" sz="1200" dirty="0"/>
          </a:p>
        </p:txBody>
      </p:sp>
      <p:sp>
        <p:nvSpPr>
          <p:cNvPr id="26" name="Shape 21"/>
          <p:cNvSpPr/>
          <p:nvPr/>
        </p:nvSpPr>
        <p:spPr>
          <a:xfrm>
            <a:off x="9052331" y="2194560"/>
            <a:ext cx="2682164" cy="384048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7" name="Shape 22"/>
          <p:cNvSpPr/>
          <p:nvPr/>
        </p:nvSpPr>
        <p:spPr>
          <a:xfrm>
            <a:off x="9052331" y="2194560"/>
            <a:ext cx="73152" cy="3840480"/>
          </a:xfrm>
          <a:prstGeom prst="rect">
            <a:avLst/>
          </a:prstGeom>
          <a:solidFill>
            <a:srgbClr val="F59E0B"/>
          </a:solidFill>
          <a:ln w="12700">
            <a:solidFill>
              <a:srgbClr val="F59E0B"/>
            </a:solidFill>
            <a:prstDash val="solid"/>
          </a:ln>
        </p:spPr>
        <p:txBody>
          <a:bodyPr/>
          <a:lstStyle/>
          <a:p>
            <a:endParaRPr lang="en-US"/>
          </a:p>
        </p:txBody>
      </p:sp>
      <p:sp>
        <p:nvSpPr>
          <p:cNvPr id="28" name="Shape 23"/>
          <p:cNvSpPr/>
          <p:nvPr/>
        </p:nvSpPr>
        <p:spPr>
          <a:xfrm>
            <a:off x="9981933" y="2468880"/>
            <a:ext cx="822960" cy="822960"/>
          </a:xfrm>
          <a:prstGeom prst="ellipse">
            <a:avLst/>
          </a:prstGeom>
          <a:solidFill>
            <a:srgbClr val="F59E0B"/>
          </a:solidFill>
          <a:ln w="12700">
            <a:solidFill>
              <a:srgbClr val="F59E0B"/>
            </a:solidFill>
            <a:prstDash val="solid"/>
          </a:ln>
        </p:spPr>
        <p:txBody>
          <a:bodyPr/>
          <a:lstStyle/>
          <a:p>
            <a:endParaRPr lang="en-US"/>
          </a:p>
        </p:txBody>
      </p:sp>
      <p:pic>
        <p:nvPicPr>
          <p:cNvPr id="29" name="Image 3" descr="preencoded.png"/>
          <p:cNvPicPr>
            <a:picLocks noChangeAspect="1"/>
          </p:cNvPicPr>
          <p:nvPr/>
        </p:nvPicPr>
        <p:blipFill>
          <a:blip r:embed="rId6"/>
          <a:stretch>
            <a:fillRect/>
          </a:stretch>
        </p:blipFill>
        <p:spPr>
          <a:xfrm>
            <a:off x="10137381" y="2606040"/>
            <a:ext cx="512064" cy="512064"/>
          </a:xfrm>
          <a:prstGeom prst="rect">
            <a:avLst/>
          </a:prstGeom>
        </p:spPr>
      </p:pic>
      <p:sp>
        <p:nvSpPr>
          <p:cNvPr id="30" name="Text 24"/>
          <p:cNvSpPr/>
          <p:nvPr/>
        </p:nvSpPr>
        <p:spPr>
          <a:xfrm>
            <a:off x="9189491" y="3429000"/>
            <a:ext cx="2407844" cy="457200"/>
          </a:xfrm>
          <a:prstGeom prst="rect">
            <a:avLst/>
          </a:prstGeom>
          <a:noFill/>
          <a:ln/>
        </p:spPr>
        <p:txBody>
          <a:bodyPr wrap="square" lIns="0" tIns="0" rIns="0" bIns="0" rtlCol="0" anchor="ctr"/>
          <a:lstStyle/>
          <a:p>
            <a:pPr marL="0" indent="0" algn="ctr">
              <a:buNone/>
            </a:pPr>
            <a:r>
              <a:rPr lang="en-US" sz="1800" b="1" dirty="0">
                <a:solidFill>
                  <a:srgbClr val="1E293B"/>
                </a:solidFill>
                <a:latin typeface="Calibri" pitchFamily="34" charset="0"/>
                <a:ea typeface="Calibri" pitchFamily="34" charset="-122"/>
                <a:cs typeface="Calibri" pitchFamily="34" charset="-120"/>
              </a:rPr>
              <a:t>Want to learn</a:t>
            </a:r>
            <a:endParaRPr lang="en-US" sz="1800" dirty="0"/>
          </a:p>
        </p:txBody>
      </p:sp>
      <p:sp>
        <p:nvSpPr>
          <p:cNvPr id="31" name="Text 25"/>
          <p:cNvSpPr/>
          <p:nvPr/>
        </p:nvSpPr>
        <p:spPr>
          <a:xfrm>
            <a:off x="9235211" y="3931920"/>
            <a:ext cx="2316404" cy="1828800"/>
          </a:xfrm>
          <a:prstGeom prst="rect">
            <a:avLst/>
          </a:prstGeom>
          <a:noFill/>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One thing — technical or otherwise — you want to learn or get better at next quarter.</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40080" y="1463040"/>
            <a:ext cx="3657600" cy="2286000"/>
          </a:xfrm>
          <a:prstGeom prst="rect">
            <a:avLst/>
          </a:prstGeom>
          <a:noFill/>
          <a:ln/>
        </p:spPr>
        <p:txBody>
          <a:bodyPr wrap="square" lIns="0" tIns="0" rIns="0" bIns="0" rtlCol="0" anchor="ctr"/>
          <a:lstStyle/>
          <a:p>
            <a:pPr marL="0" indent="0">
              <a:buNone/>
            </a:pPr>
            <a:r>
              <a:rPr lang="en-US" sz="20000" b="1" dirty="0">
                <a:solidFill>
                  <a:srgbClr val="0D9488"/>
                </a:solidFill>
                <a:latin typeface="Calibri" pitchFamily="34" charset="0"/>
                <a:ea typeface="Calibri" pitchFamily="34" charset="-122"/>
                <a:cs typeface="Calibri" pitchFamily="34" charset="-120"/>
              </a:rPr>
              <a:t>06</a:t>
            </a:r>
            <a:endParaRPr lang="en-US" sz="20000" dirty="0"/>
          </a:p>
        </p:txBody>
      </p:sp>
      <p:sp>
        <p:nvSpPr>
          <p:cNvPr id="3" name="Text 1"/>
          <p:cNvSpPr/>
          <p:nvPr/>
        </p:nvSpPr>
        <p:spPr>
          <a:xfrm>
            <a:off x="4572000" y="2194560"/>
            <a:ext cx="7315200" cy="109728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The vision.</a:t>
            </a:r>
            <a:endParaRPr lang="en-US" sz="5600" dirty="0"/>
          </a:p>
        </p:txBody>
      </p:sp>
      <p:sp>
        <p:nvSpPr>
          <p:cNvPr id="4" name="Text 2"/>
          <p:cNvSpPr/>
          <p:nvPr/>
        </p:nvSpPr>
        <p:spPr>
          <a:xfrm>
            <a:off x="4572000" y="3657600"/>
            <a:ext cx="7315200" cy="457200"/>
          </a:xfrm>
          <a:prstGeom prst="rect">
            <a:avLst/>
          </a:prstGeom>
          <a:noFill/>
          <a:ln/>
        </p:spPr>
        <p:txBody>
          <a:bodyPr wrap="square" lIns="0" tIns="0" rIns="0" bIns="0" rtlCol="0" anchor="ctr"/>
          <a:lstStyle/>
          <a:p>
            <a:pPr marL="0" indent="0">
              <a:buNone/>
            </a:pPr>
            <a:r>
              <a:rPr lang="en-US" sz="2000" i="1" dirty="0">
                <a:solidFill>
                  <a:srgbClr val="CCFBF1"/>
                </a:solidFill>
                <a:latin typeface="Calibri" pitchFamily="34" charset="0"/>
                <a:ea typeface="Calibri" pitchFamily="34" charset="-122"/>
                <a:cs typeface="Calibri" pitchFamily="34" charset="-120"/>
              </a:rPr>
              <a:t>Where JHBI goes from here.</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VISION</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30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Where we are in 12 months</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JHBI as the modern-cloud reference implementation at Jack Henry</a:t>
            </a:r>
            <a:endParaRPr lang="en-US" sz="1400" dirty="0"/>
          </a:p>
        </p:txBody>
      </p:sp>
      <p:sp>
        <p:nvSpPr>
          <p:cNvPr id="8" name="Shape 6"/>
          <p:cNvSpPr/>
          <p:nvPr/>
        </p:nvSpPr>
        <p:spPr>
          <a:xfrm>
            <a:off x="457200" y="2194560"/>
            <a:ext cx="11277295" cy="11430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9" name="Shape 7"/>
          <p:cNvSpPr/>
          <p:nvPr/>
        </p:nvSpPr>
        <p:spPr>
          <a:xfrm>
            <a:off x="457200" y="2194560"/>
            <a:ext cx="73152" cy="1143000"/>
          </a:xfrm>
          <a:prstGeom prst="rect">
            <a:avLst/>
          </a:prstGeom>
          <a:solidFill>
            <a:srgbClr val="0D9488"/>
          </a:solidFill>
          <a:ln w="12700">
            <a:solidFill>
              <a:srgbClr val="0D9488"/>
            </a:solidFill>
            <a:prstDash val="solid"/>
          </a:ln>
        </p:spPr>
        <p:txBody>
          <a:bodyPr/>
          <a:lstStyle/>
          <a:p>
            <a:endParaRPr lang="en-US"/>
          </a:p>
        </p:txBody>
      </p:sp>
      <p:sp>
        <p:nvSpPr>
          <p:cNvPr id="10" name="Text 8"/>
          <p:cNvSpPr/>
          <p:nvPr/>
        </p:nvSpPr>
        <p:spPr>
          <a:xfrm>
            <a:off x="685800" y="2377440"/>
            <a:ext cx="2194560" cy="320040"/>
          </a:xfrm>
          <a:prstGeom prst="rect">
            <a:avLst/>
          </a:prstGeom>
          <a:noFill/>
          <a:ln/>
        </p:spPr>
        <p:txBody>
          <a:bodyPr wrap="square" lIns="0" tIns="0" rIns="0" bIns="0" rtlCol="0" anchor="ctr"/>
          <a:lstStyle/>
          <a:p>
            <a:pPr marL="0" indent="0">
              <a:buNone/>
            </a:pPr>
            <a:r>
              <a:rPr lang="en-US" sz="1100" b="1" kern="0" spc="300" dirty="0">
                <a:solidFill>
                  <a:srgbClr val="64748B"/>
                </a:solidFill>
                <a:latin typeface="Calibri" pitchFamily="34" charset="0"/>
                <a:ea typeface="Calibri" pitchFamily="34" charset="-122"/>
                <a:cs typeface="Calibri" pitchFamily="34" charset="-120"/>
              </a:rPr>
              <a:t>NOW → 90 DAYS</a:t>
            </a:r>
            <a:endParaRPr lang="en-US" sz="1100" dirty="0"/>
          </a:p>
        </p:txBody>
      </p:sp>
      <p:sp>
        <p:nvSpPr>
          <p:cNvPr id="11" name="Text 9"/>
          <p:cNvSpPr/>
          <p:nvPr/>
        </p:nvSpPr>
        <p:spPr>
          <a:xfrm>
            <a:off x="685800" y="2697480"/>
            <a:ext cx="3108960" cy="457200"/>
          </a:xfrm>
          <a:prstGeom prst="rect">
            <a:avLst/>
          </a:prstGeom>
          <a:noFill/>
          <a:ln/>
        </p:spPr>
        <p:txBody>
          <a:bodyPr wrap="square" lIns="0" tIns="0" rIns="0" bIns="0" rtlCol="0" anchor="ctr"/>
          <a:lstStyle/>
          <a:p>
            <a:pPr marL="0" indent="0">
              <a:buNone/>
            </a:pPr>
            <a:r>
              <a:rPr lang="en-US" sz="1800" b="1" dirty="0">
                <a:solidFill>
                  <a:srgbClr val="0D9488"/>
                </a:solidFill>
                <a:latin typeface="Calibri" pitchFamily="34" charset="0"/>
                <a:ea typeface="Calibri" pitchFamily="34" charset="-122"/>
                <a:cs typeface="Calibri" pitchFamily="34" charset="-120"/>
              </a:rPr>
              <a:t>Land MVP</a:t>
            </a:r>
            <a:endParaRPr lang="en-US" sz="1800" dirty="0"/>
          </a:p>
        </p:txBody>
      </p:sp>
      <p:sp>
        <p:nvSpPr>
          <p:cNvPr id="12" name="Text 10"/>
          <p:cNvSpPr/>
          <p:nvPr/>
        </p:nvSpPr>
        <p:spPr>
          <a:xfrm>
            <a:off x="4023360" y="2423160"/>
            <a:ext cx="7619695" cy="86868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All 5 pillars demo-ready. 6 great PowerBI reports. First credible end-to-end CU walkthrough. Onboarding tax paid once and only once.</a:t>
            </a:r>
            <a:endParaRPr lang="en-US" sz="1200" dirty="0"/>
          </a:p>
        </p:txBody>
      </p:sp>
      <p:sp>
        <p:nvSpPr>
          <p:cNvPr id="13" name="Shape 11"/>
          <p:cNvSpPr/>
          <p:nvPr/>
        </p:nvSpPr>
        <p:spPr>
          <a:xfrm>
            <a:off x="457200" y="3520440"/>
            <a:ext cx="11277295" cy="11430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4" name="Shape 12"/>
          <p:cNvSpPr/>
          <p:nvPr/>
        </p:nvSpPr>
        <p:spPr>
          <a:xfrm>
            <a:off x="457200" y="3520440"/>
            <a:ext cx="73152" cy="1143000"/>
          </a:xfrm>
          <a:prstGeom prst="rect">
            <a:avLst/>
          </a:prstGeom>
          <a:solidFill>
            <a:srgbClr val="0D9488"/>
          </a:solidFill>
          <a:ln w="12700">
            <a:solidFill>
              <a:srgbClr val="0D9488"/>
            </a:solidFill>
            <a:prstDash val="solid"/>
          </a:ln>
        </p:spPr>
        <p:txBody>
          <a:bodyPr/>
          <a:lstStyle/>
          <a:p>
            <a:endParaRPr lang="en-US"/>
          </a:p>
        </p:txBody>
      </p:sp>
      <p:sp>
        <p:nvSpPr>
          <p:cNvPr id="15" name="Text 13"/>
          <p:cNvSpPr/>
          <p:nvPr/>
        </p:nvSpPr>
        <p:spPr>
          <a:xfrm>
            <a:off x="685800" y="3703320"/>
            <a:ext cx="2194560" cy="320040"/>
          </a:xfrm>
          <a:prstGeom prst="rect">
            <a:avLst/>
          </a:prstGeom>
          <a:noFill/>
          <a:ln/>
        </p:spPr>
        <p:txBody>
          <a:bodyPr wrap="square" lIns="0" tIns="0" rIns="0" bIns="0" rtlCol="0" anchor="ctr"/>
          <a:lstStyle/>
          <a:p>
            <a:pPr marL="0" indent="0">
              <a:buNone/>
            </a:pPr>
            <a:r>
              <a:rPr lang="en-US" sz="1100" b="1" kern="0" spc="300" dirty="0">
                <a:solidFill>
                  <a:srgbClr val="64748B"/>
                </a:solidFill>
                <a:latin typeface="Calibri" pitchFamily="34" charset="0"/>
                <a:ea typeface="Calibri" pitchFamily="34" charset="-122"/>
                <a:cs typeface="Calibri" pitchFamily="34" charset="-120"/>
              </a:rPr>
              <a:t>90 → 180 DAYS</a:t>
            </a:r>
            <a:endParaRPr lang="en-US" sz="1100" dirty="0"/>
          </a:p>
        </p:txBody>
      </p:sp>
      <p:sp>
        <p:nvSpPr>
          <p:cNvPr id="16" name="Text 14"/>
          <p:cNvSpPr/>
          <p:nvPr/>
        </p:nvSpPr>
        <p:spPr>
          <a:xfrm>
            <a:off x="685800" y="4023360"/>
            <a:ext cx="3108960" cy="457200"/>
          </a:xfrm>
          <a:prstGeom prst="rect">
            <a:avLst/>
          </a:prstGeom>
          <a:noFill/>
          <a:ln/>
        </p:spPr>
        <p:txBody>
          <a:bodyPr wrap="square" lIns="0" tIns="0" rIns="0" bIns="0" rtlCol="0" anchor="ctr"/>
          <a:lstStyle/>
          <a:p>
            <a:pPr marL="0" indent="0">
              <a:buNone/>
            </a:pPr>
            <a:r>
              <a:rPr lang="en-US" sz="1800" b="1" dirty="0">
                <a:solidFill>
                  <a:srgbClr val="0D9488"/>
                </a:solidFill>
                <a:latin typeface="Calibri" pitchFamily="34" charset="0"/>
                <a:ea typeface="Calibri" pitchFamily="34" charset="-122"/>
                <a:cs typeface="Calibri" pitchFamily="34" charset="-120"/>
              </a:rPr>
              <a:t>Scale the demo into deals</a:t>
            </a:r>
            <a:endParaRPr lang="en-US" sz="1800" dirty="0"/>
          </a:p>
        </p:txBody>
      </p:sp>
      <p:sp>
        <p:nvSpPr>
          <p:cNvPr id="17" name="Text 15"/>
          <p:cNvSpPr/>
          <p:nvPr/>
        </p:nvSpPr>
        <p:spPr>
          <a:xfrm>
            <a:off x="4023360" y="3749040"/>
            <a:ext cx="7619695" cy="86868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Repeatable CU + buyer flow. Catalog adoption. AI query builder graduates from demo to real usage. Real customer telemetry on the platform.</a:t>
            </a:r>
            <a:endParaRPr lang="en-US" sz="1200" dirty="0"/>
          </a:p>
        </p:txBody>
      </p:sp>
      <p:sp>
        <p:nvSpPr>
          <p:cNvPr id="18" name="Shape 16"/>
          <p:cNvSpPr/>
          <p:nvPr/>
        </p:nvSpPr>
        <p:spPr>
          <a:xfrm>
            <a:off x="457200" y="4846320"/>
            <a:ext cx="11277295" cy="11430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9" name="Shape 17"/>
          <p:cNvSpPr/>
          <p:nvPr/>
        </p:nvSpPr>
        <p:spPr>
          <a:xfrm>
            <a:off x="457200" y="4846320"/>
            <a:ext cx="73152" cy="1143000"/>
          </a:xfrm>
          <a:prstGeom prst="rect">
            <a:avLst/>
          </a:prstGeom>
          <a:solidFill>
            <a:srgbClr val="0D9488"/>
          </a:solidFill>
          <a:ln w="12700">
            <a:solidFill>
              <a:srgbClr val="0D9488"/>
            </a:solidFill>
            <a:prstDash val="solid"/>
          </a:ln>
        </p:spPr>
        <p:txBody>
          <a:bodyPr/>
          <a:lstStyle/>
          <a:p>
            <a:endParaRPr lang="en-US"/>
          </a:p>
        </p:txBody>
      </p:sp>
      <p:sp>
        <p:nvSpPr>
          <p:cNvPr id="20" name="Text 18"/>
          <p:cNvSpPr/>
          <p:nvPr/>
        </p:nvSpPr>
        <p:spPr>
          <a:xfrm>
            <a:off x="685800" y="5029200"/>
            <a:ext cx="2194560" cy="320040"/>
          </a:xfrm>
          <a:prstGeom prst="rect">
            <a:avLst/>
          </a:prstGeom>
          <a:noFill/>
          <a:ln/>
        </p:spPr>
        <p:txBody>
          <a:bodyPr wrap="square" lIns="0" tIns="0" rIns="0" bIns="0" rtlCol="0" anchor="ctr"/>
          <a:lstStyle/>
          <a:p>
            <a:pPr marL="0" indent="0">
              <a:buNone/>
            </a:pPr>
            <a:r>
              <a:rPr lang="en-US" sz="1100" b="1" kern="0" spc="300" dirty="0">
                <a:solidFill>
                  <a:srgbClr val="64748B"/>
                </a:solidFill>
                <a:latin typeface="Calibri" pitchFamily="34" charset="0"/>
                <a:ea typeface="Calibri" pitchFamily="34" charset="-122"/>
                <a:cs typeface="Calibri" pitchFamily="34" charset="-120"/>
              </a:rPr>
              <a:t>180 → 365 DAYS</a:t>
            </a:r>
            <a:endParaRPr lang="en-US" sz="1100" dirty="0"/>
          </a:p>
        </p:txBody>
      </p:sp>
      <p:sp>
        <p:nvSpPr>
          <p:cNvPr id="21" name="Text 19"/>
          <p:cNvSpPr/>
          <p:nvPr/>
        </p:nvSpPr>
        <p:spPr>
          <a:xfrm>
            <a:off x="685800" y="5349240"/>
            <a:ext cx="3108960" cy="457200"/>
          </a:xfrm>
          <a:prstGeom prst="rect">
            <a:avLst/>
          </a:prstGeom>
          <a:noFill/>
          <a:ln/>
        </p:spPr>
        <p:txBody>
          <a:bodyPr wrap="square" lIns="0" tIns="0" rIns="0" bIns="0" rtlCol="0" anchor="ctr"/>
          <a:lstStyle/>
          <a:p>
            <a:pPr marL="0" indent="0">
              <a:buNone/>
            </a:pPr>
            <a:r>
              <a:rPr lang="en-US" sz="1800" b="1" dirty="0">
                <a:solidFill>
                  <a:srgbClr val="0D9488"/>
                </a:solidFill>
                <a:latin typeface="Calibri" pitchFamily="34" charset="0"/>
                <a:ea typeface="Calibri" pitchFamily="34" charset="-122"/>
                <a:cs typeface="Calibri" pitchFamily="34" charset="-120"/>
              </a:rPr>
              <a:t>Become the reference</a:t>
            </a:r>
            <a:endParaRPr lang="en-US" sz="1800" dirty="0"/>
          </a:p>
        </p:txBody>
      </p:sp>
      <p:sp>
        <p:nvSpPr>
          <p:cNvPr id="22" name="Text 20"/>
          <p:cNvSpPr/>
          <p:nvPr/>
        </p:nvSpPr>
        <p:spPr>
          <a:xfrm>
            <a:off x="4023360" y="5074920"/>
            <a:ext cx="7619695" cy="86868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JHBI is the answer when someone at Jack Henry asks 'how should we do net-new cloud + data?' Pattern is documented, paved-road, copyable.</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VISION</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31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What 'we made it' looks like</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Concrete enough to know when we got there</a:t>
            </a:r>
            <a:endParaRPr lang="en-US" sz="1400" dirty="0"/>
          </a:p>
        </p:txBody>
      </p:sp>
      <p:sp>
        <p:nvSpPr>
          <p:cNvPr id="8" name="Shape 6"/>
          <p:cNvSpPr/>
          <p:nvPr/>
        </p:nvSpPr>
        <p:spPr>
          <a:xfrm>
            <a:off x="457200" y="2194560"/>
            <a:ext cx="11277295" cy="6858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9" name="Shape 7"/>
          <p:cNvSpPr/>
          <p:nvPr/>
        </p:nvSpPr>
        <p:spPr>
          <a:xfrm>
            <a:off x="457200" y="2194560"/>
            <a:ext cx="73152" cy="685800"/>
          </a:xfrm>
          <a:prstGeom prst="rect">
            <a:avLst/>
          </a:prstGeom>
          <a:solidFill>
            <a:srgbClr val="0D9488"/>
          </a:solidFill>
          <a:ln w="12700">
            <a:solidFill>
              <a:srgbClr val="0D9488"/>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685800" y="2340864"/>
            <a:ext cx="384048" cy="384048"/>
          </a:xfrm>
          <a:prstGeom prst="rect">
            <a:avLst/>
          </a:prstGeom>
        </p:spPr>
      </p:pic>
      <p:sp>
        <p:nvSpPr>
          <p:cNvPr id="11" name="Text 8"/>
          <p:cNvSpPr/>
          <p:nvPr/>
        </p:nvSpPr>
        <p:spPr>
          <a:xfrm>
            <a:off x="1280160" y="2313432"/>
            <a:ext cx="365760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A buyer says yes</a:t>
            </a:r>
            <a:endParaRPr lang="en-US" sz="1400" dirty="0"/>
          </a:p>
        </p:txBody>
      </p:sp>
      <p:sp>
        <p:nvSpPr>
          <p:cNvPr id="12" name="Text 9"/>
          <p:cNvSpPr/>
          <p:nvPr/>
        </p:nvSpPr>
        <p:spPr>
          <a:xfrm>
            <a:off x="5029200" y="2313432"/>
            <a:ext cx="6705295" cy="45720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Because of what they saw, not who they know — JHBI closes its first deal driven by the demo itself.</a:t>
            </a:r>
            <a:endParaRPr lang="en-US" sz="1100" dirty="0"/>
          </a:p>
        </p:txBody>
      </p:sp>
      <p:sp>
        <p:nvSpPr>
          <p:cNvPr id="13" name="Shape 10"/>
          <p:cNvSpPr/>
          <p:nvPr/>
        </p:nvSpPr>
        <p:spPr>
          <a:xfrm>
            <a:off x="457200" y="2971800"/>
            <a:ext cx="11277295" cy="6858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4" name="Shape 11"/>
          <p:cNvSpPr/>
          <p:nvPr/>
        </p:nvSpPr>
        <p:spPr>
          <a:xfrm>
            <a:off x="457200" y="2971800"/>
            <a:ext cx="73152" cy="685800"/>
          </a:xfrm>
          <a:prstGeom prst="rect">
            <a:avLst/>
          </a:prstGeom>
          <a:solidFill>
            <a:srgbClr val="0D9488"/>
          </a:solidFill>
          <a:ln w="12700">
            <a:solidFill>
              <a:srgbClr val="0D9488"/>
            </a:solidFill>
            <a:prstDash val="solid"/>
          </a:ln>
        </p:spPr>
        <p:txBody>
          <a:bodyPr/>
          <a:lstStyle/>
          <a:p>
            <a:endParaRPr lang="en-US"/>
          </a:p>
        </p:txBody>
      </p:sp>
      <p:pic>
        <p:nvPicPr>
          <p:cNvPr id="15" name="Image 1" descr="preencoded.png"/>
          <p:cNvPicPr>
            <a:picLocks noChangeAspect="1"/>
          </p:cNvPicPr>
          <p:nvPr/>
        </p:nvPicPr>
        <p:blipFill>
          <a:blip r:embed="rId3"/>
          <a:stretch>
            <a:fillRect/>
          </a:stretch>
        </p:blipFill>
        <p:spPr>
          <a:xfrm>
            <a:off x="685800" y="3118104"/>
            <a:ext cx="384048" cy="384048"/>
          </a:xfrm>
          <a:prstGeom prst="rect">
            <a:avLst/>
          </a:prstGeom>
        </p:spPr>
      </p:pic>
      <p:sp>
        <p:nvSpPr>
          <p:cNvPr id="16" name="Text 12"/>
          <p:cNvSpPr/>
          <p:nvPr/>
        </p:nvSpPr>
        <p:spPr>
          <a:xfrm>
            <a:off x="1280160" y="3090672"/>
            <a:ext cx="365760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An engineer copies us</a:t>
            </a:r>
            <a:endParaRPr lang="en-US" sz="1400" dirty="0"/>
          </a:p>
        </p:txBody>
      </p:sp>
      <p:sp>
        <p:nvSpPr>
          <p:cNvPr id="17" name="Text 13"/>
          <p:cNvSpPr/>
          <p:nvPr/>
        </p:nvSpPr>
        <p:spPr>
          <a:xfrm>
            <a:off x="5029200" y="3090672"/>
            <a:ext cx="6705295" cy="45720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Another team at Jack Henry adopts our paved road — repo template, pipelines, CDC pattern, medallion.</a:t>
            </a:r>
            <a:endParaRPr lang="en-US" sz="1100" dirty="0"/>
          </a:p>
        </p:txBody>
      </p:sp>
      <p:sp>
        <p:nvSpPr>
          <p:cNvPr id="18" name="Shape 14"/>
          <p:cNvSpPr/>
          <p:nvPr/>
        </p:nvSpPr>
        <p:spPr>
          <a:xfrm>
            <a:off x="457200" y="3749040"/>
            <a:ext cx="11277295" cy="6858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9" name="Shape 15"/>
          <p:cNvSpPr/>
          <p:nvPr/>
        </p:nvSpPr>
        <p:spPr>
          <a:xfrm>
            <a:off x="457200" y="3749040"/>
            <a:ext cx="73152" cy="685800"/>
          </a:xfrm>
          <a:prstGeom prst="rect">
            <a:avLst/>
          </a:prstGeom>
          <a:solidFill>
            <a:srgbClr val="0D9488"/>
          </a:solidFill>
          <a:ln w="12700">
            <a:solidFill>
              <a:srgbClr val="0D9488"/>
            </a:solidFill>
            <a:prstDash val="solid"/>
          </a:ln>
        </p:spPr>
        <p:txBody>
          <a:bodyPr/>
          <a:lstStyle/>
          <a:p>
            <a:endParaRPr lang="en-US"/>
          </a:p>
        </p:txBody>
      </p:sp>
      <p:pic>
        <p:nvPicPr>
          <p:cNvPr id="20" name="Image 2" descr="preencoded.png"/>
          <p:cNvPicPr>
            <a:picLocks noChangeAspect="1"/>
          </p:cNvPicPr>
          <p:nvPr/>
        </p:nvPicPr>
        <p:blipFill>
          <a:blip r:embed="rId3"/>
          <a:stretch>
            <a:fillRect/>
          </a:stretch>
        </p:blipFill>
        <p:spPr>
          <a:xfrm>
            <a:off x="685800" y="3895344"/>
            <a:ext cx="384048" cy="384048"/>
          </a:xfrm>
          <a:prstGeom prst="rect">
            <a:avLst/>
          </a:prstGeom>
        </p:spPr>
      </p:pic>
      <p:sp>
        <p:nvSpPr>
          <p:cNvPr id="21" name="Text 16"/>
          <p:cNvSpPr/>
          <p:nvPr/>
        </p:nvSpPr>
        <p:spPr>
          <a:xfrm>
            <a:off x="1280160" y="3867912"/>
            <a:ext cx="365760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A customer queries themselves</a:t>
            </a:r>
            <a:endParaRPr lang="en-US" sz="1400" dirty="0"/>
          </a:p>
        </p:txBody>
      </p:sp>
      <p:sp>
        <p:nvSpPr>
          <p:cNvPr id="22" name="Text 17"/>
          <p:cNvSpPr/>
          <p:nvPr/>
        </p:nvSpPr>
        <p:spPr>
          <a:xfrm>
            <a:off x="5029200" y="3867912"/>
            <a:ext cx="6705295" cy="45720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 real CU user opens the portal, asks a question in plain English, and gets a useful answer without us in the loop.</a:t>
            </a:r>
            <a:endParaRPr lang="en-US" sz="1100" dirty="0"/>
          </a:p>
        </p:txBody>
      </p:sp>
      <p:sp>
        <p:nvSpPr>
          <p:cNvPr id="23" name="Shape 18"/>
          <p:cNvSpPr/>
          <p:nvPr/>
        </p:nvSpPr>
        <p:spPr>
          <a:xfrm>
            <a:off x="457200" y="4526280"/>
            <a:ext cx="11277295" cy="6858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4" name="Shape 19"/>
          <p:cNvSpPr/>
          <p:nvPr/>
        </p:nvSpPr>
        <p:spPr>
          <a:xfrm>
            <a:off x="457200" y="4526280"/>
            <a:ext cx="73152" cy="685800"/>
          </a:xfrm>
          <a:prstGeom prst="rect">
            <a:avLst/>
          </a:prstGeom>
          <a:solidFill>
            <a:srgbClr val="0D9488"/>
          </a:solidFill>
          <a:ln w="12700">
            <a:solidFill>
              <a:srgbClr val="0D9488"/>
            </a:solidFill>
            <a:prstDash val="solid"/>
          </a:ln>
        </p:spPr>
        <p:txBody>
          <a:bodyPr/>
          <a:lstStyle/>
          <a:p>
            <a:endParaRPr lang="en-US"/>
          </a:p>
        </p:txBody>
      </p:sp>
      <p:pic>
        <p:nvPicPr>
          <p:cNvPr id="25" name="Image 3" descr="preencoded.png"/>
          <p:cNvPicPr>
            <a:picLocks noChangeAspect="1"/>
          </p:cNvPicPr>
          <p:nvPr/>
        </p:nvPicPr>
        <p:blipFill>
          <a:blip r:embed="rId3"/>
          <a:stretch>
            <a:fillRect/>
          </a:stretch>
        </p:blipFill>
        <p:spPr>
          <a:xfrm>
            <a:off x="685800" y="4672584"/>
            <a:ext cx="384048" cy="384048"/>
          </a:xfrm>
          <a:prstGeom prst="rect">
            <a:avLst/>
          </a:prstGeom>
        </p:spPr>
      </p:pic>
      <p:sp>
        <p:nvSpPr>
          <p:cNvPr id="26" name="Text 20"/>
          <p:cNvSpPr/>
          <p:nvPr/>
        </p:nvSpPr>
        <p:spPr>
          <a:xfrm>
            <a:off x="1280160" y="4645152"/>
            <a:ext cx="365760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The runbook holds</a:t>
            </a:r>
            <a:endParaRPr lang="en-US" sz="1400" dirty="0"/>
          </a:p>
        </p:txBody>
      </p:sp>
      <p:sp>
        <p:nvSpPr>
          <p:cNvPr id="27" name="Text 21"/>
          <p:cNvSpPr/>
          <p:nvPr/>
        </p:nvSpPr>
        <p:spPr>
          <a:xfrm>
            <a:off x="5029200" y="4645152"/>
            <a:ext cx="6705295" cy="45720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We onboard the next contractor in days, not weeks. No re-paying the tax.</a:t>
            </a:r>
            <a:endParaRPr lang="en-US" sz="1100" dirty="0"/>
          </a:p>
        </p:txBody>
      </p:sp>
      <p:sp>
        <p:nvSpPr>
          <p:cNvPr id="28" name="Shape 22"/>
          <p:cNvSpPr/>
          <p:nvPr/>
        </p:nvSpPr>
        <p:spPr>
          <a:xfrm>
            <a:off x="457200" y="5303520"/>
            <a:ext cx="11277295" cy="6858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9" name="Shape 23"/>
          <p:cNvSpPr/>
          <p:nvPr/>
        </p:nvSpPr>
        <p:spPr>
          <a:xfrm>
            <a:off x="457200" y="5303520"/>
            <a:ext cx="73152" cy="685800"/>
          </a:xfrm>
          <a:prstGeom prst="rect">
            <a:avLst/>
          </a:prstGeom>
          <a:solidFill>
            <a:srgbClr val="0D9488"/>
          </a:solidFill>
          <a:ln w="12700">
            <a:solidFill>
              <a:srgbClr val="0D9488"/>
            </a:solidFill>
            <a:prstDash val="solid"/>
          </a:ln>
        </p:spPr>
        <p:txBody>
          <a:bodyPr/>
          <a:lstStyle/>
          <a:p>
            <a:endParaRPr lang="en-US"/>
          </a:p>
        </p:txBody>
      </p:sp>
      <p:pic>
        <p:nvPicPr>
          <p:cNvPr id="30" name="Image 4" descr="preencoded.png"/>
          <p:cNvPicPr>
            <a:picLocks noChangeAspect="1"/>
          </p:cNvPicPr>
          <p:nvPr/>
        </p:nvPicPr>
        <p:blipFill>
          <a:blip r:embed="rId3"/>
          <a:stretch>
            <a:fillRect/>
          </a:stretch>
        </p:blipFill>
        <p:spPr>
          <a:xfrm>
            <a:off x="685800" y="5449824"/>
            <a:ext cx="384048" cy="384048"/>
          </a:xfrm>
          <a:prstGeom prst="rect">
            <a:avLst/>
          </a:prstGeom>
        </p:spPr>
      </p:pic>
      <p:sp>
        <p:nvSpPr>
          <p:cNvPr id="31" name="Text 24"/>
          <p:cNvSpPr/>
          <p:nvPr/>
        </p:nvSpPr>
        <p:spPr>
          <a:xfrm>
            <a:off x="1280160" y="5422392"/>
            <a:ext cx="365760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Our team wants to stay</a:t>
            </a:r>
            <a:endParaRPr lang="en-US" sz="1400" dirty="0"/>
          </a:p>
        </p:txBody>
      </p:sp>
      <p:sp>
        <p:nvSpPr>
          <p:cNvPr id="32" name="Text 25"/>
          <p:cNvSpPr/>
          <p:nvPr/>
        </p:nvSpPr>
        <p:spPr>
          <a:xfrm>
            <a:off x="5029200" y="5422392"/>
            <a:ext cx="6705295" cy="45720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People who are hard to keep tell us this is the best work they've done.</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TIMELINE · H2</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32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What's next: Jul → Dec 2026</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The operational plan behind the 12-month vision</a:t>
            </a:r>
            <a:endParaRPr lang="en-US" sz="1400" dirty="0"/>
          </a:p>
        </p:txBody>
      </p:sp>
      <p:sp>
        <p:nvSpPr>
          <p:cNvPr id="8" name="Shape 6"/>
          <p:cNvSpPr/>
          <p:nvPr/>
        </p:nvSpPr>
        <p:spPr>
          <a:xfrm>
            <a:off x="3566160" y="2286000"/>
            <a:ext cx="1361389" cy="365760"/>
          </a:xfrm>
          <a:prstGeom prst="rect">
            <a:avLst/>
          </a:prstGeom>
          <a:solidFill>
            <a:srgbClr val="0F172A"/>
          </a:solidFill>
          <a:ln w="12700">
            <a:solidFill>
              <a:srgbClr val="0F172A"/>
            </a:solidFill>
            <a:prstDash val="solid"/>
          </a:ln>
        </p:spPr>
        <p:txBody>
          <a:bodyPr/>
          <a:lstStyle/>
          <a:p>
            <a:endParaRPr lang="en-US"/>
          </a:p>
        </p:txBody>
      </p:sp>
      <p:sp>
        <p:nvSpPr>
          <p:cNvPr id="9" name="Text 7"/>
          <p:cNvSpPr/>
          <p:nvPr/>
        </p:nvSpPr>
        <p:spPr>
          <a:xfrm>
            <a:off x="3566160" y="2286000"/>
            <a:ext cx="1361389"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Jul</a:t>
            </a:r>
            <a:endParaRPr lang="en-US" sz="1100" dirty="0"/>
          </a:p>
        </p:txBody>
      </p:sp>
      <p:sp>
        <p:nvSpPr>
          <p:cNvPr id="10" name="Shape 8"/>
          <p:cNvSpPr/>
          <p:nvPr/>
        </p:nvSpPr>
        <p:spPr>
          <a:xfrm>
            <a:off x="4927549" y="2286000"/>
            <a:ext cx="1361389" cy="365760"/>
          </a:xfrm>
          <a:prstGeom prst="rect">
            <a:avLst/>
          </a:prstGeom>
          <a:solidFill>
            <a:srgbClr val="0F172A"/>
          </a:solidFill>
          <a:ln w="12700">
            <a:solidFill>
              <a:srgbClr val="0F172A"/>
            </a:solidFill>
            <a:prstDash val="solid"/>
          </a:ln>
        </p:spPr>
        <p:txBody>
          <a:bodyPr/>
          <a:lstStyle/>
          <a:p>
            <a:endParaRPr lang="en-US"/>
          </a:p>
        </p:txBody>
      </p:sp>
      <p:sp>
        <p:nvSpPr>
          <p:cNvPr id="11" name="Text 9"/>
          <p:cNvSpPr/>
          <p:nvPr/>
        </p:nvSpPr>
        <p:spPr>
          <a:xfrm>
            <a:off x="4927549" y="2286000"/>
            <a:ext cx="1361389"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Aug</a:t>
            </a:r>
            <a:endParaRPr lang="en-US" sz="1100" dirty="0"/>
          </a:p>
        </p:txBody>
      </p:sp>
      <p:sp>
        <p:nvSpPr>
          <p:cNvPr id="12" name="Shape 10"/>
          <p:cNvSpPr/>
          <p:nvPr/>
        </p:nvSpPr>
        <p:spPr>
          <a:xfrm>
            <a:off x="6288938" y="2286000"/>
            <a:ext cx="1361389" cy="365760"/>
          </a:xfrm>
          <a:prstGeom prst="rect">
            <a:avLst/>
          </a:prstGeom>
          <a:solidFill>
            <a:srgbClr val="0F172A"/>
          </a:solidFill>
          <a:ln w="12700">
            <a:solidFill>
              <a:srgbClr val="0F172A"/>
            </a:solidFill>
            <a:prstDash val="solid"/>
          </a:ln>
        </p:spPr>
        <p:txBody>
          <a:bodyPr/>
          <a:lstStyle/>
          <a:p>
            <a:endParaRPr lang="en-US"/>
          </a:p>
        </p:txBody>
      </p:sp>
      <p:sp>
        <p:nvSpPr>
          <p:cNvPr id="13" name="Text 11"/>
          <p:cNvSpPr/>
          <p:nvPr/>
        </p:nvSpPr>
        <p:spPr>
          <a:xfrm>
            <a:off x="6288938" y="2286000"/>
            <a:ext cx="1361389"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Sep</a:t>
            </a:r>
            <a:endParaRPr lang="en-US" sz="1100" dirty="0"/>
          </a:p>
        </p:txBody>
      </p:sp>
      <p:sp>
        <p:nvSpPr>
          <p:cNvPr id="14" name="Shape 12"/>
          <p:cNvSpPr/>
          <p:nvPr/>
        </p:nvSpPr>
        <p:spPr>
          <a:xfrm>
            <a:off x="7650328" y="2286000"/>
            <a:ext cx="1361389" cy="365760"/>
          </a:xfrm>
          <a:prstGeom prst="rect">
            <a:avLst/>
          </a:prstGeom>
          <a:solidFill>
            <a:srgbClr val="0F172A"/>
          </a:solidFill>
          <a:ln w="12700">
            <a:solidFill>
              <a:srgbClr val="0F172A"/>
            </a:solidFill>
            <a:prstDash val="solid"/>
          </a:ln>
        </p:spPr>
        <p:txBody>
          <a:bodyPr/>
          <a:lstStyle/>
          <a:p>
            <a:endParaRPr lang="en-US"/>
          </a:p>
        </p:txBody>
      </p:sp>
      <p:sp>
        <p:nvSpPr>
          <p:cNvPr id="15" name="Text 13"/>
          <p:cNvSpPr/>
          <p:nvPr/>
        </p:nvSpPr>
        <p:spPr>
          <a:xfrm>
            <a:off x="7650328" y="2286000"/>
            <a:ext cx="1361389"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Oct</a:t>
            </a:r>
            <a:endParaRPr lang="en-US" sz="1100" dirty="0"/>
          </a:p>
        </p:txBody>
      </p:sp>
      <p:sp>
        <p:nvSpPr>
          <p:cNvPr id="16" name="Shape 14"/>
          <p:cNvSpPr/>
          <p:nvPr/>
        </p:nvSpPr>
        <p:spPr>
          <a:xfrm>
            <a:off x="9011717" y="2286000"/>
            <a:ext cx="1361389" cy="365760"/>
          </a:xfrm>
          <a:prstGeom prst="rect">
            <a:avLst/>
          </a:prstGeom>
          <a:solidFill>
            <a:srgbClr val="0F172A"/>
          </a:solidFill>
          <a:ln w="12700">
            <a:solidFill>
              <a:srgbClr val="0F172A"/>
            </a:solidFill>
            <a:prstDash val="solid"/>
          </a:ln>
        </p:spPr>
        <p:txBody>
          <a:bodyPr/>
          <a:lstStyle/>
          <a:p>
            <a:endParaRPr lang="en-US"/>
          </a:p>
        </p:txBody>
      </p:sp>
      <p:sp>
        <p:nvSpPr>
          <p:cNvPr id="17" name="Text 15"/>
          <p:cNvSpPr/>
          <p:nvPr/>
        </p:nvSpPr>
        <p:spPr>
          <a:xfrm>
            <a:off x="9011717" y="2286000"/>
            <a:ext cx="1361389"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Nov</a:t>
            </a:r>
            <a:endParaRPr lang="en-US" sz="1100" dirty="0"/>
          </a:p>
        </p:txBody>
      </p:sp>
      <p:sp>
        <p:nvSpPr>
          <p:cNvPr id="18" name="Shape 16"/>
          <p:cNvSpPr/>
          <p:nvPr/>
        </p:nvSpPr>
        <p:spPr>
          <a:xfrm>
            <a:off x="10373106" y="2286000"/>
            <a:ext cx="1361389" cy="365760"/>
          </a:xfrm>
          <a:prstGeom prst="rect">
            <a:avLst/>
          </a:prstGeom>
          <a:solidFill>
            <a:srgbClr val="0F172A"/>
          </a:solidFill>
          <a:ln w="12700">
            <a:solidFill>
              <a:srgbClr val="0F172A"/>
            </a:solidFill>
            <a:prstDash val="solid"/>
          </a:ln>
        </p:spPr>
        <p:txBody>
          <a:bodyPr/>
          <a:lstStyle/>
          <a:p>
            <a:endParaRPr lang="en-US"/>
          </a:p>
        </p:txBody>
      </p:sp>
      <p:sp>
        <p:nvSpPr>
          <p:cNvPr id="19" name="Text 17"/>
          <p:cNvSpPr/>
          <p:nvPr/>
        </p:nvSpPr>
        <p:spPr>
          <a:xfrm>
            <a:off x="10373106" y="2286000"/>
            <a:ext cx="1361389"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Dec</a:t>
            </a:r>
            <a:endParaRPr lang="en-US" sz="1100" dirty="0"/>
          </a:p>
        </p:txBody>
      </p:sp>
      <p:sp>
        <p:nvSpPr>
          <p:cNvPr id="20" name="Shape 18"/>
          <p:cNvSpPr/>
          <p:nvPr/>
        </p:nvSpPr>
        <p:spPr>
          <a:xfrm>
            <a:off x="4927549" y="2651760"/>
            <a:ext cx="0" cy="3337560"/>
          </a:xfrm>
          <a:prstGeom prst="line">
            <a:avLst/>
          </a:prstGeom>
          <a:noFill/>
          <a:ln w="6350">
            <a:solidFill>
              <a:srgbClr val="E2E8F0"/>
            </a:solidFill>
            <a:prstDash val="solid"/>
          </a:ln>
        </p:spPr>
        <p:txBody>
          <a:bodyPr/>
          <a:lstStyle/>
          <a:p>
            <a:endParaRPr lang="en-US"/>
          </a:p>
        </p:txBody>
      </p:sp>
      <p:sp>
        <p:nvSpPr>
          <p:cNvPr id="21" name="Shape 19"/>
          <p:cNvSpPr/>
          <p:nvPr/>
        </p:nvSpPr>
        <p:spPr>
          <a:xfrm>
            <a:off x="6288938" y="2651760"/>
            <a:ext cx="0" cy="3337560"/>
          </a:xfrm>
          <a:prstGeom prst="line">
            <a:avLst/>
          </a:prstGeom>
          <a:noFill/>
          <a:ln w="6350">
            <a:solidFill>
              <a:srgbClr val="E2E8F0"/>
            </a:solidFill>
            <a:prstDash val="solid"/>
          </a:ln>
        </p:spPr>
        <p:txBody>
          <a:bodyPr/>
          <a:lstStyle/>
          <a:p>
            <a:endParaRPr lang="en-US"/>
          </a:p>
        </p:txBody>
      </p:sp>
      <p:sp>
        <p:nvSpPr>
          <p:cNvPr id="22" name="Shape 20"/>
          <p:cNvSpPr/>
          <p:nvPr/>
        </p:nvSpPr>
        <p:spPr>
          <a:xfrm>
            <a:off x="7650328" y="2651760"/>
            <a:ext cx="0" cy="3337560"/>
          </a:xfrm>
          <a:prstGeom prst="line">
            <a:avLst/>
          </a:prstGeom>
          <a:noFill/>
          <a:ln w="6350">
            <a:solidFill>
              <a:srgbClr val="E2E8F0"/>
            </a:solidFill>
            <a:prstDash val="solid"/>
          </a:ln>
        </p:spPr>
        <p:txBody>
          <a:bodyPr/>
          <a:lstStyle/>
          <a:p>
            <a:endParaRPr lang="en-US"/>
          </a:p>
        </p:txBody>
      </p:sp>
      <p:sp>
        <p:nvSpPr>
          <p:cNvPr id="23" name="Shape 21"/>
          <p:cNvSpPr/>
          <p:nvPr/>
        </p:nvSpPr>
        <p:spPr>
          <a:xfrm>
            <a:off x="9011717" y="2651760"/>
            <a:ext cx="0" cy="3337560"/>
          </a:xfrm>
          <a:prstGeom prst="line">
            <a:avLst/>
          </a:prstGeom>
          <a:noFill/>
          <a:ln w="6350">
            <a:solidFill>
              <a:srgbClr val="E2E8F0"/>
            </a:solidFill>
            <a:prstDash val="solid"/>
          </a:ln>
        </p:spPr>
        <p:txBody>
          <a:bodyPr/>
          <a:lstStyle/>
          <a:p>
            <a:endParaRPr lang="en-US"/>
          </a:p>
        </p:txBody>
      </p:sp>
      <p:sp>
        <p:nvSpPr>
          <p:cNvPr id="24" name="Shape 22"/>
          <p:cNvSpPr/>
          <p:nvPr/>
        </p:nvSpPr>
        <p:spPr>
          <a:xfrm>
            <a:off x="10373106" y="2651760"/>
            <a:ext cx="0" cy="3337560"/>
          </a:xfrm>
          <a:prstGeom prst="line">
            <a:avLst/>
          </a:prstGeom>
          <a:noFill/>
          <a:ln w="6350">
            <a:solidFill>
              <a:srgbClr val="E2E8F0"/>
            </a:solidFill>
            <a:prstDash val="solid"/>
          </a:ln>
        </p:spPr>
        <p:txBody>
          <a:bodyPr/>
          <a:lstStyle/>
          <a:p>
            <a:endParaRPr lang="en-US"/>
          </a:p>
        </p:txBody>
      </p:sp>
      <p:sp>
        <p:nvSpPr>
          <p:cNvPr id="25" name="Shape 23"/>
          <p:cNvSpPr/>
          <p:nvPr/>
        </p:nvSpPr>
        <p:spPr>
          <a:xfrm>
            <a:off x="3566160" y="2651760"/>
            <a:ext cx="0" cy="3337560"/>
          </a:xfrm>
          <a:prstGeom prst="line">
            <a:avLst/>
          </a:prstGeom>
          <a:noFill/>
          <a:ln w="6350">
            <a:solidFill>
              <a:srgbClr val="E2E8F0"/>
            </a:solidFill>
            <a:prstDash val="solid"/>
          </a:ln>
        </p:spPr>
        <p:txBody>
          <a:bodyPr/>
          <a:lstStyle/>
          <a:p>
            <a:endParaRPr lang="en-US"/>
          </a:p>
        </p:txBody>
      </p:sp>
      <p:sp>
        <p:nvSpPr>
          <p:cNvPr id="26" name="Shape 24"/>
          <p:cNvSpPr/>
          <p:nvPr/>
        </p:nvSpPr>
        <p:spPr>
          <a:xfrm>
            <a:off x="3566160" y="2697480"/>
            <a:ext cx="8168335" cy="292608"/>
          </a:xfrm>
          <a:prstGeom prst="rect">
            <a:avLst/>
          </a:prstGeom>
          <a:solidFill>
            <a:srgbClr val="EEF2F6"/>
          </a:solidFill>
          <a:ln w="12700">
            <a:solidFill>
              <a:srgbClr val="EEF2F6"/>
            </a:solidFill>
            <a:prstDash val="solid"/>
          </a:ln>
        </p:spPr>
        <p:txBody>
          <a:bodyPr/>
          <a:lstStyle/>
          <a:p>
            <a:endParaRPr lang="en-US"/>
          </a:p>
        </p:txBody>
      </p:sp>
      <p:sp>
        <p:nvSpPr>
          <p:cNvPr id="27" name="Text 25"/>
          <p:cNvSpPr/>
          <p:nvPr/>
        </p:nvSpPr>
        <p:spPr>
          <a:xfrm>
            <a:off x="502920" y="2697480"/>
            <a:ext cx="30175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Onboarding runbook + paved-road docs</a:t>
            </a:r>
            <a:endParaRPr lang="en-US" sz="1000" dirty="0"/>
          </a:p>
        </p:txBody>
      </p:sp>
      <p:sp>
        <p:nvSpPr>
          <p:cNvPr id="28" name="Shape 26"/>
          <p:cNvSpPr/>
          <p:nvPr/>
        </p:nvSpPr>
        <p:spPr>
          <a:xfrm>
            <a:off x="3602736" y="2752344"/>
            <a:ext cx="1288237" cy="182880"/>
          </a:xfrm>
          <a:prstGeom prst="roundRect">
            <a:avLst>
              <a:gd name="adj" fmla="val 20000"/>
            </a:avLst>
          </a:prstGeom>
          <a:solidFill>
            <a:srgbClr val="94A3B8"/>
          </a:solidFill>
          <a:ln w="12700">
            <a:solidFill>
              <a:srgbClr val="94A3B8"/>
            </a:solidFill>
            <a:prstDash val="solid"/>
          </a:ln>
        </p:spPr>
        <p:txBody>
          <a:bodyPr/>
          <a:lstStyle/>
          <a:p>
            <a:endParaRPr lang="en-US"/>
          </a:p>
        </p:txBody>
      </p:sp>
      <p:sp>
        <p:nvSpPr>
          <p:cNvPr id="29" name="Text 27"/>
          <p:cNvSpPr/>
          <p:nvPr/>
        </p:nvSpPr>
        <p:spPr>
          <a:xfrm>
            <a:off x="502920" y="3026664"/>
            <a:ext cx="30175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PCI scope close-out + security sign-off</a:t>
            </a:r>
            <a:endParaRPr lang="en-US" sz="1000" dirty="0"/>
          </a:p>
        </p:txBody>
      </p:sp>
      <p:sp>
        <p:nvSpPr>
          <p:cNvPr id="30" name="Shape 28"/>
          <p:cNvSpPr/>
          <p:nvPr/>
        </p:nvSpPr>
        <p:spPr>
          <a:xfrm>
            <a:off x="3602736" y="3081528"/>
            <a:ext cx="1968932" cy="182880"/>
          </a:xfrm>
          <a:prstGeom prst="roundRect">
            <a:avLst>
              <a:gd name="adj" fmla="val 20000"/>
            </a:avLst>
          </a:prstGeom>
          <a:solidFill>
            <a:srgbClr val="94A3B8"/>
          </a:solidFill>
          <a:ln w="12700">
            <a:solidFill>
              <a:srgbClr val="94A3B8"/>
            </a:solidFill>
            <a:prstDash val="solid"/>
          </a:ln>
        </p:spPr>
        <p:txBody>
          <a:bodyPr/>
          <a:lstStyle/>
          <a:p>
            <a:endParaRPr lang="en-US"/>
          </a:p>
        </p:txBody>
      </p:sp>
      <p:sp>
        <p:nvSpPr>
          <p:cNvPr id="31" name="Shape 29"/>
          <p:cNvSpPr/>
          <p:nvPr/>
        </p:nvSpPr>
        <p:spPr>
          <a:xfrm>
            <a:off x="3566160" y="3355848"/>
            <a:ext cx="8168335" cy="292608"/>
          </a:xfrm>
          <a:prstGeom prst="rect">
            <a:avLst/>
          </a:prstGeom>
          <a:solidFill>
            <a:srgbClr val="EEF2F6"/>
          </a:solidFill>
          <a:ln w="12700">
            <a:solidFill>
              <a:srgbClr val="EEF2F6"/>
            </a:solidFill>
            <a:prstDash val="solid"/>
          </a:ln>
        </p:spPr>
        <p:txBody>
          <a:bodyPr/>
          <a:lstStyle/>
          <a:p>
            <a:endParaRPr lang="en-US"/>
          </a:p>
        </p:txBody>
      </p:sp>
      <p:sp>
        <p:nvSpPr>
          <p:cNvPr id="32" name="Text 30"/>
          <p:cNvSpPr/>
          <p:nvPr/>
        </p:nvSpPr>
        <p:spPr>
          <a:xfrm>
            <a:off x="502920" y="3355848"/>
            <a:ext cx="30175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Portal: AI query GA + Alation rollout</a:t>
            </a:r>
            <a:endParaRPr lang="en-US" sz="1000" dirty="0"/>
          </a:p>
        </p:txBody>
      </p:sp>
      <p:sp>
        <p:nvSpPr>
          <p:cNvPr id="33" name="Shape 31"/>
          <p:cNvSpPr/>
          <p:nvPr/>
        </p:nvSpPr>
        <p:spPr>
          <a:xfrm>
            <a:off x="3602736" y="3410712"/>
            <a:ext cx="4691710" cy="182880"/>
          </a:xfrm>
          <a:prstGeom prst="roundRect">
            <a:avLst>
              <a:gd name="adj" fmla="val 20000"/>
            </a:avLst>
          </a:prstGeom>
          <a:solidFill>
            <a:srgbClr val="94A3B8"/>
          </a:solidFill>
          <a:ln w="12700">
            <a:solidFill>
              <a:srgbClr val="94A3B8"/>
            </a:solidFill>
            <a:prstDash val="solid"/>
          </a:ln>
        </p:spPr>
        <p:txBody>
          <a:bodyPr/>
          <a:lstStyle/>
          <a:p>
            <a:endParaRPr lang="en-US"/>
          </a:p>
        </p:txBody>
      </p:sp>
      <p:sp>
        <p:nvSpPr>
          <p:cNvPr id="34" name="Text 32"/>
          <p:cNvSpPr/>
          <p:nvPr/>
        </p:nvSpPr>
        <p:spPr>
          <a:xfrm>
            <a:off x="502920" y="3685032"/>
            <a:ext cx="30175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Backend: PayCenter + EPS integrations</a:t>
            </a:r>
            <a:endParaRPr lang="en-US" sz="1000" dirty="0"/>
          </a:p>
        </p:txBody>
      </p:sp>
      <p:sp>
        <p:nvSpPr>
          <p:cNvPr id="35" name="Shape 33"/>
          <p:cNvSpPr/>
          <p:nvPr/>
        </p:nvSpPr>
        <p:spPr>
          <a:xfrm>
            <a:off x="3602736" y="3739896"/>
            <a:ext cx="3330321" cy="182880"/>
          </a:xfrm>
          <a:prstGeom prst="roundRect">
            <a:avLst>
              <a:gd name="adj" fmla="val 20000"/>
            </a:avLst>
          </a:prstGeom>
          <a:solidFill>
            <a:srgbClr val="94A3B8"/>
          </a:solidFill>
          <a:ln w="12700">
            <a:solidFill>
              <a:srgbClr val="94A3B8"/>
            </a:solidFill>
            <a:prstDash val="solid"/>
          </a:ln>
        </p:spPr>
        <p:txBody>
          <a:bodyPr/>
          <a:lstStyle/>
          <a:p>
            <a:endParaRPr lang="en-US"/>
          </a:p>
        </p:txBody>
      </p:sp>
      <p:sp>
        <p:nvSpPr>
          <p:cNvPr id="36" name="Shape 34"/>
          <p:cNvSpPr/>
          <p:nvPr/>
        </p:nvSpPr>
        <p:spPr>
          <a:xfrm>
            <a:off x="3566160" y="4014216"/>
            <a:ext cx="8168335" cy="292608"/>
          </a:xfrm>
          <a:prstGeom prst="rect">
            <a:avLst/>
          </a:prstGeom>
          <a:solidFill>
            <a:srgbClr val="EEF2F6"/>
          </a:solidFill>
          <a:ln w="12700">
            <a:solidFill>
              <a:srgbClr val="EEF2F6"/>
            </a:solidFill>
            <a:prstDash val="solid"/>
          </a:ln>
        </p:spPr>
        <p:txBody>
          <a:bodyPr/>
          <a:lstStyle/>
          <a:p>
            <a:endParaRPr lang="en-US"/>
          </a:p>
        </p:txBody>
      </p:sp>
      <p:sp>
        <p:nvSpPr>
          <p:cNvPr id="37" name="Text 35"/>
          <p:cNvSpPr/>
          <p:nvPr/>
        </p:nvSpPr>
        <p:spPr>
          <a:xfrm>
            <a:off x="502920" y="4014216"/>
            <a:ext cx="30175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Backend: Wires + SmartPay integrations</a:t>
            </a:r>
            <a:endParaRPr lang="en-US" sz="1000" dirty="0"/>
          </a:p>
        </p:txBody>
      </p:sp>
      <p:sp>
        <p:nvSpPr>
          <p:cNvPr id="38" name="Shape 36"/>
          <p:cNvSpPr/>
          <p:nvPr/>
        </p:nvSpPr>
        <p:spPr>
          <a:xfrm>
            <a:off x="4964125" y="4069080"/>
            <a:ext cx="3330321" cy="182880"/>
          </a:xfrm>
          <a:prstGeom prst="roundRect">
            <a:avLst>
              <a:gd name="adj" fmla="val 20000"/>
            </a:avLst>
          </a:prstGeom>
          <a:solidFill>
            <a:srgbClr val="94A3B8"/>
          </a:solidFill>
          <a:ln w="12700">
            <a:solidFill>
              <a:srgbClr val="94A3B8"/>
            </a:solidFill>
            <a:prstDash val="solid"/>
          </a:ln>
        </p:spPr>
        <p:txBody>
          <a:bodyPr/>
          <a:lstStyle/>
          <a:p>
            <a:endParaRPr lang="en-US"/>
          </a:p>
        </p:txBody>
      </p:sp>
      <p:sp>
        <p:nvSpPr>
          <p:cNvPr id="39" name="Text 37"/>
          <p:cNvSpPr/>
          <p:nvPr/>
        </p:nvSpPr>
        <p:spPr>
          <a:xfrm>
            <a:off x="502920" y="4343400"/>
            <a:ext cx="30175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Backend: iPay (final source)</a:t>
            </a:r>
            <a:endParaRPr lang="en-US" sz="1000" dirty="0"/>
          </a:p>
        </p:txBody>
      </p:sp>
      <p:sp>
        <p:nvSpPr>
          <p:cNvPr id="40" name="Shape 38"/>
          <p:cNvSpPr/>
          <p:nvPr/>
        </p:nvSpPr>
        <p:spPr>
          <a:xfrm>
            <a:off x="6325514" y="4398264"/>
            <a:ext cx="3330321" cy="182880"/>
          </a:xfrm>
          <a:prstGeom prst="roundRect">
            <a:avLst>
              <a:gd name="adj" fmla="val 20000"/>
            </a:avLst>
          </a:prstGeom>
          <a:solidFill>
            <a:srgbClr val="94A3B8"/>
          </a:solidFill>
          <a:ln w="12700">
            <a:solidFill>
              <a:srgbClr val="94A3B8"/>
            </a:solidFill>
            <a:prstDash val="solid"/>
          </a:ln>
        </p:spPr>
        <p:txBody>
          <a:bodyPr/>
          <a:lstStyle/>
          <a:p>
            <a:endParaRPr lang="en-US"/>
          </a:p>
        </p:txBody>
      </p:sp>
      <p:sp>
        <p:nvSpPr>
          <p:cNvPr id="41" name="Shape 39"/>
          <p:cNvSpPr/>
          <p:nvPr/>
        </p:nvSpPr>
        <p:spPr>
          <a:xfrm>
            <a:off x="3566160" y="4672584"/>
            <a:ext cx="8168335" cy="292608"/>
          </a:xfrm>
          <a:prstGeom prst="rect">
            <a:avLst/>
          </a:prstGeom>
          <a:solidFill>
            <a:srgbClr val="EEF2F6"/>
          </a:solidFill>
          <a:ln w="12700">
            <a:solidFill>
              <a:srgbClr val="EEF2F6"/>
            </a:solidFill>
            <a:prstDash val="solid"/>
          </a:ln>
        </p:spPr>
        <p:txBody>
          <a:bodyPr/>
          <a:lstStyle/>
          <a:p>
            <a:endParaRPr lang="en-US"/>
          </a:p>
        </p:txBody>
      </p:sp>
      <p:sp>
        <p:nvSpPr>
          <p:cNvPr id="42" name="Text 40"/>
          <p:cNvSpPr/>
          <p:nvPr/>
        </p:nvSpPr>
        <p:spPr>
          <a:xfrm>
            <a:off x="502920" y="4672584"/>
            <a:ext cx="30175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PowerBI: remaining 6 reports built</a:t>
            </a:r>
            <a:endParaRPr lang="en-US" sz="1000" dirty="0"/>
          </a:p>
        </p:txBody>
      </p:sp>
      <p:sp>
        <p:nvSpPr>
          <p:cNvPr id="43" name="Shape 41"/>
          <p:cNvSpPr/>
          <p:nvPr/>
        </p:nvSpPr>
        <p:spPr>
          <a:xfrm>
            <a:off x="3602736" y="4727448"/>
            <a:ext cx="4691710" cy="182880"/>
          </a:xfrm>
          <a:prstGeom prst="roundRect">
            <a:avLst>
              <a:gd name="adj" fmla="val 20000"/>
            </a:avLst>
          </a:prstGeom>
          <a:solidFill>
            <a:srgbClr val="94A3B8"/>
          </a:solidFill>
          <a:ln w="12700">
            <a:solidFill>
              <a:srgbClr val="94A3B8"/>
            </a:solidFill>
            <a:prstDash val="solid"/>
          </a:ln>
        </p:spPr>
        <p:txBody>
          <a:bodyPr/>
          <a:lstStyle/>
          <a:p>
            <a:endParaRPr lang="en-US"/>
          </a:p>
        </p:txBody>
      </p:sp>
      <p:sp>
        <p:nvSpPr>
          <p:cNvPr id="44" name="Text 42"/>
          <p:cNvSpPr/>
          <p:nvPr/>
        </p:nvSpPr>
        <p:spPr>
          <a:xfrm>
            <a:off x="502920" y="5001768"/>
            <a:ext cx="30175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MVP launch — first end-to-end CU demo</a:t>
            </a:r>
            <a:endParaRPr lang="en-US" sz="1000" dirty="0"/>
          </a:p>
        </p:txBody>
      </p:sp>
      <p:sp>
        <p:nvSpPr>
          <p:cNvPr id="45" name="Shape 43"/>
          <p:cNvSpPr/>
          <p:nvPr/>
        </p:nvSpPr>
        <p:spPr>
          <a:xfrm>
            <a:off x="6587627" y="5038344"/>
            <a:ext cx="219456" cy="219456"/>
          </a:xfrm>
          <a:prstGeom prst="diamond">
            <a:avLst/>
          </a:prstGeom>
          <a:solidFill>
            <a:srgbClr val="0D9488"/>
          </a:solidFill>
          <a:ln w="12700">
            <a:solidFill>
              <a:srgbClr val="0D9488"/>
            </a:solidFill>
            <a:prstDash val="solid"/>
          </a:ln>
        </p:spPr>
        <p:txBody>
          <a:bodyPr/>
          <a:lstStyle/>
          <a:p>
            <a:endParaRPr lang="en-US"/>
          </a:p>
        </p:txBody>
      </p:sp>
      <p:sp>
        <p:nvSpPr>
          <p:cNvPr id="46" name="Shape 44"/>
          <p:cNvSpPr/>
          <p:nvPr/>
        </p:nvSpPr>
        <p:spPr>
          <a:xfrm>
            <a:off x="3566160" y="5330952"/>
            <a:ext cx="8168335" cy="292608"/>
          </a:xfrm>
          <a:prstGeom prst="rect">
            <a:avLst/>
          </a:prstGeom>
          <a:solidFill>
            <a:srgbClr val="EEF2F6"/>
          </a:solidFill>
          <a:ln w="12700">
            <a:solidFill>
              <a:srgbClr val="EEF2F6"/>
            </a:solidFill>
            <a:prstDash val="solid"/>
          </a:ln>
        </p:spPr>
        <p:txBody>
          <a:bodyPr/>
          <a:lstStyle/>
          <a:p>
            <a:endParaRPr lang="en-US"/>
          </a:p>
        </p:txBody>
      </p:sp>
      <p:sp>
        <p:nvSpPr>
          <p:cNvPr id="47" name="Text 45"/>
          <p:cNvSpPr/>
          <p:nvPr/>
        </p:nvSpPr>
        <p:spPr>
          <a:xfrm>
            <a:off x="502920" y="5330952"/>
            <a:ext cx="30175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Customer telemetry + feedback loop</a:t>
            </a:r>
            <a:endParaRPr lang="en-US" sz="1000" dirty="0"/>
          </a:p>
        </p:txBody>
      </p:sp>
      <p:sp>
        <p:nvSpPr>
          <p:cNvPr id="48" name="Shape 46"/>
          <p:cNvSpPr/>
          <p:nvPr/>
        </p:nvSpPr>
        <p:spPr>
          <a:xfrm>
            <a:off x="6325514" y="5385816"/>
            <a:ext cx="3330321" cy="182880"/>
          </a:xfrm>
          <a:prstGeom prst="roundRect">
            <a:avLst>
              <a:gd name="adj" fmla="val 20000"/>
            </a:avLst>
          </a:prstGeom>
          <a:solidFill>
            <a:srgbClr val="94A3B8"/>
          </a:solidFill>
          <a:ln w="12700">
            <a:solidFill>
              <a:srgbClr val="94A3B8"/>
            </a:solidFill>
            <a:prstDash val="solid"/>
          </a:ln>
        </p:spPr>
        <p:txBody>
          <a:bodyPr/>
          <a:lstStyle/>
          <a:p>
            <a:endParaRPr lang="en-US"/>
          </a:p>
        </p:txBody>
      </p:sp>
      <p:sp>
        <p:nvSpPr>
          <p:cNvPr id="49" name="Text 47"/>
          <p:cNvSpPr/>
          <p:nvPr/>
        </p:nvSpPr>
        <p:spPr>
          <a:xfrm>
            <a:off x="502920" y="5660136"/>
            <a:ext cx="301752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Reference pattern: docs + paved road</a:t>
            </a:r>
            <a:endParaRPr lang="en-US" sz="1000" dirty="0"/>
          </a:p>
        </p:txBody>
      </p:sp>
      <p:sp>
        <p:nvSpPr>
          <p:cNvPr id="50" name="Shape 48"/>
          <p:cNvSpPr/>
          <p:nvPr/>
        </p:nvSpPr>
        <p:spPr>
          <a:xfrm>
            <a:off x="8367598" y="5715000"/>
            <a:ext cx="3330321" cy="182880"/>
          </a:xfrm>
          <a:prstGeom prst="roundRect">
            <a:avLst>
              <a:gd name="adj" fmla="val 20000"/>
            </a:avLst>
          </a:prstGeom>
          <a:solidFill>
            <a:srgbClr val="94A3B8"/>
          </a:solidFill>
          <a:ln w="12700">
            <a:solidFill>
              <a:srgbClr val="94A3B8"/>
            </a:solidFill>
            <a:prstDash val="solid"/>
          </a:ln>
        </p:spPr>
        <p:txBody>
          <a:bodyPr/>
          <a:lstStyle/>
          <a:p>
            <a:endParaRPr lang="en-US"/>
          </a:p>
        </p:txBody>
      </p:sp>
      <p:sp>
        <p:nvSpPr>
          <p:cNvPr id="51" name="Text 49"/>
          <p:cNvSpPr/>
          <p:nvPr/>
        </p:nvSpPr>
        <p:spPr>
          <a:xfrm>
            <a:off x="502920" y="6153912"/>
            <a:ext cx="301752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Demand events</a:t>
            </a:r>
            <a:endParaRPr lang="en-US" sz="1000" dirty="0"/>
          </a:p>
        </p:txBody>
      </p:sp>
      <p:sp>
        <p:nvSpPr>
          <p:cNvPr id="52" name="Shape 50"/>
          <p:cNvSpPr/>
          <p:nvPr/>
        </p:nvSpPr>
        <p:spPr>
          <a:xfrm>
            <a:off x="5575729" y="6190488"/>
            <a:ext cx="201168" cy="201168"/>
          </a:xfrm>
          <a:prstGeom prst="ellipse">
            <a:avLst/>
          </a:prstGeom>
          <a:solidFill>
            <a:srgbClr val="F59E0B"/>
          </a:solidFill>
          <a:ln w="19050">
            <a:solidFill>
              <a:srgbClr val="FFFFFF"/>
            </a:solidFill>
            <a:prstDash val="solid"/>
          </a:ln>
        </p:spPr>
        <p:txBody>
          <a:bodyPr/>
          <a:lstStyle/>
          <a:p>
            <a:endParaRPr lang="en-US"/>
          </a:p>
        </p:txBody>
      </p:sp>
      <p:sp>
        <p:nvSpPr>
          <p:cNvPr id="53" name="Text 51"/>
          <p:cNvSpPr/>
          <p:nvPr/>
        </p:nvSpPr>
        <p:spPr>
          <a:xfrm>
            <a:off x="4853353" y="6428232"/>
            <a:ext cx="1645920" cy="228600"/>
          </a:xfrm>
          <a:prstGeom prst="rect">
            <a:avLst/>
          </a:prstGeom>
          <a:noFill/>
          <a:ln/>
        </p:spPr>
        <p:txBody>
          <a:bodyPr wrap="square" lIns="0" tIns="0" rIns="0" bIns="0" rtlCol="0" anchor="t"/>
          <a:lstStyle/>
          <a:p>
            <a:pPr marL="0" indent="0" algn="ctr">
              <a:buNone/>
            </a:pPr>
            <a:r>
              <a:rPr lang="en-US" sz="800" i="1" dirty="0">
                <a:solidFill>
                  <a:srgbClr val="64748B"/>
                </a:solidFill>
                <a:latin typeface="Calibri" pitchFamily="34" charset="0"/>
                <a:ea typeface="Calibri" pitchFamily="34" charset="-122"/>
                <a:cs typeface="Calibri" pitchFamily="34" charset="-120"/>
              </a:rPr>
              <a:t>Q3 webinar</a:t>
            </a:r>
            <a:endParaRPr lang="en-US" sz="800" dirty="0"/>
          </a:p>
        </p:txBody>
      </p:sp>
      <p:sp>
        <p:nvSpPr>
          <p:cNvPr id="54" name="Shape 52"/>
          <p:cNvSpPr/>
          <p:nvPr/>
        </p:nvSpPr>
        <p:spPr>
          <a:xfrm>
            <a:off x="8162369" y="6190488"/>
            <a:ext cx="201168" cy="201168"/>
          </a:xfrm>
          <a:prstGeom prst="ellipse">
            <a:avLst/>
          </a:prstGeom>
          <a:solidFill>
            <a:srgbClr val="F59E0B"/>
          </a:solidFill>
          <a:ln w="19050">
            <a:solidFill>
              <a:srgbClr val="FFFFFF"/>
            </a:solidFill>
            <a:prstDash val="solid"/>
          </a:ln>
        </p:spPr>
        <p:txBody>
          <a:bodyPr/>
          <a:lstStyle/>
          <a:p>
            <a:endParaRPr lang="en-US"/>
          </a:p>
        </p:txBody>
      </p:sp>
      <p:sp>
        <p:nvSpPr>
          <p:cNvPr id="55" name="Text 53"/>
          <p:cNvSpPr/>
          <p:nvPr/>
        </p:nvSpPr>
        <p:spPr>
          <a:xfrm>
            <a:off x="7439993" y="6428232"/>
            <a:ext cx="1645920" cy="228600"/>
          </a:xfrm>
          <a:prstGeom prst="rect">
            <a:avLst/>
          </a:prstGeom>
          <a:noFill/>
          <a:ln/>
        </p:spPr>
        <p:txBody>
          <a:bodyPr wrap="square" lIns="0" tIns="0" rIns="0" bIns="0" rtlCol="0" anchor="t"/>
          <a:lstStyle/>
          <a:p>
            <a:pPr marL="0" indent="0" algn="ctr">
              <a:buNone/>
            </a:pPr>
            <a:r>
              <a:rPr lang="en-US" sz="800" i="1" dirty="0">
                <a:solidFill>
                  <a:srgbClr val="64748B"/>
                </a:solidFill>
                <a:latin typeface="Calibri" pitchFamily="34" charset="0"/>
                <a:ea typeface="Calibri" pitchFamily="34" charset="-122"/>
                <a:cs typeface="Calibri" pitchFamily="34" charset="-120"/>
              </a:rPr>
              <a:t>Industry conference</a:t>
            </a:r>
            <a:endParaRPr lang="en-US" sz="800" dirty="0"/>
          </a:p>
        </p:txBody>
      </p:sp>
      <p:sp>
        <p:nvSpPr>
          <p:cNvPr id="56" name="Shape 54"/>
          <p:cNvSpPr/>
          <p:nvPr/>
        </p:nvSpPr>
        <p:spPr>
          <a:xfrm>
            <a:off x="10817078" y="6190488"/>
            <a:ext cx="201168" cy="201168"/>
          </a:xfrm>
          <a:prstGeom prst="ellipse">
            <a:avLst/>
          </a:prstGeom>
          <a:solidFill>
            <a:srgbClr val="F59E0B"/>
          </a:solidFill>
          <a:ln w="19050">
            <a:solidFill>
              <a:srgbClr val="FFFFFF"/>
            </a:solidFill>
            <a:prstDash val="solid"/>
          </a:ln>
        </p:spPr>
        <p:txBody>
          <a:bodyPr/>
          <a:lstStyle/>
          <a:p>
            <a:endParaRPr lang="en-US"/>
          </a:p>
        </p:txBody>
      </p:sp>
      <p:sp>
        <p:nvSpPr>
          <p:cNvPr id="57" name="Text 55"/>
          <p:cNvSpPr/>
          <p:nvPr/>
        </p:nvSpPr>
        <p:spPr>
          <a:xfrm>
            <a:off x="10094702" y="6428232"/>
            <a:ext cx="1645920" cy="228600"/>
          </a:xfrm>
          <a:prstGeom prst="rect">
            <a:avLst/>
          </a:prstGeom>
          <a:noFill/>
          <a:ln/>
        </p:spPr>
        <p:txBody>
          <a:bodyPr wrap="square" lIns="0" tIns="0" rIns="0" bIns="0" rtlCol="0" anchor="t"/>
          <a:lstStyle/>
          <a:p>
            <a:pPr marL="0" indent="0" algn="ctr">
              <a:buNone/>
            </a:pPr>
            <a:r>
              <a:rPr lang="en-US" sz="800" i="1" dirty="0">
                <a:solidFill>
                  <a:srgbClr val="64748B"/>
                </a:solidFill>
                <a:latin typeface="Calibri" pitchFamily="34" charset="0"/>
                <a:ea typeface="Calibri" pitchFamily="34" charset="-122"/>
                <a:cs typeface="Calibri" pitchFamily="34" charset="-120"/>
              </a:rPr>
              <a:t>Year-end CU summit</a:t>
            </a:r>
            <a:endParaRPr lang="en-US" sz="800" dirty="0"/>
          </a:p>
        </p:txBody>
      </p:sp>
      <p:sp>
        <p:nvSpPr>
          <p:cNvPr id="58" name="Shape 56"/>
          <p:cNvSpPr/>
          <p:nvPr/>
        </p:nvSpPr>
        <p:spPr>
          <a:xfrm>
            <a:off x="5790895" y="1911096"/>
            <a:ext cx="219456" cy="128016"/>
          </a:xfrm>
          <a:prstGeom prst="roundRect">
            <a:avLst>
              <a:gd name="adj" fmla="val 21429"/>
            </a:avLst>
          </a:prstGeom>
          <a:solidFill>
            <a:srgbClr val="16A34A"/>
          </a:solidFill>
          <a:ln w="12700">
            <a:solidFill>
              <a:srgbClr val="16A34A"/>
            </a:solidFill>
            <a:prstDash val="solid"/>
          </a:ln>
        </p:spPr>
        <p:txBody>
          <a:bodyPr/>
          <a:lstStyle/>
          <a:p>
            <a:endParaRPr lang="en-US"/>
          </a:p>
        </p:txBody>
      </p:sp>
      <p:sp>
        <p:nvSpPr>
          <p:cNvPr id="59" name="Text 57"/>
          <p:cNvSpPr/>
          <p:nvPr/>
        </p:nvSpPr>
        <p:spPr>
          <a:xfrm>
            <a:off x="6083503" y="1847088"/>
            <a:ext cx="896112"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Done</a:t>
            </a:r>
            <a:endParaRPr lang="en-US" sz="1000" dirty="0"/>
          </a:p>
        </p:txBody>
      </p:sp>
      <p:sp>
        <p:nvSpPr>
          <p:cNvPr id="60" name="Shape 58"/>
          <p:cNvSpPr/>
          <p:nvPr/>
        </p:nvSpPr>
        <p:spPr>
          <a:xfrm>
            <a:off x="6979615" y="1911096"/>
            <a:ext cx="219456" cy="128016"/>
          </a:xfrm>
          <a:prstGeom prst="roundRect">
            <a:avLst>
              <a:gd name="adj" fmla="val 21429"/>
            </a:avLst>
          </a:prstGeom>
          <a:solidFill>
            <a:srgbClr val="0D9488"/>
          </a:solidFill>
          <a:ln w="12700">
            <a:solidFill>
              <a:srgbClr val="0D9488"/>
            </a:solidFill>
            <a:prstDash val="solid"/>
          </a:ln>
        </p:spPr>
        <p:txBody>
          <a:bodyPr/>
          <a:lstStyle/>
          <a:p>
            <a:endParaRPr lang="en-US"/>
          </a:p>
        </p:txBody>
      </p:sp>
      <p:sp>
        <p:nvSpPr>
          <p:cNvPr id="61" name="Text 59"/>
          <p:cNvSpPr/>
          <p:nvPr/>
        </p:nvSpPr>
        <p:spPr>
          <a:xfrm>
            <a:off x="7272223" y="1847088"/>
            <a:ext cx="896112"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In progress</a:t>
            </a:r>
            <a:endParaRPr lang="en-US" sz="1000" dirty="0"/>
          </a:p>
        </p:txBody>
      </p:sp>
      <p:sp>
        <p:nvSpPr>
          <p:cNvPr id="62" name="Shape 60"/>
          <p:cNvSpPr/>
          <p:nvPr/>
        </p:nvSpPr>
        <p:spPr>
          <a:xfrm>
            <a:off x="8168335" y="1911096"/>
            <a:ext cx="219456" cy="128016"/>
          </a:xfrm>
          <a:prstGeom prst="roundRect">
            <a:avLst>
              <a:gd name="adj" fmla="val 21429"/>
            </a:avLst>
          </a:prstGeom>
          <a:solidFill>
            <a:srgbClr val="F59E0B"/>
          </a:solidFill>
          <a:ln w="12700">
            <a:solidFill>
              <a:srgbClr val="F59E0B"/>
            </a:solidFill>
            <a:prstDash val="solid"/>
          </a:ln>
        </p:spPr>
        <p:txBody>
          <a:bodyPr/>
          <a:lstStyle/>
          <a:p>
            <a:endParaRPr lang="en-US"/>
          </a:p>
        </p:txBody>
      </p:sp>
      <p:sp>
        <p:nvSpPr>
          <p:cNvPr id="63" name="Text 61"/>
          <p:cNvSpPr/>
          <p:nvPr/>
        </p:nvSpPr>
        <p:spPr>
          <a:xfrm>
            <a:off x="8460943" y="1847088"/>
            <a:ext cx="896112"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Slipped</a:t>
            </a:r>
            <a:endParaRPr lang="en-US" sz="1000" dirty="0"/>
          </a:p>
        </p:txBody>
      </p:sp>
      <p:sp>
        <p:nvSpPr>
          <p:cNvPr id="64" name="Shape 62"/>
          <p:cNvSpPr/>
          <p:nvPr/>
        </p:nvSpPr>
        <p:spPr>
          <a:xfrm>
            <a:off x="9357055" y="1911096"/>
            <a:ext cx="219456" cy="128016"/>
          </a:xfrm>
          <a:prstGeom prst="roundRect">
            <a:avLst>
              <a:gd name="adj" fmla="val 21429"/>
            </a:avLst>
          </a:prstGeom>
          <a:solidFill>
            <a:srgbClr val="94A3B8"/>
          </a:solidFill>
          <a:ln w="12700">
            <a:solidFill>
              <a:srgbClr val="94A3B8"/>
            </a:solidFill>
            <a:prstDash val="solid"/>
          </a:ln>
        </p:spPr>
        <p:txBody>
          <a:bodyPr/>
          <a:lstStyle/>
          <a:p>
            <a:endParaRPr lang="en-US"/>
          </a:p>
        </p:txBody>
      </p:sp>
      <p:sp>
        <p:nvSpPr>
          <p:cNvPr id="65" name="Text 63"/>
          <p:cNvSpPr/>
          <p:nvPr/>
        </p:nvSpPr>
        <p:spPr>
          <a:xfrm>
            <a:off x="9649663" y="1847088"/>
            <a:ext cx="896112"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Planned</a:t>
            </a:r>
            <a:endParaRPr lang="en-US" sz="1000" dirty="0"/>
          </a:p>
        </p:txBody>
      </p:sp>
      <p:sp>
        <p:nvSpPr>
          <p:cNvPr id="66" name="Shape 64"/>
          <p:cNvSpPr/>
          <p:nvPr/>
        </p:nvSpPr>
        <p:spPr>
          <a:xfrm>
            <a:off x="10564063" y="1892808"/>
            <a:ext cx="164592" cy="164592"/>
          </a:xfrm>
          <a:prstGeom prst="diamond">
            <a:avLst/>
          </a:prstGeom>
          <a:solidFill>
            <a:srgbClr val="0D9488"/>
          </a:solidFill>
          <a:ln w="12700">
            <a:solidFill>
              <a:srgbClr val="0D9488"/>
            </a:solidFill>
            <a:prstDash val="solid"/>
          </a:ln>
        </p:spPr>
        <p:txBody>
          <a:bodyPr/>
          <a:lstStyle/>
          <a:p>
            <a:endParaRPr lang="en-US"/>
          </a:p>
        </p:txBody>
      </p:sp>
      <p:sp>
        <p:nvSpPr>
          <p:cNvPr id="67" name="Text 65"/>
          <p:cNvSpPr/>
          <p:nvPr/>
        </p:nvSpPr>
        <p:spPr>
          <a:xfrm>
            <a:off x="10838383" y="1847088"/>
            <a:ext cx="896112"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Milestone</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ASKS</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33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What I'm asking from this room</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Three things that compound</a:t>
            </a:r>
            <a:endParaRPr lang="en-US" sz="1400" dirty="0"/>
          </a:p>
        </p:txBody>
      </p:sp>
      <p:sp>
        <p:nvSpPr>
          <p:cNvPr id="8" name="Shape 6"/>
          <p:cNvSpPr/>
          <p:nvPr/>
        </p:nvSpPr>
        <p:spPr>
          <a:xfrm>
            <a:off x="457200" y="2194560"/>
            <a:ext cx="3637178" cy="3657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9" name="Shape 7"/>
          <p:cNvSpPr/>
          <p:nvPr/>
        </p:nvSpPr>
        <p:spPr>
          <a:xfrm>
            <a:off x="457200" y="2194560"/>
            <a:ext cx="73152" cy="3657600"/>
          </a:xfrm>
          <a:prstGeom prst="rect">
            <a:avLst/>
          </a:prstGeom>
          <a:solidFill>
            <a:srgbClr val="0D9488"/>
          </a:solidFill>
          <a:ln w="12700">
            <a:solidFill>
              <a:srgbClr val="0D9488"/>
            </a:solidFill>
            <a:prstDash val="solid"/>
          </a:ln>
        </p:spPr>
        <p:txBody>
          <a:bodyPr/>
          <a:lstStyle/>
          <a:p>
            <a:endParaRPr lang="en-US"/>
          </a:p>
        </p:txBody>
      </p:sp>
      <p:sp>
        <p:nvSpPr>
          <p:cNvPr id="10" name="Text 8"/>
          <p:cNvSpPr/>
          <p:nvPr/>
        </p:nvSpPr>
        <p:spPr>
          <a:xfrm>
            <a:off x="685800" y="2331720"/>
            <a:ext cx="1371600" cy="640080"/>
          </a:xfrm>
          <a:prstGeom prst="rect">
            <a:avLst/>
          </a:prstGeom>
          <a:noFill/>
          <a:ln/>
        </p:spPr>
        <p:txBody>
          <a:bodyPr wrap="square" lIns="0" tIns="0" rIns="0" bIns="0" rtlCol="0" anchor="ctr"/>
          <a:lstStyle/>
          <a:p>
            <a:pPr marL="0" indent="0">
              <a:buNone/>
            </a:pPr>
            <a:r>
              <a:rPr lang="en-US" sz="3600" b="1" dirty="0">
                <a:solidFill>
                  <a:srgbClr val="0D9488"/>
                </a:solidFill>
                <a:latin typeface="Calibri" pitchFamily="34" charset="0"/>
                <a:ea typeface="Calibri" pitchFamily="34" charset="-122"/>
                <a:cs typeface="Calibri" pitchFamily="34" charset="-120"/>
              </a:rPr>
              <a:t>01</a:t>
            </a:r>
            <a:endParaRPr lang="en-US" sz="3600" dirty="0"/>
          </a:p>
        </p:txBody>
      </p:sp>
      <p:sp>
        <p:nvSpPr>
          <p:cNvPr id="11" name="Text 9"/>
          <p:cNvSpPr/>
          <p:nvPr/>
        </p:nvSpPr>
        <p:spPr>
          <a:xfrm>
            <a:off x="685800" y="3017520"/>
            <a:ext cx="3179978" cy="54864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Speak up early</a:t>
            </a:r>
            <a:endParaRPr lang="en-US" sz="1800" dirty="0"/>
          </a:p>
        </p:txBody>
      </p:sp>
      <p:sp>
        <p:nvSpPr>
          <p:cNvPr id="12" name="Text 10"/>
          <p:cNvSpPr/>
          <p:nvPr/>
        </p:nvSpPr>
        <p:spPr>
          <a:xfrm>
            <a:off x="685800" y="3611880"/>
            <a:ext cx="3179978" cy="219456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If you see a slip, a risk, or a dumb pattern — surface it the same week. Don't carry it. Slack me, raise it, kill it early.</a:t>
            </a:r>
            <a:endParaRPr lang="en-US" sz="1200" dirty="0"/>
          </a:p>
        </p:txBody>
      </p:sp>
      <p:sp>
        <p:nvSpPr>
          <p:cNvPr id="13" name="Shape 11"/>
          <p:cNvSpPr/>
          <p:nvPr/>
        </p:nvSpPr>
        <p:spPr>
          <a:xfrm>
            <a:off x="4277258" y="2194560"/>
            <a:ext cx="3637178" cy="3657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4" name="Shape 12"/>
          <p:cNvSpPr/>
          <p:nvPr/>
        </p:nvSpPr>
        <p:spPr>
          <a:xfrm>
            <a:off x="4277258" y="2194560"/>
            <a:ext cx="73152" cy="3657600"/>
          </a:xfrm>
          <a:prstGeom prst="rect">
            <a:avLst/>
          </a:prstGeom>
          <a:solidFill>
            <a:srgbClr val="0D9488"/>
          </a:solidFill>
          <a:ln w="12700">
            <a:solidFill>
              <a:srgbClr val="0D9488"/>
            </a:solidFill>
            <a:prstDash val="solid"/>
          </a:ln>
        </p:spPr>
        <p:txBody>
          <a:bodyPr/>
          <a:lstStyle/>
          <a:p>
            <a:endParaRPr lang="en-US"/>
          </a:p>
        </p:txBody>
      </p:sp>
      <p:sp>
        <p:nvSpPr>
          <p:cNvPr id="15" name="Text 13"/>
          <p:cNvSpPr/>
          <p:nvPr/>
        </p:nvSpPr>
        <p:spPr>
          <a:xfrm>
            <a:off x="4505858" y="2331720"/>
            <a:ext cx="1371600" cy="640080"/>
          </a:xfrm>
          <a:prstGeom prst="rect">
            <a:avLst/>
          </a:prstGeom>
          <a:noFill/>
          <a:ln/>
        </p:spPr>
        <p:txBody>
          <a:bodyPr wrap="square" lIns="0" tIns="0" rIns="0" bIns="0" rtlCol="0" anchor="ctr"/>
          <a:lstStyle/>
          <a:p>
            <a:pPr marL="0" indent="0">
              <a:buNone/>
            </a:pPr>
            <a:r>
              <a:rPr lang="en-US" sz="3600" b="1" dirty="0">
                <a:solidFill>
                  <a:srgbClr val="0D9488"/>
                </a:solidFill>
                <a:latin typeface="Calibri" pitchFamily="34" charset="0"/>
                <a:ea typeface="Calibri" pitchFamily="34" charset="-122"/>
                <a:cs typeface="Calibri" pitchFamily="34" charset="-120"/>
              </a:rPr>
              <a:t>02</a:t>
            </a:r>
            <a:endParaRPr lang="en-US" sz="3600" dirty="0"/>
          </a:p>
        </p:txBody>
      </p:sp>
      <p:sp>
        <p:nvSpPr>
          <p:cNvPr id="16" name="Text 14"/>
          <p:cNvSpPr/>
          <p:nvPr/>
        </p:nvSpPr>
        <p:spPr>
          <a:xfrm>
            <a:off x="4505858" y="3017520"/>
            <a:ext cx="3179978" cy="54864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Steal each other's work</a:t>
            </a:r>
            <a:endParaRPr lang="en-US" sz="1800" dirty="0"/>
          </a:p>
        </p:txBody>
      </p:sp>
      <p:sp>
        <p:nvSpPr>
          <p:cNvPr id="17" name="Text 15"/>
          <p:cNvSpPr/>
          <p:nvPr/>
        </p:nvSpPr>
        <p:spPr>
          <a:xfrm>
            <a:off x="4505858" y="3611880"/>
            <a:ext cx="3179978" cy="219456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Prompts, snippets, runbooks, infra patterns. If you wrote it once, share it so no one else writes it again.</a:t>
            </a:r>
            <a:endParaRPr lang="en-US" sz="1200" dirty="0"/>
          </a:p>
        </p:txBody>
      </p:sp>
      <p:sp>
        <p:nvSpPr>
          <p:cNvPr id="18" name="Shape 16"/>
          <p:cNvSpPr/>
          <p:nvPr/>
        </p:nvSpPr>
        <p:spPr>
          <a:xfrm>
            <a:off x="8097317" y="2194560"/>
            <a:ext cx="3637178" cy="3657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9" name="Shape 17"/>
          <p:cNvSpPr/>
          <p:nvPr/>
        </p:nvSpPr>
        <p:spPr>
          <a:xfrm>
            <a:off x="8097317" y="2194560"/>
            <a:ext cx="73152" cy="3657600"/>
          </a:xfrm>
          <a:prstGeom prst="rect">
            <a:avLst/>
          </a:prstGeom>
          <a:solidFill>
            <a:srgbClr val="0D9488"/>
          </a:solidFill>
          <a:ln w="12700">
            <a:solidFill>
              <a:srgbClr val="0D9488"/>
            </a:solidFill>
            <a:prstDash val="solid"/>
          </a:ln>
        </p:spPr>
        <p:txBody>
          <a:bodyPr/>
          <a:lstStyle/>
          <a:p>
            <a:endParaRPr lang="en-US"/>
          </a:p>
        </p:txBody>
      </p:sp>
      <p:sp>
        <p:nvSpPr>
          <p:cNvPr id="20" name="Text 18"/>
          <p:cNvSpPr/>
          <p:nvPr/>
        </p:nvSpPr>
        <p:spPr>
          <a:xfrm>
            <a:off x="8325917" y="2331720"/>
            <a:ext cx="1371600" cy="640080"/>
          </a:xfrm>
          <a:prstGeom prst="rect">
            <a:avLst/>
          </a:prstGeom>
          <a:noFill/>
          <a:ln/>
        </p:spPr>
        <p:txBody>
          <a:bodyPr wrap="square" lIns="0" tIns="0" rIns="0" bIns="0" rtlCol="0" anchor="ctr"/>
          <a:lstStyle/>
          <a:p>
            <a:pPr marL="0" indent="0">
              <a:buNone/>
            </a:pPr>
            <a:r>
              <a:rPr lang="en-US" sz="3600" b="1" dirty="0">
                <a:solidFill>
                  <a:srgbClr val="0D9488"/>
                </a:solidFill>
                <a:latin typeface="Calibri" pitchFamily="34" charset="0"/>
                <a:ea typeface="Calibri" pitchFamily="34" charset="-122"/>
                <a:cs typeface="Calibri" pitchFamily="34" charset="-120"/>
              </a:rPr>
              <a:t>03</a:t>
            </a:r>
            <a:endParaRPr lang="en-US" sz="3600" dirty="0"/>
          </a:p>
        </p:txBody>
      </p:sp>
      <p:sp>
        <p:nvSpPr>
          <p:cNvPr id="21" name="Text 19"/>
          <p:cNvSpPr/>
          <p:nvPr/>
        </p:nvSpPr>
        <p:spPr>
          <a:xfrm>
            <a:off x="8325917" y="3017520"/>
            <a:ext cx="3179978" cy="54864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Show up for the demo</a:t>
            </a:r>
            <a:endParaRPr lang="en-US" sz="1800" dirty="0"/>
          </a:p>
        </p:txBody>
      </p:sp>
      <p:sp>
        <p:nvSpPr>
          <p:cNvPr id="22" name="Text 20"/>
          <p:cNvSpPr/>
          <p:nvPr/>
        </p:nvSpPr>
        <p:spPr>
          <a:xfrm>
            <a:off x="8325917" y="3611880"/>
            <a:ext cx="3179978" cy="219456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Every webinar, every CU conversation — that's where our work meets the market. If you can be in the room, be in the room.</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914400" y="1828800"/>
            <a:ext cx="10058400" cy="1097280"/>
          </a:xfrm>
          <a:prstGeom prst="rect">
            <a:avLst/>
          </a:prstGeom>
          <a:noFill/>
          <a:ln/>
        </p:spPr>
        <p:txBody>
          <a:bodyPr wrap="square" lIns="0" tIns="0" rIns="0" bIns="0" rtlCol="0" anchor="ctr"/>
          <a:lstStyle/>
          <a:p>
            <a:pPr marL="0" indent="0">
              <a:buNone/>
            </a:pPr>
            <a:r>
              <a:rPr lang="en-US" sz="8800" b="1" kern="0" spc="-300" dirty="0">
                <a:solidFill>
                  <a:srgbClr val="FFFFFF"/>
                </a:solidFill>
                <a:latin typeface="Calibri" pitchFamily="34" charset="0"/>
                <a:ea typeface="Calibri" pitchFamily="34" charset="-122"/>
                <a:cs typeface="Calibri" pitchFamily="34" charset="-120"/>
              </a:rPr>
              <a:t>Thank you.</a:t>
            </a:r>
            <a:endParaRPr lang="en-US" sz="8800" dirty="0"/>
          </a:p>
        </p:txBody>
      </p:sp>
      <p:sp>
        <p:nvSpPr>
          <p:cNvPr id="4" name="Text 2"/>
          <p:cNvSpPr/>
          <p:nvPr/>
        </p:nvSpPr>
        <p:spPr>
          <a:xfrm>
            <a:off x="914400" y="3108960"/>
            <a:ext cx="10058400" cy="640080"/>
          </a:xfrm>
          <a:prstGeom prst="rect">
            <a:avLst/>
          </a:prstGeom>
          <a:noFill/>
          <a:ln/>
        </p:spPr>
        <p:txBody>
          <a:bodyPr wrap="square" lIns="0" tIns="0" rIns="0" bIns="0" rtlCol="0" anchor="ctr"/>
          <a:lstStyle/>
          <a:p>
            <a:pPr marL="0" indent="0">
              <a:buNone/>
            </a:pPr>
            <a:r>
              <a:rPr lang="en-US" sz="2800" dirty="0">
                <a:solidFill>
                  <a:srgbClr val="CCFBF1"/>
                </a:solidFill>
                <a:latin typeface="Calibri" pitchFamily="34" charset="0"/>
                <a:ea typeface="Calibri" pitchFamily="34" charset="-122"/>
                <a:cs typeface="Calibri" pitchFamily="34" charset="-120"/>
              </a:rPr>
              <a:t>We are doing something hard. We are doing it well.</a:t>
            </a:r>
            <a:endParaRPr lang="en-US" sz="2800" dirty="0"/>
          </a:p>
        </p:txBody>
      </p:sp>
      <p:sp>
        <p:nvSpPr>
          <p:cNvPr id="5" name="Text 3"/>
          <p:cNvSpPr/>
          <p:nvPr/>
        </p:nvSpPr>
        <p:spPr>
          <a:xfrm>
            <a:off x="914400" y="3931920"/>
            <a:ext cx="10058400" cy="457200"/>
          </a:xfrm>
          <a:prstGeom prst="rect">
            <a:avLst/>
          </a:prstGeom>
          <a:noFill/>
          <a:ln/>
        </p:spPr>
        <p:txBody>
          <a:bodyPr wrap="square" lIns="0" tIns="0" rIns="0" bIns="0" rtlCol="0" anchor="ctr"/>
          <a:lstStyle/>
          <a:p>
            <a:pPr marL="0" indent="0">
              <a:buNone/>
            </a:pPr>
            <a:r>
              <a:rPr lang="en-US" sz="1800" i="1" dirty="0">
                <a:solidFill>
                  <a:srgbClr val="94A3B8"/>
                </a:solidFill>
                <a:latin typeface="Calibri" pitchFamily="34" charset="0"/>
                <a:ea typeface="Calibri" pitchFamily="34" charset="-122"/>
                <a:cs typeface="Calibri" pitchFamily="34" charset="-120"/>
              </a:rPr>
              <a:t>Questions, pushback, ideas — open floor.</a:t>
            </a:r>
            <a:endParaRPr lang="en-US" sz="1800" dirty="0"/>
          </a:p>
        </p:txBody>
      </p:sp>
      <p:sp>
        <p:nvSpPr>
          <p:cNvPr id="6" name="Shape 4"/>
          <p:cNvSpPr/>
          <p:nvPr/>
        </p:nvSpPr>
        <p:spPr>
          <a:xfrm>
            <a:off x="914400" y="5120640"/>
            <a:ext cx="5120640" cy="411480"/>
          </a:xfrm>
          <a:prstGeom prst="roundRect">
            <a:avLst>
              <a:gd name="adj" fmla="val 48889"/>
            </a:avLst>
          </a:prstGeom>
          <a:solidFill>
            <a:srgbClr val="F59E0B"/>
          </a:solidFill>
          <a:ln w="12700">
            <a:solidFill>
              <a:srgbClr val="F59E0B"/>
            </a:solidFill>
            <a:prstDash val="solid"/>
          </a:ln>
        </p:spPr>
        <p:txBody>
          <a:bodyPr/>
          <a:lstStyle/>
          <a:p>
            <a:endParaRPr lang="en-US"/>
          </a:p>
        </p:txBody>
      </p:sp>
      <p:sp>
        <p:nvSpPr>
          <p:cNvPr id="7" name="Text 5"/>
          <p:cNvSpPr/>
          <p:nvPr/>
        </p:nvSpPr>
        <p:spPr>
          <a:xfrm>
            <a:off x="914400" y="5120640"/>
            <a:ext cx="5120640" cy="411480"/>
          </a:xfrm>
          <a:prstGeom prst="rect">
            <a:avLst/>
          </a:prstGeom>
          <a:noFill/>
          <a:ln/>
        </p:spPr>
        <p:txBody>
          <a:bodyPr wrap="square" lIns="0" tIns="0" rIns="0" bIns="0" rtlCol="0" anchor="ctr"/>
          <a:lstStyle/>
          <a:p>
            <a:pPr marL="0" indent="0" algn="ctr">
              <a:buNone/>
            </a:pPr>
            <a:r>
              <a:rPr lang="en-US" sz="1100" b="1" kern="0" spc="300" dirty="0">
                <a:solidFill>
                  <a:srgbClr val="0F172A"/>
                </a:solidFill>
                <a:latin typeface="Calibri" pitchFamily="34" charset="0"/>
                <a:ea typeface="Calibri" pitchFamily="34" charset="-122"/>
                <a:cs typeface="Calibri" pitchFamily="34" charset="-120"/>
              </a:rPr>
              <a:t>CREW DISMISSED  ·  SAME TIME, NEXT QUARTER</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40080" y="1280160"/>
            <a:ext cx="7315200" cy="457200"/>
          </a:xfrm>
          <a:prstGeom prst="rect">
            <a:avLst/>
          </a:prstGeom>
          <a:noFill/>
          <a:ln/>
        </p:spPr>
        <p:txBody>
          <a:bodyPr wrap="square" lIns="0" tIns="0" rIns="0" bIns="0" rtlCol="0" anchor="ctr"/>
          <a:lstStyle/>
          <a:p>
            <a:pPr marL="0" indent="0">
              <a:buNone/>
            </a:pPr>
            <a:r>
              <a:rPr lang="en-US" sz="1600" b="1" kern="0" spc="600" dirty="0">
                <a:solidFill>
                  <a:srgbClr val="F59E0B"/>
                </a:solidFill>
                <a:latin typeface="Calibri" pitchFamily="34" charset="0"/>
                <a:ea typeface="Calibri" pitchFamily="34" charset="-122"/>
                <a:cs typeface="Calibri" pitchFamily="34" charset="-120"/>
              </a:rPr>
              <a:t>APPENDIX</a:t>
            </a:r>
            <a:endParaRPr lang="en-US" sz="1600" dirty="0"/>
          </a:p>
        </p:txBody>
      </p:sp>
      <p:sp>
        <p:nvSpPr>
          <p:cNvPr id="3" name="Text 1"/>
          <p:cNvSpPr/>
          <p:nvPr/>
        </p:nvSpPr>
        <p:spPr>
          <a:xfrm>
            <a:off x="640080" y="1828800"/>
            <a:ext cx="10972800" cy="1280160"/>
          </a:xfrm>
          <a:prstGeom prst="rect">
            <a:avLst/>
          </a:prstGeom>
          <a:noFill/>
          <a:ln/>
        </p:spPr>
        <p:txBody>
          <a:bodyPr wrap="square" lIns="0" tIns="0" rIns="0" bIns="0" rtlCol="0" anchor="ctr"/>
          <a:lstStyle/>
          <a:p>
            <a:pPr marL="0" indent="0">
              <a:buNone/>
            </a:pPr>
            <a:r>
              <a:rPr lang="en-US" sz="8800" b="1" kern="0" spc="-300" dirty="0">
                <a:solidFill>
                  <a:srgbClr val="FFFFFF"/>
                </a:solidFill>
                <a:latin typeface="Calibri" pitchFamily="34" charset="0"/>
                <a:ea typeface="Calibri" pitchFamily="34" charset="-122"/>
                <a:cs typeface="Calibri" pitchFamily="34" charset="-120"/>
              </a:rPr>
              <a:t>Team games.</a:t>
            </a:r>
            <a:endParaRPr lang="en-US" sz="8800" dirty="0"/>
          </a:p>
        </p:txBody>
      </p:sp>
      <p:sp>
        <p:nvSpPr>
          <p:cNvPr id="4" name="Text 2"/>
          <p:cNvSpPr/>
          <p:nvPr/>
        </p:nvSpPr>
        <p:spPr>
          <a:xfrm>
            <a:off x="640080" y="3291840"/>
            <a:ext cx="10972800" cy="457200"/>
          </a:xfrm>
          <a:prstGeom prst="rect">
            <a:avLst/>
          </a:prstGeom>
          <a:noFill/>
          <a:ln/>
        </p:spPr>
        <p:txBody>
          <a:bodyPr wrap="square" lIns="0" tIns="0" rIns="0" bIns="0" rtlCol="0" anchor="ctr"/>
          <a:lstStyle/>
          <a:p>
            <a:pPr marL="0" indent="0">
              <a:buNone/>
            </a:pPr>
            <a:r>
              <a:rPr lang="en-US" sz="2000" i="1" dirty="0">
                <a:solidFill>
                  <a:srgbClr val="94A3B8"/>
                </a:solidFill>
                <a:latin typeface="Calibri" pitchFamily="34" charset="0"/>
                <a:ea typeface="Calibri" pitchFamily="34" charset="-122"/>
                <a:cs typeface="Calibri" pitchFamily="34" charset="-120"/>
              </a:rPr>
              <a:t>Three quick activities. Pick one as a warm-up, drop one into the roundtable, save one for the close.</a:t>
            </a:r>
            <a:endParaRPr lang="en-US" sz="2000" dirty="0"/>
          </a:p>
        </p:txBody>
      </p:sp>
      <p:sp>
        <p:nvSpPr>
          <p:cNvPr id="5" name="Shape 3"/>
          <p:cNvSpPr/>
          <p:nvPr/>
        </p:nvSpPr>
        <p:spPr>
          <a:xfrm>
            <a:off x="380848" y="4572000"/>
            <a:ext cx="3657600" cy="1371600"/>
          </a:xfrm>
          <a:prstGeom prst="rect">
            <a:avLst/>
          </a:prstGeom>
          <a:solidFill>
            <a:srgbClr val="1E293B"/>
          </a:solidFill>
          <a:ln w="12700">
            <a:solidFill>
              <a:srgbClr val="F59E0B"/>
            </a:solidFill>
            <a:prstDash val="solid"/>
          </a:ln>
        </p:spPr>
        <p:txBody>
          <a:bodyPr/>
          <a:lstStyle/>
          <a:p>
            <a:endParaRPr lang="en-US"/>
          </a:p>
        </p:txBody>
      </p:sp>
      <p:sp>
        <p:nvSpPr>
          <p:cNvPr id="6" name="Shape 4"/>
          <p:cNvSpPr/>
          <p:nvPr/>
        </p:nvSpPr>
        <p:spPr>
          <a:xfrm>
            <a:off x="380848" y="4572000"/>
            <a:ext cx="73152" cy="1371600"/>
          </a:xfrm>
          <a:prstGeom prst="rect">
            <a:avLst/>
          </a:prstGeom>
          <a:solidFill>
            <a:srgbClr val="F59E0B"/>
          </a:solidFill>
          <a:ln w="12700">
            <a:solidFill>
              <a:srgbClr val="F59E0B"/>
            </a:solidFill>
            <a:prstDash val="solid"/>
          </a:ln>
        </p:spPr>
        <p:txBody>
          <a:bodyPr/>
          <a:lstStyle/>
          <a:p>
            <a:endParaRPr lang="en-US"/>
          </a:p>
        </p:txBody>
      </p:sp>
      <p:sp>
        <p:nvSpPr>
          <p:cNvPr id="7" name="Text 5"/>
          <p:cNvSpPr/>
          <p:nvPr/>
        </p:nvSpPr>
        <p:spPr>
          <a:xfrm>
            <a:off x="609448" y="4663440"/>
            <a:ext cx="914400" cy="365760"/>
          </a:xfrm>
          <a:prstGeom prst="rect">
            <a:avLst/>
          </a:prstGeom>
          <a:noFill/>
          <a:ln/>
        </p:spPr>
        <p:txBody>
          <a:bodyPr wrap="square" lIns="0" tIns="0" rIns="0" bIns="0"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01</a:t>
            </a:r>
            <a:endParaRPr lang="en-US" sz="1400" dirty="0"/>
          </a:p>
        </p:txBody>
      </p:sp>
      <p:sp>
        <p:nvSpPr>
          <p:cNvPr id="8" name="Text 6"/>
          <p:cNvSpPr/>
          <p:nvPr/>
        </p:nvSpPr>
        <p:spPr>
          <a:xfrm>
            <a:off x="609448" y="4983480"/>
            <a:ext cx="32004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JHBI Pictionary</a:t>
            </a:r>
            <a:endParaRPr lang="en-US" sz="1800" dirty="0"/>
          </a:p>
        </p:txBody>
      </p:sp>
      <p:sp>
        <p:nvSpPr>
          <p:cNvPr id="9" name="Text 7"/>
          <p:cNvSpPr/>
          <p:nvPr/>
        </p:nvSpPr>
        <p:spPr>
          <a:xfrm>
            <a:off x="609448" y="5486400"/>
            <a:ext cx="3200400" cy="365760"/>
          </a:xfrm>
          <a:prstGeom prst="rect">
            <a:avLst/>
          </a:prstGeom>
          <a:noFill/>
          <a:ln/>
        </p:spPr>
        <p:txBody>
          <a:bodyPr wrap="square" lIns="0" tIns="0" rIns="0" bIns="0"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10 min  ·  2 teams</a:t>
            </a:r>
            <a:endParaRPr lang="en-US" sz="1200" dirty="0"/>
          </a:p>
        </p:txBody>
      </p:sp>
      <p:sp>
        <p:nvSpPr>
          <p:cNvPr id="10" name="Shape 8"/>
          <p:cNvSpPr/>
          <p:nvPr/>
        </p:nvSpPr>
        <p:spPr>
          <a:xfrm>
            <a:off x="4267048" y="4572000"/>
            <a:ext cx="3657600" cy="1371600"/>
          </a:xfrm>
          <a:prstGeom prst="rect">
            <a:avLst/>
          </a:prstGeom>
          <a:solidFill>
            <a:srgbClr val="1E293B"/>
          </a:solidFill>
          <a:ln w="12700">
            <a:solidFill>
              <a:srgbClr val="F59E0B"/>
            </a:solidFill>
            <a:prstDash val="solid"/>
          </a:ln>
        </p:spPr>
        <p:txBody>
          <a:bodyPr/>
          <a:lstStyle/>
          <a:p>
            <a:endParaRPr lang="en-US"/>
          </a:p>
        </p:txBody>
      </p:sp>
      <p:sp>
        <p:nvSpPr>
          <p:cNvPr id="11" name="Shape 9"/>
          <p:cNvSpPr/>
          <p:nvPr/>
        </p:nvSpPr>
        <p:spPr>
          <a:xfrm>
            <a:off x="4267048" y="4572000"/>
            <a:ext cx="73152" cy="1371600"/>
          </a:xfrm>
          <a:prstGeom prst="rect">
            <a:avLst/>
          </a:prstGeom>
          <a:solidFill>
            <a:srgbClr val="F59E0B"/>
          </a:solidFill>
          <a:ln w="12700">
            <a:solidFill>
              <a:srgbClr val="F59E0B"/>
            </a:solidFill>
            <a:prstDash val="solid"/>
          </a:ln>
        </p:spPr>
        <p:txBody>
          <a:bodyPr/>
          <a:lstStyle/>
          <a:p>
            <a:endParaRPr lang="en-US"/>
          </a:p>
        </p:txBody>
      </p:sp>
      <p:sp>
        <p:nvSpPr>
          <p:cNvPr id="12" name="Text 10"/>
          <p:cNvSpPr/>
          <p:nvPr/>
        </p:nvSpPr>
        <p:spPr>
          <a:xfrm>
            <a:off x="4495648" y="4663440"/>
            <a:ext cx="914400" cy="365760"/>
          </a:xfrm>
          <a:prstGeom prst="rect">
            <a:avLst/>
          </a:prstGeom>
          <a:noFill/>
          <a:ln/>
        </p:spPr>
        <p:txBody>
          <a:bodyPr wrap="square" lIns="0" tIns="0" rIns="0" bIns="0"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02</a:t>
            </a:r>
            <a:endParaRPr lang="en-US" sz="1400" dirty="0"/>
          </a:p>
        </p:txBody>
      </p:sp>
      <p:sp>
        <p:nvSpPr>
          <p:cNvPr id="13" name="Text 11"/>
          <p:cNvSpPr/>
          <p:nvPr/>
        </p:nvSpPr>
        <p:spPr>
          <a:xfrm>
            <a:off x="4495648" y="4983480"/>
            <a:ext cx="32004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Worst Possible Name for JHBI</a:t>
            </a:r>
            <a:endParaRPr lang="en-US" sz="1800" dirty="0"/>
          </a:p>
        </p:txBody>
      </p:sp>
      <p:sp>
        <p:nvSpPr>
          <p:cNvPr id="14" name="Text 12"/>
          <p:cNvSpPr/>
          <p:nvPr/>
        </p:nvSpPr>
        <p:spPr>
          <a:xfrm>
            <a:off x="4495648" y="5486400"/>
            <a:ext cx="3200400" cy="365760"/>
          </a:xfrm>
          <a:prstGeom prst="rect">
            <a:avLst/>
          </a:prstGeom>
          <a:noFill/>
          <a:ln/>
        </p:spPr>
        <p:txBody>
          <a:bodyPr wrap="square" lIns="0" tIns="0" rIns="0" bIns="0"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5 min  ·  pairs</a:t>
            </a:r>
            <a:endParaRPr lang="en-US" sz="1200" dirty="0"/>
          </a:p>
        </p:txBody>
      </p:sp>
      <p:sp>
        <p:nvSpPr>
          <p:cNvPr id="15" name="Shape 13"/>
          <p:cNvSpPr/>
          <p:nvPr/>
        </p:nvSpPr>
        <p:spPr>
          <a:xfrm>
            <a:off x="8153248" y="4572000"/>
            <a:ext cx="3657600" cy="1371600"/>
          </a:xfrm>
          <a:prstGeom prst="rect">
            <a:avLst/>
          </a:prstGeom>
          <a:solidFill>
            <a:srgbClr val="1E293B"/>
          </a:solidFill>
          <a:ln w="12700">
            <a:solidFill>
              <a:srgbClr val="F59E0B"/>
            </a:solidFill>
            <a:prstDash val="solid"/>
          </a:ln>
        </p:spPr>
        <p:txBody>
          <a:bodyPr/>
          <a:lstStyle/>
          <a:p>
            <a:endParaRPr lang="en-US"/>
          </a:p>
        </p:txBody>
      </p:sp>
      <p:sp>
        <p:nvSpPr>
          <p:cNvPr id="16" name="Shape 14"/>
          <p:cNvSpPr/>
          <p:nvPr/>
        </p:nvSpPr>
        <p:spPr>
          <a:xfrm>
            <a:off x="8153248" y="4572000"/>
            <a:ext cx="73152" cy="1371600"/>
          </a:xfrm>
          <a:prstGeom prst="rect">
            <a:avLst/>
          </a:prstGeom>
          <a:solidFill>
            <a:srgbClr val="F59E0B"/>
          </a:solidFill>
          <a:ln w="12700">
            <a:solidFill>
              <a:srgbClr val="F59E0B"/>
            </a:solidFill>
            <a:prstDash val="solid"/>
          </a:ln>
        </p:spPr>
        <p:txBody>
          <a:bodyPr/>
          <a:lstStyle/>
          <a:p>
            <a:endParaRPr lang="en-US"/>
          </a:p>
        </p:txBody>
      </p:sp>
      <p:sp>
        <p:nvSpPr>
          <p:cNvPr id="17" name="Text 15"/>
          <p:cNvSpPr/>
          <p:nvPr/>
        </p:nvSpPr>
        <p:spPr>
          <a:xfrm>
            <a:off x="8381848" y="4663440"/>
            <a:ext cx="914400" cy="365760"/>
          </a:xfrm>
          <a:prstGeom prst="rect">
            <a:avLst/>
          </a:prstGeom>
          <a:noFill/>
          <a:ln/>
        </p:spPr>
        <p:txBody>
          <a:bodyPr wrap="square" lIns="0" tIns="0" rIns="0" bIns="0"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03</a:t>
            </a:r>
            <a:endParaRPr lang="en-US" sz="1400" dirty="0"/>
          </a:p>
        </p:txBody>
      </p:sp>
      <p:sp>
        <p:nvSpPr>
          <p:cNvPr id="18" name="Text 16"/>
          <p:cNvSpPr/>
          <p:nvPr/>
        </p:nvSpPr>
        <p:spPr>
          <a:xfrm>
            <a:off x="8381848" y="4983480"/>
            <a:ext cx="32004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Quarter in Six Words</a:t>
            </a:r>
            <a:endParaRPr lang="en-US" sz="1800" dirty="0"/>
          </a:p>
        </p:txBody>
      </p:sp>
      <p:sp>
        <p:nvSpPr>
          <p:cNvPr id="19" name="Text 17"/>
          <p:cNvSpPr/>
          <p:nvPr/>
        </p:nvSpPr>
        <p:spPr>
          <a:xfrm>
            <a:off x="8381848" y="5486400"/>
            <a:ext cx="3200400" cy="365760"/>
          </a:xfrm>
          <a:prstGeom prst="rect">
            <a:avLst/>
          </a:prstGeom>
          <a:noFill/>
          <a:ln/>
        </p:spPr>
        <p:txBody>
          <a:bodyPr wrap="square" lIns="0" tIns="0" rIns="0" bIns="0"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5 min  ·  round robin</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APPENDIX · GAME 01</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36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JHBI Pictionary</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Watching someone try to draw row-level security is its own reward</a:t>
            </a:r>
            <a:endParaRPr lang="en-US" sz="1400" dirty="0"/>
          </a:p>
        </p:txBody>
      </p:sp>
      <p:sp>
        <p:nvSpPr>
          <p:cNvPr id="8" name="Shape 6"/>
          <p:cNvSpPr/>
          <p:nvPr/>
        </p:nvSpPr>
        <p:spPr>
          <a:xfrm>
            <a:off x="457200" y="2103120"/>
            <a:ext cx="2194560" cy="411480"/>
          </a:xfrm>
          <a:prstGeom prst="roundRect">
            <a:avLst>
              <a:gd name="adj" fmla="val 48889"/>
            </a:avLst>
          </a:prstGeom>
          <a:solidFill>
            <a:srgbClr val="FFFFFF"/>
          </a:solidFill>
          <a:ln w="12700">
            <a:solidFill>
              <a:srgbClr val="F59E0B"/>
            </a:solidFill>
            <a:prstDash val="solid"/>
          </a:ln>
        </p:spPr>
        <p:txBody>
          <a:bodyPr/>
          <a:lstStyle/>
          <a:p>
            <a:endParaRPr lang="en-US"/>
          </a:p>
        </p:txBody>
      </p:sp>
      <p:sp>
        <p:nvSpPr>
          <p:cNvPr id="9" name="Text 7"/>
          <p:cNvSpPr/>
          <p:nvPr/>
        </p:nvSpPr>
        <p:spPr>
          <a:xfrm>
            <a:off x="640080" y="2103120"/>
            <a:ext cx="914400" cy="411480"/>
          </a:xfrm>
          <a:prstGeom prst="rect">
            <a:avLst/>
          </a:prstGeom>
          <a:noFill/>
          <a:ln/>
        </p:spPr>
        <p:txBody>
          <a:bodyPr wrap="square" lIns="0" tIns="0" rIns="0" bIns="0" rtlCol="0" anchor="ctr"/>
          <a:lstStyle/>
          <a:p>
            <a:pPr marL="0" indent="0">
              <a:buNone/>
            </a:pPr>
            <a:r>
              <a:rPr lang="en-US" sz="900" b="1" kern="0" spc="200" dirty="0">
                <a:solidFill>
                  <a:srgbClr val="F59E0B"/>
                </a:solidFill>
                <a:latin typeface="Calibri" pitchFamily="34" charset="0"/>
                <a:ea typeface="Calibri" pitchFamily="34" charset="-122"/>
                <a:cs typeface="Calibri" pitchFamily="34" charset="-120"/>
              </a:rPr>
              <a:t>TIME</a:t>
            </a:r>
            <a:endParaRPr lang="en-US" sz="900" dirty="0"/>
          </a:p>
        </p:txBody>
      </p:sp>
      <p:sp>
        <p:nvSpPr>
          <p:cNvPr id="10" name="Text 8"/>
          <p:cNvSpPr/>
          <p:nvPr/>
        </p:nvSpPr>
        <p:spPr>
          <a:xfrm>
            <a:off x="1463040" y="2103120"/>
            <a:ext cx="1097280" cy="41148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10 minutes</a:t>
            </a:r>
            <a:endParaRPr lang="en-US" sz="1200" dirty="0"/>
          </a:p>
        </p:txBody>
      </p:sp>
      <p:sp>
        <p:nvSpPr>
          <p:cNvPr id="11" name="Shape 9"/>
          <p:cNvSpPr/>
          <p:nvPr/>
        </p:nvSpPr>
        <p:spPr>
          <a:xfrm>
            <a:off x="2788920" y="2103120"/>
            <a:ext cx="2103120" cy="411480"/>
          </a:xfrm>
          <a:prstGeom prst="roundRect">
            <a:avLst>
              <a:gd name="adj" fmla="val 48889"/>
            </a:avLst>
          </a:prstGeom>
          <a:solidFill>
            <a:srgbClr val="FFFFFF"/>
          </a:solidFill>
          <a:ln w="12700">
            <a:solidFill>
              <a:srgbClr val="F59E0B"/>
            </a:solidFill>
            <a:prstDash val="solid"/>
          </a:ln>
        </p:spPr>
        <p:txBody>
          <a:bodyPr/>
          <a:lstStyle/>
          <a:p>
            <a:endParaRPr lang="en-US"/>
          </a:p>
        </p:txBody>
      </p:sp>
      <p:sp>
        <p:nvSpPr>
          <p:cNvPr id="12" name="Text 10"/>
          <p:cNvSpPr/>
          <p:nvPr/>
        </p:nvSpPr>
        <p:spPr>
          <a:xfrm>
            <a:off x="2971800" y="2103120"/>
            <a:ext cx="914400" cy="411480"/>
          </a:xfrm>
          <a:prstGeom prst="rect">
            <a:avLst/>
          </a:prstGeom>
          <a:noFill/>
          <a:ln/>
        </p:spPr>
        <p:txBody>
          <a:bodyPr wrap="square" lIns="0" tIns="0" rIns="0" bIns="0" rtlCol="0" anchor="ctr"/>
          <a:lstStyle/>
          <a:p>
            <a:pPr marL="0" indent="0">
              <a:buNone/>
            </a:pPr>
            <a:r>
              <a:rPr lang="en-US" sz="900" b="1" kern="0" spc="200" dirty="0">
                <a:solidFill>
                  <a:srgbClr val="F59E0B"/>
                </a:solidFill>
                <a:latin typeface="Calibri" pitchFamily="34" charset="0"/>
                <a:ea typeface="Calibri" pitchFamily="34" charset="-122"/>
                <a:cs typeface="Calibri" pitchFamily="34" charset="-120"/>
              </a:rPr>
              <a:t>FORMAT</a:t>
            </a:r>
            <a:endParaRPr lang="en-US" sz="900" dirty="0"/>
          </a:p>
        </p:txBody>
      </p:sp>
      <p:sp>
        <p:nvSpPr>
          <p:cNvPr id="13" name="Text 11"/>
          <p:cNvSpPr/>
          <p:nvPr/>
        </p:nvSpPr>
        <p:spPr>
          <a:xfrm>
            <a:off x="3794760" y="2103120"/>
            <a:ext cx="1005840" cy="41148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Two teams</a:t>
            </a:r>
            <a:endParaRPr lang="en-US" sz="1200" dirty="0"/>
          </a:p>
        </p:txBody>
      </p:sp>
      <p:sp>
        <p:nvSpPr>
          <p:cNvPr id="14" name="Shape 12"/>
          <p:cNvSpPr/>
          <p:nvPr/>
        </p:nvSpPr>
        <p:spPr>
          <a:xfrm>
            <a:off x="5029200" y="2103120"/>
            <a:ext cx="4754880" cy="411480"/>
          </a:xfrm>
          <a:prstGeom prst="roundRect">
            <a:avLst>
              <a:gd name="adj" fmla="val 48889"/>
            </a:avLst>
          </a:prstGeom>
          <a:solidFill>
            <a:srgbClr val="FFFFFF"/>
          </a:solidFill>
          <a:ln w="12700">
            <a:solidFill>
              <a:srgbClr val="0D9488"/>
            </a:solidFill>
            <a:prstDash val="solid"/>
          </a:ln>
        </p:spPr>
        <p:txBody>
          <a:bodyPr/>
          <a:lstStyle/>
          <a:p>
            <a:endParaRPr lang="en-US"/>
          </a:p>
        </p:txBody>
      </p:sp>
      <p:sp>
        <p:nvSpPr>
          <p:cNvPr id="15" name="Text 13"/>
          <p:cNvSpPr/>
          <p:nvPr/>
        </p:nvSpPr>
        <p:spPr>
          <a:xfrm>
            <a:off x="5212080" y="2103120"/>
            <a:ext cx="914400" cy="411480"/>
          </a:xfrm>
          <a:prstGeom prst="rect">
            <a:avLst/>
          </a:prstGeom>
          <a:noFill/>
          <a:ln/>
        </p:spPr>
        <p:txBody>
          <a:bodyPr wrap="square" lIns="0" tIns="0" rIns="0" bIns="0" rtlCol="0" anchor="ctr"/>
          <a:lstStyle/>
          <a:p>
            <a:pPr marL="0" indent="0">
              <a:buNone/>
            </a:pPr>
            <a:r>
              <a:rPr lang="en-US" sz="900" b="1" kern="0" spc="200" dirty="0">
                <a:solidFill>
                  <a:srgbClr val="0D9488"/>
                </a:solidFill>
                <a:latin typeface="Calibri" pitchFamily="34" charset="0"/>
                <a:ea typeface="Calibri" pitchFamily="34" charset="-122"/>
                <a:cs typeface="Calibri" pitchFamily="34" charset="-120"/>
              </a:rPr>
              <a:t>MATERIALS</a:t>
            </a:r>
            <a:endParaRPr lang="en-US" sz="900" dirty="0"/>
          </a:p>
        </p:txBody>
      </p:sp>
      <p:sp>
        <p:nvSpPr>
          <p:cNvPr id="16" name="Text 14"/>
          <p:cNvSpPr/>
          <p:nvPr/>
        </p:nvSpPr>
        <p:spPr>
          <a:xfrm>
            <a:off x="6035040" y="2103120"/>
            <a:ext cx="3657600" cy="41148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Whiteboard + marker (or shared screen)</a:t>
            </a:r>
            <a:endParaRPr lang="en-US" sz="1200" dirty="0"/>
          </a:p>
        </p:txBody>
      </p:sp>
      <p:sp>
        <p:nvSpPr>
          <p:cNvPr id="17" name="Shape 15"/>
          <p:cNvSpPr/>
          <p:nvPr/>
        </p:nvSpPr>
        <p:spPr>
          <a:xfrm>
            <a:off x="457200" y="2743200"/>
            <a:ext cx="5669280" cy="3657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8" name="Shape 16"/>
          <p:cNvSpPr/>
          <p:nvPr/>
        </p:nvSpPr>
        <p:spPr>
          <a:xfrm>
            <a:off x="457200" y="2743200"/>
            <a:ext cx="73152" cy="3657600"/>
          </a:xfrm>
          <a:prstGeom prst="rect">
            <a:avLst/>
          </a:prstGeom>
          <a:solidFill>
            <a:srgbClr val="F59E0B"/>
          </a:solidFill>
          <a:ln w="12700">
            <a:solidFill>
              <a:srgbClr val="F59E0B"/>
            </a:solidFill>
            <a:prstDash val="solid"/>
          </a:ln>
        </p:spPr>
        <p:txBody>
          <a:bodyPr/>
          <a:lstStyle/>
          <a:p>
            <a:endParaRPr lang="en-US"/>
          </a:p>
        </p:txBody>
      </p:sp>
      <p:sp>
        <p:nvSpPr>
          <p:cNvPr id="19" name="Text 17"/>
          <p:cNvSpPr/>
          <p:nvPr/>
        </p:nvSpPr>
        <p:spPr>
          <a:xfrm>
            <a:off x="685800" y="2880360"/>
            <a:ext cx="5029200" cy="365760"/>
          </a:xfrm>
          <a:prstGeom prst="rect">
            <a:avLst/>
          </a:prstGeom>
          <a:noFill/>
          <a:ln/>
        </p:spPr>
        <p:txBody>
          <a:bodyPr wrap="square" lIns="0" tIns="0" rIns="0" bIns="0" rtlCol="0" anchor="ctr"/>
          <a:lstStyle/>
          <a:p>
            <a:pPr marL="0" indent="0">
              <a:buNone/>
            </a:pPr>
            <a:r>
              <a:rPr lang="en-US" sz="1200" b="1" kern="0" spc="300" dirty="0">
                <a:solidFill>
                  <a:srgbClr val="64748B"/>
                </a:solidFill>
                <a:latin typeface="Calibri" pitchFamily="34" charset="0"/>
                <a:ea typeface="Calibri" pitchFamily="34" charset="-122"/>
                <a:cs typeface="Calibri" pitchFamily="34" charset="-120"/>
              </a:rPr>
              <a:t>How to play</a:t>
            </a:r>
            <a:endParaRPr lang="en-US" sz="1200" dirty="0"/>
          </a:p>
        </p:txBody>
      </p:sp>
      <p:sp>
        <p:nvSpPr>
          <p:cNvPr id="20" name="Text 18"/>
          <p:cNvSpPr/>
          <p:nvPr/>
        </p:nvSpPr>
        <p:spPr>
          <a:xfrm>
            <a:off x="685800" y="3246120"/>
            <a:ext cx="5212080" cy="3017520"/>
          </a:xfrm>
          <a:prstGeom prst="rect">
            <a:avLst/>
          </a:prstGeom>
          <a:noFill/>
          <a:ln/>
        </p:spPr>
        <p:txBody>
          <a:bodyPr wrap="square" lIns="0" tIns="0" rIns="0" bIns="0" rtlCol="0" anchor="t"/>
          <a:lstStyle/>
          <a:p>
            <a:pPr marL="0" indent="0">
              <a:spcAft>
                <a:spcPts val="800"/>
              </a:spcAft>
              <a:buNone/>
            </a:pPr>
            <a:r>
              <a:rPr lang="en-US" sz="1200" b="1" dirty="0">
                <a:solidFill>
                  <a:srgbClr val="F59E0B"/>
                </a:solidFill>
                <a:latin typeface="Calibri" pitchFamily="34" charset="0"/>
                <a:ea typeface="Calibri" pitchFamily="34" charset="-122"/>
                <a:cs typeface="Calibri" pitchFamily="34" charset="-120"/>
              </a:rPr>
              <a:t>1.  </a:t>
            </a:r>
            <a:r>
              <a:rPr lang="en-US" sz="1200" dirty="0">
                <a:solidFill>
                  <a:srgbClr val="334155"/>
                </a:solidFill>
                <a:latin typeface="Calibri" pitchFamily="34" charset="0"/>
                <a:ea typeface="Calibri" pitchFamily="34" charset="-122"/>
                <a:cs typeface="Calibri" pitchFamily="34" charset="-120"/>
              </a:rPr>
              <a:t>Split the room into two teams. Doesn't have to be even — bigger team gets harder terms.</a:t>
            </a:r>
            <a:endParaRPr lang="en-US" sz="1200" dirty="0"/>
          </a:p>
          <a:p>
            <a:pPr marL="0" indent="0">
              <a:spcAft>
                <a:spcPts val="800"/>
              </a:spcAft>
              <a:buNone/>
            </a:pPr>
            <a:r>
              <a:rPr lang="en-US" sz="1200" b="1" dirty="0">
                <a:solidFill>
                  <a:srgbClr val="F59E0B"/>
                </a:solidFill>
                <a:latin typeface="Calibri" pitchFamily="34" charset="0"/>
                <a:ea typeface="Calibri" pitchFamily="34" charset="-122"/>
                <a:cs typeface="Calibri" pitchFamily="34" charset="-120"/>
              </a:rPr>
              <a:t>2.  </a:t>
            </a:r>
            <a:r>
              <a:rPr lang="en-US" sz="1200" dirty="0">
                <a:solidFill>
                  <a:srgbClr val="334155"/>
                </a:solidFill>
                <a:latin typeface="Calibri" pitchFamily="34" charset="0"/>
                <a:ea typeface="Calibri" pitchFamily="34" charset="-122"/>
                <a:cs typeface="Calibri" pitchFamily="34" charset="-120"/>
              </a:rPr>
              <a:t>Each round: one person from a team draws a term pulled from the hat.</a:t>
            </a:r>
            <a:endParaRPr lang="en-US" sz="1200" dirty="0"/>
          </a:p>
          <a:p>
            <a:pPr marL="0" indent="0">
              <a:spcAft>
                <a:spcPts val="800"/>
              </a:spcAft>
              <a:buNone/>
            </a:pPr>
            <a:r>
              <a:rPr lang="en-US" sz="1200" b="1" dirty="0">
                <a:solidFill>
                  <a:srgbClr val="F59E0B"/>
                </a:solidFill>
                <a:latin typeface="Calibri" pitchFamily="34" charset="0"/>
                <a:ea typeface="Calibri" pitchFamily="34" charset="-122"/>
                <a:cs typeface="Calibri" pitchFamily="34" charset="-120"/>
              </a:rPr>
              <a:t>3.  </a:t>
            </a:r>
            <a:r>
              <a:rPr lang="en-US" sz="1200" dirty="0">
                <a:solidFill>
                  <a:srgbClr val="334155"/>
                </a:solidFill>
                <a:latin typeface="Calibri" pitchFamily="34" charset="0"/>
                <a:ea typeface="Calibri" pitchFamily="34" charset="-122"/>
                <a:cs typeface="Calibri" pitchFamily="34" charset="-120"/>
              </a:rPr>
              <a:t>60 seconds. No words. No letters. No numbers. No symbols (no = signs, no arrows with labels).</a:t>
            </a:r>
            <a:endParaRPr lang="en-US" sz="1200" dirty="0"/>
          </a:p>
          <a:p>
            <a:pPr marL="0" indent="0">
              <a:spcAft>
                <a:spcPts val="800"/>
              </a:spcAft>
              <a:buNone/>
            </a:pPr>
            <a:r>
              <a:rPr lang="en-US" sz="1200" b="1" dirty="0">
                <a:solidFill>
                  <a:srgbClr val="F59E0B"/>
                </a:solidFill>
                <a:latin typeface="Calibri" pitchFamily="34" charset="0"/>
                <a:ea typeface="Calibri" pitchFamily="34" charset="-122"/>
                <a:cs typeface="Calibri" pitchFamily="34" charset="-120"/>
              </a:rPr>
              <a:t>4.  </a:t>
            </a:r>
            <a:r>
              <a:rPr lang="en-US" sz="1200" dirty="0">
                <a:solidFill>
                  <a:srgbClr val="334155"/>
                </a:solidFill>
                <a:latin typeface="Calibri" pitchFamily="34" charset="0"/>
                <a:ea typeface="Calibri" pitchFamily="34" charset="-122"/>
                <a:cs typeface="Calibri" pitchFamily="34" charset="-120"/>
              </a:rPr>
              <a:t>Either team can shout the answer. First correct guess wins the point.</a:t>
            </a:r>
            <a:endParaRPr lang="en-US" sz="1200" dirty="0"/>
          </a:p>
          <a:p>
            <a:pPr marL="0" indent="0">
              <a:spcAft>
                <a:spcPts val="800"/>
              </a:spcAft>
              <a:buNone/>
            </a:pPr>
            <a:r>
              <a:rPr lang="en-US" sz="1200" b="1" dirty="0">
                <a:solidFill>
                  <a:srgbClr val="F59E0B"/>
                </a:solidFill>
                <a:latin typeface="Calibri" pitchFamily="34" charset="0"/>
                <a:ea typeface="Calibri" pitchFamily="34" charset="-122"/>
                <a:cs typeface="Calibri" pitchFamily="34" charset="-120"/>
              </a:rPr>
              <a:t>5.  </a:t>
            </a:r>
            <a:r>
              <a:rPr lang="en-US" sz="1200" dirty="0">
                <a:solidFill>
                  <a:srgbClr val="334155"/>
                </a:solidFill>
                <a:latin typeface="Calibri" pitchFamily="34" charset="0"/>
                <a:ea typeface="Calibri" pitchFamily="34" charset="-122"/>
                <a:cs typeface="Calibri" pitchFamily="34" charset="-120"/>
              </a:rPr>
              <a:t>Alternate which team's drawer is up. Best of 6 rounds. Loser buys coffee.</a:t>
            </a:r>
            <a:endParaRPr lang="en-US" sz="1200" dirty="0"/>
          </a:p>
        </p:txBody>
      </p:sp>
      <p:sp>
        <p:nvSpPr>
          <p:cNvPr id="21" name="Shape 19"/>
          <p:cNvSpPr/>
          <p:nvPr/>
        </p:nvSpPr>
        <p:spPr>
          <a:xfrm>
            <a:off x="6355080" y="2743200"/>
            <a:ext cx="5379415" cy="3657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2" name="Shape 20"/>
          <p:cNvSpPr/>
          <p:nvPr/>
        </p:nvSpPr>
        <p:spPr>
          <a:xfrm>
            <a:off x="6355080" y="2743200"/>
            <a:ext cx="73152" cy="3657600"/>
          </a:xfrm>
          <a:prstGeom prst="rect">
            <a:avLst/>
          </a:prstGeom>
          <a:solidFill>
            <a:srgbClr val="0D9488"/>
          </a:solidFill>
          <a:ln w="12700">
            <a:solidFill>
              <a:srgbClr val="0D9488"/>
            </a:solidFill>
            <a:prstDash val="solid"/>
          </a:ln>
        </p:spPr>
        <p:txBody>
          <a:bodyPr/>
          <a:lstStyle/>
          <a:p>
            <a:endParaRPr lang="en-US"/>
          </a:p>
        </p:txBody>
      </p:sp>
      <p:sp>
        <p:nvSpPr>
          <p:cNvPr id="23" name="Text 21"/>
          <p:cNvSpPr/>
          <p:nvPr/>
        </p:nvSpPr>
        <p:spPr>
          <a:xfrm>
            <a:off x="6583680" y="2880360"/>
            <a:ext cx="5029200" cy="365760"/>
          </a:xfrm>
          <a:prstGeom prst="rect">
            <a:avLst/>
          </a:prstGeom>
          <a:noFill/>
          <a:ln/>
        </p:spPr>
        <p:txBody>
          <a:bodyPr wrap="square" lIns="0" tIns="0" rIns="0" bIns="0" rtlCol="0" anchor="ctr"/>
          <a:lstStyle/>
          <a:p>
            <a:pPr marL="0" indent="0">
              <a:buNone/>
            </a:pPr>
            <a:r>
              <a:rPr lang="en-US" sz="1200" b="1" kern="0" spc="300" dirty="0">
                <a:solidFill>
                  <a:srgbClr val="64748B"/>
                </a:solidFill>
                <a:latin typeface="Calibri" pitchFamily="34" charset="0"/>
                <a:ea typeface="Calibri" pitchFamily="34" charset="-122"/>
                <a:cs typeface="Calibri" pitchFamily="34" charset="-120"/>
              </a:rPr>
              <a:t>Pull from the hat</a:t>
            </a:r>
            <a:endParaRPr lang="en-US" sz="1200" dirty="0"/>
          </a:p>
        </p:txBody>
      </p:sp>
      <p:sp>
        <p:nvSpPr>
          <p:cNvPr id="24" name="Text 22"/>
          <p:cNvSpPr/>
          <p:nvPr/>
        </p:nvSpPr>
        <p:spPr>
          <a:xfrm>
            <a:off x="6583680" y="3246120"/>
            <a:ext cx="2560320" cy="30175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Tokenization API</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Medallion architecture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Row-level security</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Source-by-source CDC</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Embedded PowerBI report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PCI compliance scope</a:t>
            </a:r>
            <a:endParaRPr lang="en-US" sz="1200" dirty="0"/>
          </a:p>
        </p:txBody>
      </p:sp>
      <p:sp>
        <p:nvSpPr>
          <p:cNvPr id="25" name="Text 23"/>
          <p:cNvSpPr/>
          <p:nvPr/>
        </p:nvSpPr>
        <p:spPr>
          <a:xfrm>
            <a:off x="9235440" y="3246120"/>
            <a:ext cx="2560320" cy="30175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Debezium connector</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AI-assisted query builder</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Pipeline status page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Alation data catalog</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Onboarding runbook</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Schema registry</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APPENDIX · GAME 02</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37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The Worst Possible Name for JHBI</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Pure dumb fun — energizes the room before the serious bits</a:t>
            </a:r>
            <a:endParaRPr lang="en-US" sz="1400" dirty="0"/>
          </a:p>
        </p:txBody>
      </p:sp>
      <p:sp>
        <p:nvSpPr>
          <p:cNvPr id="8" name="Shape 6"/>
          <p:cNvSpPr/>
          <p:nvPr/>
        </p:nvSpPr>
        <p:spPr>
          <a:xfrm>
            <a:off x="457200" y="2103120"/>
            <a:ext cx="2103120" cy="411480"/>
          </a:xfrm>
          <a:prstGeom prst="roundRect">
            <a:avLst>
              <a:gd name="adj" fmla="val 48889"/>
            </a:avLst>
          </a:prstGeom>
          <a:solidFill>
            <a:srgbClr val="FFFFFF"/>
          </a:solidFill>
          <a:ln w="12700">
            <a:solidFill>
              <a:srgbClr val="F59E0B"/>
            </a:solidFill>
            <a:prstDash val="solid"/>
          </a:ln>
        </p:spPr>
        <p:txBody>
          <a:bodyPr/>
          <a:lstStyle/>
          <a:p>
            <a:endParaRPr lang="en-US"/>
          </a:p>
        </p:txBody>
      </p:sp>
      <p:sp>
        <p:nvSpPr>
          <p:cNvPr id="9" name="Text 7"/>
          <p:cNvSpPr/>
          <p:nvPr/>
        </p:nvSpPr>
        <p:spPr>
          <a:xfrm>
            <a:off x="640080" y="2103120"/>
            <a:ext cx="914400" cy="411480"/>
          </a:xfrm>
          <a:prstGeom prst="rect">
            <a:avLst/>
          </a:prstGeom>
          <a:noFill/>
          <a:ln/>
        </p:spPr>
        <p:txBody>
          <a:bodyPr wrap="square" lIns="0" tIns="0" rIns="0" bIns="0" rtlCol="0" anchor="ctr"/>
          <a:lstStyle/>
          <a:p>
            <a:pPr marL="0" indent="0">
              <a:buNone/>
            </a:pPr>
            <a:r>
              <a:rPr lang="en-US" sz="900" b="1" kern="0" spc="200" dirty="0">
                <a:solidFill>
                  <a:srgbClr val="F59E0B"/>
                </a:solidFill>
                <a:latin typeface="Calibri" pitchFamily="34" charset="0"/>
                <a:ea typeface="Calibri" pitchFamily="34" charset="-122"/>
                <a:cs typeface="Calibri" pitchFamily="34" charset="-120"/>
              </a:rPr>
              <a:t>TIME</a:t>
            </a:r>
            <a:endParaRPr lang="en-US" sz="900" dirty="0"/>
          </a:p>
        </p:txBody>
      </p:sp>
      <p:sp>
        <p:nvSpPr>
          <p:cNvPr id="10" name="Text 8"/>
          <p:cNvSpPr/>
          <p:nvPr/>
        </p:nvSpPr>
        <p:spPr>
          <a:xfrm>
            <a:off x="1463040" y="2103120"/>
            <a:ext cx="1005840" cy="41148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5 minutes</a:t>
            </a:r>
            <a:endParaRPr lang="en-US" sz="1200" dirty="0"/>
          </a:p>
        </p:txBody>
      </p:sp>
      <p:sp>
        <p:nvSpPr>
          <p:cNvPr id="11" name="Shape 9"/>
          <p:cNvSpPr/>
          <p:nvPr/>
        </p:nvSpPr>
        <p:spPr>
          <a:xfrm>
            <a:off x="2697480" y="2103120"/>
            <a:ext cx="3657600" cy="411480"/>
          </a:xfrm>
          <a:prstGeom prst="roundRect">
            <a:avLst>
              <a:gd name="adj" fmla="val 48889"/>
            </a:avLst>
          </a:prstGeom>
          <a:solidFill>
            <a:srgbClr val="FFFFFF"/>
          </a:solidFill>
          <a:ln w="12700">
            <a:solidFill>
              <a:srgbClr val="F59E0B"/>
            </a:solidFill>
            <a:prstDash val="solid"/>
          </a:ln>
        </p:spPr>
        <p:txBody>
          <a:bodyPr/>
          <a:lstStyle/>
          <a:p>
            <a:endParaRPr lang="en-US"/>
          </a:p>
        </p:txBody>
      </p:sp>
      <p:sp>
        <p:nvSpPr>
          <p:cNvPr id="12" name="Text 10"/>
          <p:cNvSpPr/>
          <p:nvPr/>
        </p:nvSpPr>
        <p:spPr>
          <a:xfrm>
            <a:off x="2880360" y="2103120"/>
            <a:ext cx="914400" cy="411480"/>
          </a:xfrm>
          <a:prstGeom prst="rect">
            <a:avLst/>
          </a:prstGeom>
          <a:noFill/>
          <a:ln/>
        </p:spPr>
        <p:txBody>
          <a:bodyPr wrap="square" lIns="0" tIns="0" rIns="0" bIns="0" rtlCol="0" anchor="ctr"/>
          <a:lstStyle/>
          <a:p>
            <a:pPr marL="0" indent="0">
              <a:buNone/>
            </a:pPr>
            <a:r>
              <a:rPr lang="en-US" sz="900" b="1" kern="0" spc="200" dirty="0">
                <a:solidFill>
                  <a:srgbClr val="F59E0B"/>
                </a:solidFill>
                <a:latin typeface="Calibri" pitchFamily="34" charset="0"/>
                <a:ea typeface="Calibri" pitchFamily="34" charset="-122"/>
                <a:cs typeface="Calibri" pitchFamily="34" charset="-120"/>
              </a:rPr>
              <a:t>FORMAT</a:t>
            </a:r>
            <a:endParaRPr lang="en-US" sz="900" dirty="0"/>
          </a:p>
        </p:txBody>
      </p:sp>
      <p:sp>
        <p:nvSpPr>
          <p:cNvPr id="13" name="Text 11"/>
          <p:cNvSpPr/>
          <p:nvPr/>
        </p:nvSpPr>
        <p:spPr>
          <a:xfrm>
            <a:off x="3703320" y="2103120"/>
            <a:ext cx="2560320" cy="41148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Pairs, then full-room vote</a:t>
            </a:r>
            <a:endParaRPr lang="en-US" sz="1200" dirty="0"/>
          </a:p>
        </p:txBody>
      </p:sp>
      <p:sp>
        <p:nvSpPr>
          <p:cNvPr id="14" name="Shape 12"/>
          <p:cNvSpPr/>
          <p:nvPr/>
        </p:nvSpPr>
        <p:spPr>
          <a:xfrm>
            <a:off x="6492240" y="2103120"/>
            <a:ext cx="2926080" cy="411480"/>
          </a:xfrm>
          <a:prstGeom prst="roundRect">
            <a:avLst>
              <a:gd name="adj" fmla="val 48889"/>
            </a:avLst>
          </a:prstGeom>
          <a:solidFill>
            <a:srgbClr val="FFFFFF"/>
          </a:solidFill>
          <a:ln w="12700">
            <a:solidFill>
              <a:srgbClr val="0D9488"/>
            </a:solidFill>
            <a:prstDash val="solid"/>
          </a:ln>
        </p:spPr>
        <p:txBody>
          <a:bodyPr/>
          <a:lstStyle/>
          <a:p>
            <a:endParaRPr lang="en-US"/>
          </a:p>
        </p:txBody>
      </p:sp>
      <p:sp>
        <p:nvSpPr>
          <p:cNvPr id="15" name="Text 13"/>
          <p:cNvSpPr/>
          <p:nvPr/>
        </p:nvSpPr>
        <p:spPr>
          <a:xfrm>
            <a:off x="6675120" y="2103120"/>
            <a:ext cx="914400" cy="411480"/>
          </a:xfrm>
          <a:prstGeom prst="rect">
            <a:avLst/>
          </a:prstGeom>
          <a:noFill/>
          <a:ln/>
        </p:spPr>
        <p:txBody>
          <a:bodyPr wrap="square" lIns="0" tIns="0" rIns="0" bIns="0" rtlCol="0" anchor="ctr"/>
          <a:lstStyle/>
          <a:p>
            <a:pPr marL="0" indent="0">
              <a:buNone/>
            </a:pPr>
            <a:r>
              <a:rPr lang="en-US" sz="900" b="1" kern="0" spc="200" dirty="0">
                <a:solidFill>
                  <a:srgbClr val="0D9488"/>
                </a:solidFill>
                <a:latin typeface="Calibri" pitchFamily="34" charset="0"/>
                <a:ea typeface="Calibri" pitchFamily="34" charset="-122"/>
                <a:cs typeface="Calibri" pitchFamily="34" charset="-120"/>
              </a:rPr>
              <a:t>MATERIALS</a:t>
            </a:r>
            <a:endParaRPr lang="en-US" sz="900" dirty="0"/>
          </a:p>
        </p:txBody>
      </p:sp>
      <p:sp>
        <p:nvSpPr>
          <p:cNvPr id="16" name="Text 14"/>
          <p:cNvSpPr/>
          <p:nvPr/>
        </p:nvSpPr>
        <p:spPr>
          <a:xfrm>
            <a:off x="7498080" y="2103120"/>
            <a:ext cx="1828800" cy="41148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Index cards + pens</a:t>
            </a:r>
            <a:endParaRPr lang="en-US" sz="1200" dirty="0"/>
          </a:p>
        </p:txBody>
      </p:sp>
      <p:sp>
        <p:nvSpPr>
          <p:cNvPr id="17" name="Shape 15"/>
          <p:cNvSpPr/>
          <p:nvPr/>
        </p:nvSpPr>
        <p:spPr>
          <a:xfrm>
            <a:off x="457200" y="2743200"/>
            <a:ext cx="5669280" cy="3657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8" name="Shape 16"/>
          <p:cNvSpPr/>
          <p:nvPr/>
        </p:nvSpPr>
        <p:spPr>
          <a:xfrm>
            <a:off x="457200" y="2743200"/>
            <a:ext cx="73152" cy="3657600"/>
          </a:xfrm>
          <a:prstGeom prst="rect">
            <a:avLst/>
          </a:prstGeom>
          <a:solidFill>
            <a:srgbClr val="F59E0B"/>
          </a:solidFill>
          <a:ln w="12700">
            <a:solidFill>
              <a:srgbClr val="F59E0B"/>
            </a:solidFill>
            <a:prstDash val="solid"/>
          </a:ln>
        </p:spPr>
        <p:txBody>
          <a:bodyPr/>
          <a:lstStyle/>
          <a:p>
            <a:endParaRPr lang="en-US"/>
          </a:p>
        </p:txBody>
      </p:sp>
      <p:sp>
        <p:nvSpPr>
          <p:cNvPr id="19" name="Text 17"/>
          <p:cNvSpPr/>
          <p:nvPr/>
        </p:nvSpPr>
        <p:spPr>
          <a:xfrm>
            <a:off x="685800" y="2880360"/>
            <a:ext cx="5029200" cy="365760"/>
          </a:xfrm>
          <a:prstGeom prst="rect">
            <a:avLst/>
          </a:prstGeom>
          <a:noFill/>
          <a:ln/>
        </p:spPr>
        <p:txBody>
          <a:bodyPr wrap="square" lIns="0" tIns="0" rIns="0" bIns="0" rtlCol="0" anchor="ctr"/>
          <a:lstStyle/>
          <a:p>
            <a:pPr marL="0" indent="0">
              <a:buNone/>
            </a:pPr>
            <a:r>
              <a:rPr lang="en-US" sz="1200" b="1" kern="0" spc="300" dirty="0">
                <a:solidFill>
                  <a:srgbClr val="64748B"/>
                </a:solidFill>
                <a:latin typeface="Calibri" pitchFamily="34" charset="0"/>
                <a:ea typeface="Calibri" pitchFamily="34" charset="-122"/>
                <a:cs typeface="Calibri" pitchFamily="34" charset="-120"/>
              </a:rPr>
              <a:t>How to play</a:t>
            </a:r>
            <a:endParaRPr lang="en-US" sz="1200" dirty="0"/>
          </a:p>
        </p:txBody>
      </p:sp>
      <p:sp>
        <p:nvSpPr>
          <p:cNvPr id="20" name="Text 18"/>
          <p:cNvSpPr/>
          <p:nvPr/>
        </p:nvSpPr>
        <p:spPr>
          <a:xfrm>
            <a:off x="685800" y="3246120"/>
            <a:ext cx="5212080" cy="3017520"/>
          </a:xfrm>
          <a:prstGeom prst="rect">
            <a:avLst/>
          </a:prstGeom>
          <a:noFill/>
          <a:ln/>
        </p:spPr>
        <p:txBody>
          <a:bodyPr wrap="square" lIns="0" tIns="0" rIns="0" bIns="0" rtlCol="0" anchor="t"/>
          <a:lstStyle/>
          <a:p>
            <a:pPr marL="0" indent="0">
              <a:spcAft>
                <a:spcPts val="800"/>
              </a:spcAft>
              <a:buNone/>
            </a:pPr>
            <a:r>
              <a:rPr lang="en-US" sz="1200" b="1" dirty="0">
                <a:solidFill>
                  <a:srgbClr val="F59E0B"/>
                </a:solidFill>
                <a:latin typeface="Calibri" pitchFamily="34" charset="0"/>
                <a:ea typeface="Calibri" pitchFamily="34" charset="-122"/>
                <a:cs typeface="Calibri" pitchFamily="34" charset="-120"/>
              </a:rPr>
              <a:t>1.  </a:t>
            </a:r>
            <a:r>
              <a:rPr lang="en-US" sz="1200" dirty="0">
                <a:solidFill>
                  <a:srgbClr val="334155"/>
                </a:solidFill>
                <a:latin typeface="Calibri" pitchFamily="34" charset="0"/>
                <a:ea typeface="Calibri" pitchFamily="34" charset="-122"/>
                <a:cs typeface="Calibri" pitchFamily="34" charset="-120"/>
              </a:rPr>
              <a:t>Pair up. Strangers &gt; friends. Couches &gt; tables.</a:t>
            </a:r>
            <a:endParaRPr lang="en-US" sz="1200" dirty="0"/>
          </a:p>
          <a:p>
            <a:pPr marL="0" indent="0">
              <a:spcAft>
                <a:spcPts val="800"/>
              </a:spcAft>
              <a:buNone/>
            </a:pPr>
            <a:r>
              <a:rPr lang="en-US" sz="1200" b="1" dirty="0">
                <a:solidFill>
                  <a:srgbClr val="F59E0B"/>
                </a:solidFill>
                <a:latin typeface="Calibri" pitchFamily="34" charset="0"/>
                <a:ea typeface="Calibri" pitchFamily="34" charset="-122"/>
                <a:cs typeface="Calibri" pitchFamily="34" charset="-120"/>
              </a:rPr>
              <a:t>2.  </a:t>
            </a:r>
            <a:r>
              <a:rPr lang="en-US" sz="1200" dirty="0">
                <a:solidFill>
                  <a:srgbClr val="334155"/>
                </a:solidFill>
                <a:latin typeface="Calibri" pitchFamily="34" charset="0"/>
                <a:ea typeface="Calibri" pitchFamily="34" charset="-122"/>
                <a:cs typeface="Calibri" pitchFamily="34" charset="-120"/>
              </a:rPr>
              <a:t>90 seconds: come up with the most painfully bad rebrand for JHBI. The worse the better.</a:t>
            </a:r>
            <a:endParaRPr lang="en-US" sz="1200" dirty="0"/>
          </a:p>
          <a:p>
            <a:pPr marL="0" indent="0">
              <a:spcAft>
                <a:spcPts val="800"/>
              </a:spcAft>
              <a:buNone/>
            </a:pPr>
            <a:r>
              <a:rPr lang="en-US" sz="1200" b="1" dirty="0">
                <a:solidFill>
                  <a:srgbClr val="F59E0B"/>
                </a:solidFill>
                <a:latin typeface="Calibri" pitchFamily="34" charset="0"/>
                <a:ea typeface="Calibri" pitchFamily="34" charset="-122"/>
                <a:cs typeface="Calibri" pitchFamily="34" charset="-120"/>
              </a:rPr>
              <a:t>3.  </a:t>
            </a:r>
            <a:r>
              <a:rPr lang="en-US" sz="1200" dirty="0">
                <a:solidFill>
                  <a:srgbClr val="334155"/>
                </a:solidFill>
                <a:latin typeface="Calibri" pitchFamily="34" charset="0"/>
                <a:ea typeface="Calibri" pitchFamily="34" charset="-122"/>
                <a:cs typeface="Calibri" pitchFamily="34" charset="-120"/>
              </a:rPr>
              <a:t>Each pair reads their best one out loud. No commentary, just the name.</a:t>
            </a:r>
            <a:endParaRPr lang="en-US" sz="1200" dirty="0"/>
          </a:p>
          <a:p>
            <a:pPr marL="0" indent="0">
              <a:spcAft>
                <a:spcPts val="800"/>
              </a:spcAft>
              <a:buNone/>
            </a:pPr>
            <a:r>
              <a:rPr lang="en-US" sz="1200" b="1" dirty="0">
                <a:solidFill>
                  <a:srgbClr val="F59E0B"/>
                </a:solidFill>
                <a:latin typeface="Calibri" pitchFamily="34" charset="0"/>
                <a:ea typeface="Calibri" pitchFamily="34" charset="-122"/>
                <a:cs typeface="Calibri" pitchFamily="34" charset="-120"/>
              </a:rPr>
              <a:t>4.  </a:t>
            </a:r>
            <a:r>
              <a:rPr lang="en-US" sz="1200" dirty="0">
                <a:solidFill>
                  <a:srgbClr val="334155"/>
                </a:solidFill>
                <a:latin typeface="Calibri" pitchFamily="34" charset="0"/>
                <a:ea typeface="Calibri" pitchFamily="34" charset="-122"/>
                <a:cs typeface="Calibri" pitchFamily="34" charset="-120"/>
              </a:rPr>
              <a:t>Group vote: everyone raises a hand for the worst (= best). Tie? Run-off.</a:t>
            </a:r>
            <a:endParaRPr lang="en-US" sz="1200" dirty="0"/>
          </a:p>
          <a:p>
            <a:pPr marL="0" indent="0">
              <a:spcAft>
                <a:spcPts val="800"/>
              </a:spcAft>
              <a:buNone/>
            </a:pPr>
            <a:r>
              <a:rPr lang="en-US" sz="1200" b="1" dirty="0">
                <a:solidFill>
                  <a:srgbClr val="F59E0B"/>
                </a:solidFill>
                <a:latin typeface="Calibri" pitchFamily="34" charset="0"/>
                <a:ea typeface="Calibri" pitchFamily="34" charset="-122"/>
                <a:cs typeface="Calibri" pitchFamily="34" charset="-120"/>
              </a:rPr>
              <a:t>5.  </a:t>
            </a:r>
            <a:r>
              <a:rPr lang="en-US" sz="1200" dirty="0">
                <a:solidFill>
                  <a:srgbClr val="334155"/>
                </a:solidFill>
                <a:latin typeface="Calibri" pitchFamily="34" charset="0"/>
                <a:ea typeface="Calibri" pitchFamily="34" charset="-122"/>
                <a:cs typeface="Calibri" pitchFamily="34" charset="-120"/>
              </a:rPr>
              <a:t>Winner gets a printed certificate. Or just bragging rights until next quarter.</a:t>
            </a:r>
            <a:endParaRPr lang="en-US" sz="1200" dirty="0"/>
          </a:p>
        </p:txBody>
      </p:sp>
      <p:sp>
        <p:nvSpPr>
          <p:cNvPr id="21" name="Shape 19"/>
          <p:cNvSpPr/>
          <p:nvPr/>
        </p:nvSpPr>
        <p:spPr>
          <a:xfrm>
            <a:off x="6355080" y="2743200"/>
            <a:ext cx="5379415" cy="3657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2" name="Shape 20"/>
          <p:cNvSpPr/>
          <p:nvPr/>
        </p:nvSpPr>
        <p:spPr>
          <a:xfrm>
            <a:off x="6355080" y="2743200"/>
            <a:ext cx="73152" cy="3657600"/>
          </a:xfrm>
          <a:prstGeom prst="rect">
            <a:avLst/>
          </a:prstGeom>
          <a:solidFill>
            <a:srgbClr val="0D9488"/>
          </a:solidFill>
          <a:ln w="12700">
            <a:solidFill>
              <a:srgbClr val="0D9488"/>
            </a:solidFill>
            <a:prstDash val="solid"/>
          </a:ln>
        </p:spPr>
        <p:txBody>
          <a:bodyPr/>
          <a:lstStyle/>
          <a:p>
            <a:endParaRPr lang="en-US"/>
          </a:p>
        </p:txBody>
      </p:sp>
      <p:sp>
        <p:nvSpPr>
          <p:cNvPr id="23" name="Text 21"/>
          <p:cNvSpPr/>
          <p:nvPr/>
        </p:nvSpPr>
        <p:spPr>
          <a:xfrm>
            <a:off x="6583680" y="2880360"/>
            <a:ext cx="5029200" cy="365760"/>
          </a:xfrm>
          <a:prstGeom prst="rect">
            <a:avLst/>
          </a:prstGeom>
          <a:noFill/>
          <a:ln/>
        </p:spPr>
        <p:txBody>
          <a:bodyPr wrap="square" lIns="0" tIns="0" rIns="0" bIns="0" rtlCol="0" anchor="ctr"/>
          <a:lstStyle/>
          <a:p>
            <a:pPr marL="0" indent="0">
              <a:buNone/>
            </a:pPr>
            <a:r>
              <a:rPr lang="en-US" sz="1200" b="1" kern="0" spc="300" dirty="0">
                <a:solidFill>
                  <a:srgbClr val="64748B"/>
                </a:solidFill>
                <a:latin typeface="Calibri" pitchFamily="34" charset="0"/>
                <a:ea typeface="Calibri" pitchFamily="34" charset="-122"/>
                <a:cs typeface="Calibri" pitchFamily="34" charset="-120"/>
              </a:rPr>
              <a:t>Inspiration (use sparingly)</a:t>
            </a:r>
            <a:endParaRPr lang="en-US" sz="1200" dirty="0"/>
          </a:p>
        </p:txBody>
      </p:sp>
      <p:sp>
        <p:nvSpPr>
          <p:cNvPr id="24" name="Text 22"/>
          <p:cNvSpPr/>
          <p:nvPr/>
        </p:nvSpPr>
        <p:spPr>
          <a:xfrm>
            <a:off x="6629400" y="3246120"/>
            <a:ext cx="1828800"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PayBro</a:t>
            </a:r>
            <a:endParaRPr lang="en-US" sz="1400" dirty="0"/>
          </a:p>
        </p:txBody>
      </p:sp>
      <p:sp>
        <p:nvSpPr>
          <p:cNvPr id="25" name="Text 23"/>
          <p:cNvSpPr/>
          <p:nvPr/>
        </p:nvSpPr>
        <p:spPr>
          <a:xfrm>
            <a:off x="8503920" y="3246120"/>
            <a:ext cx="3230575" cy="3657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tech bro energy, banking misread</a:t>
            </a:r>
            <a:endParaRPr lang="en-US" sz="1100" dirty="0"/>
          </a:p>
        </p:txBody>
      </p:sp>
      <p:sp>
        <p:nvSpPr>
          <p:cNvPr id="26" name="Text 24"/>
          <p:cNvSpPr/>
          <p:nvPr/>
        </p:nvSpPr>
        <p:spPr>
          <a:xfrm>
            <a:off x="6629400" y="3703320"/>
            <a:ext cx="1828800"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MoneyHenry</a:t>
            </a:r>
            <a:endParaRPr lang="en-US" sz="1400" dirty="0"/>
          </a:p>
        </p:txBody>
      </p:sp>
      <p:sp>
        <p:nvSpPr>
          <p:cNvPr id="27" name="Text 25"/>
          <p:cNvSpPr/>
          <p:nvPr/>
        </p:nvSpPr>
        <p:spPr>
          <a:xfrm>
            <a:off x="8503920" y="3703320"/>
            <a:ext cx="3230575" cy="3657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feels like a sandwich shop</a:t>
            </a:r>
            <a:endParaRPr lang="en-US" sz="1100" dirty="0"/>
          </a:p>
        </p:txBody>
      </p:sp>
      <p:sp>
        <p:nvSpPr>
          <p:cNvPr id="28" name="Text 26"/>
          <p:cNvSpPr/>
          <p:nvPr/>
        </p:nvSpPr>
        <p:spPr>
          <a:xfrm>
            <a:off x="6629400" y="4160520"/>
            <a:ext cx="1828800"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The CashCanal</a:t>
            </a:r>
            <a:endParaRPr lang="en-US" sz="1400" dirty="0"/>
          </a:p>
        </p:txBody>
      </p:sp>
      <p:sp>
        <p:nvSpPr>
          <p:cNvPr id="29" name="Text 27"/>
          <p:cNvSpPr/>
          <p:nvPr/>
        </p:nvSpPr>
        <p:spPr>
          <a:xfrm>
            <a:off x="8503920" y="4160520"/>
            <a:ext cx="3230575" cy="3657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menacing yet wet</a:t>
            </a:r>
            <a:endParaRPr lang="en-US" sz="1100" dirty="0"/>
          </a:p>
        </p:txBody>
      </p:sp>
      <p:sp>
        <p:nvSpPr>
          <p:cNvPr id="30" name="Text 28"/>
          <p:cNvSpPr/>
          <p:nvPr/>
        </p:nvSpPr>
        <p:spPr>
          <a:xfrm>
            <a:off x="6629400" y="4617720"/>
            <a:ext cx="1828800"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JackBank.io</a:t>
            </a:r>
            <a:endParaRPr lang="en-US" sz="1400" dirty="0"/>
          </a:p>
        </p:txBody>
      </p:sp>
      <p:sp>
        <p:nvSpPr>
          <p:cNvPr id="31" name="Text 29"/>
          <p:cNvSpPr/>
          <p:nvPr/>
        </p:nvSpPr>
        <p:spPr>
          <a:xfrm>
            <a:off x="8503920" y="4617720"/>
            <a:ext cx="3230575" cy="3657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domain squatter chic</a:t>
            </a:r>
            <a:endParaRPr lang="en-US" sz="1100" dirty="0"/>
          </a:p>
        </p:txBody>
      </p:sp>
      <p:sp>
        <p:nvSpPr>
          <p:cNvPr id="32" name="Text 30"/>
          <p:cNvSpPr/>
          <p:nvPr/>
        </p:nvSpPr>
        <p:spPr>
          <a:xfrm>
            <a:off x="6629400" y="5074920"/>
            <a:ext cx="1828800"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Henrify</a:t>
            </a:r>
            <a:endParaRPr lang="en-US" sz="1400" dirty="0"/>
          </a:p>
        </p:txBody>
      </p:sp>
      <p:sp>
        <p:nvSpPr>
          <p:cNvPr id="33" name="Text 31"/>
          <p:cNvSpPr/>
          <p:nvPr/>
        </p:nvSpPr>
        <p:spPr>
          <a:xfrm>
            <a:off x="8503920" y="5074920"/>
            <a:ext cx="3230575" cy="3657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verbing what should not be verbed</a:t>
            </a:r>
            <a:endParaRPr lang="en-US" sz="1100" dirty="0"/>
          </a:p>
        </p:txBody>
      </p:sp>
      <p:sp>
        <p:nvSpPr>
          <p:cNvPr id="34" name="Text 32"/>
          <p:cNvSpPr/>
          <p:nvPr/>
        </p:nvSpPr>
        <p:spPr>
          <a:xfrm>
            <a:off x="6629400" y="5532120"/>
            <a:ext cx="1828800"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BankBuddy 2.0</a:t>
            </a:r>
            <a:endParaRPr lang="en-US" sz="1400" dirty="0"/>
          </a:p>
        </p:txBody>
      </p:sp>
      <p:sp>
        <p:nvSpPr>
          <p:cNvPr id="35" name="Text 33"/>
          <p:cNvSpPr/>
          <p:nvPr/>
        </p:nvSpPr>
        <p:spPr>
          <a:xfrm>
            <a:off x="8503920" y="5532120"/>
            <a:ext cx="3230575" cy="3657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the 2.0 is doing all the work</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320040"/>
            <a:ext cx="2194560" cy="292608"/>
          </a:xfrm>
          <a:prstGeom prst="roundRect">
            <a:avLst>
              <a:gd name="adj" fmla="val 50000"/>
            </a:avLst>
          </a:prstGeom>
          <a:solidFill>
            <a:srgbClr val="CCFBF1"/>
          </a:solidFill>
          <a:ln w="12700">
            <a:solidFill>
              <a:srgbClr val="CCFBF1"/>
            </a:solidFill>
            <a:prstDash val="solid"/>
          </a:ln>
        </p:spPr>
        <p:txBody>
          <a:bodyPr/>
          <a:lstStyle/>
          <a:p>
            <a:endParaRPr lang="en-US"/>
          </a:p>
        </p:txBody>
      </p:sp>
      <p:sp>
        <p:nvSpPr>
          <p:cNvPr id="3" name="Text 1"/>
          <p:cNvSpPr/>
          <p:nvPr/>
        </p:nvSpPr>
        <p:spPr>
          <a:xfrm>
            <a:off x="457200" y="320040"/>
            <a:ext cx="2194560" cy="292608"/>
          </a:xfrm>
          <a:prstGeom prst="rect">
            <a:avLst/>
          </a:prstGeom>
          <a:noFill/>
          <a:ln/>
        </p:spPr>
        <p:txBody>
          <a:bodyPr wrap="square" lIns="0" tIns="0" rIns="0" bIns="0" rtlCol="0" anchor="ctr"/>
          <a:lstStyle/>
          <a:p>
            <a:pPr marL="0" indent="0" algn="ctr">
              <a:buNone/>
            </a:pPr>
            <a:r>
              <a:rPr lang="en-US" sz="1000" b="1" kern="0" spc="400" dirty="0">
                <a:solidFill>
                  <a:srgbClr val="0D9488"/>
                </a:solidFill>
                <a:latin typeface="Calibri" pitchFamily="34" charset="0"/>
                <a:ea typeface="Calibri" pitchFamily="34" charset="-122"/>
                <a:cs typeface="Calibri" pitchFamily="34" charset="-120"/>
              </a:rPr>
              <a:t>APPENDIX · GAME 03</a:t>
            </a:r>
            <a:endParaRPr lang="en-US" sz="10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JHBI Quarterly Update  ·  Q2 2026</a:t>
            </a:r>
            <a:endParaRPr lang="en-US" sz="900" dirty="0"/>
          </a:p>
        </p:txBody>
      </p:sp>
      <p:sp>
        <p:nvSpPr>
          <p:cNvPr id="5" name="Text 3"/>
          <p:cNvSpPr/>
          <p:nvPr/>
        </p:nvSpPr>
        <p:spPr>
          <a:xfrm>
            <a:off x="10820095" y="64922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38 / 38</a:t>
            </a:r>
            <a:endParaRPr lang="en-US" sz="900" dirty="0"/>
          </a:p>
        </p:txBody>
      </p:sp>
      <p:sp>
        <p:nvSpPr>
          <p:cNvPr id="6" name="Text 4"/>
          <p:cNvSpPr/>
          <p:nvPr/>
        </p:nvSpPr>
        <p:spPr>
          <a:xfrm>
            <a:off x="457200" y="777240"/>
            <a:ext cx="11277295" cy="64008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Quarter in Six Words</a:t>
            </a:r>
            <a:endParaRPr lang="en-US" sz="3200" dirty="0"/>
          </a:p>
        </p:txBody>
      </p:sp>
      <p:sp>
        <p:nvSpPr>
          <p:cNvPr id="7" name="Text 5"/>
          <p:cNvSpPr/>
          <p:nvPr/>
        </p:nvSpPr>
        <p:spPr>
          <a:xfrm>
            <a:off x="457200" y="1417320"/>
            <a:ext cx="11277295"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Hemingway-style. Exactly six. Goes fast. Stays with you.</a:t>
            </a:r>
            <a:endParaRPr lang="en-US" sz="1400" dirty="0"/>
          </a:p>
        </p:txBody>
      </p:sp>
      <p:sp>
        <p:nvSpPr>
          <p:cNvPr id="8" name="Shape 6"/>
          <p:cNvSpPr/>
          <p:nvPr/>
        </p:nvSpPr>
        <p:spPr>
          <a:xfrm>
            <a:off x="457200" y="2103120"/>
            <a:ext cx="2103120" cy="411480"/>
          </a:xfrm>
          <a:prstGeom prst="roundRect">
            <a:avLst>
              <a:gd name="adj" fmla="val 48889"/>
            </a:avLst>
          </a:prstGeom>
          <a:solidFill>
            <a:srgbClr val="FFFFFF"/>
          </a:solidFill>
          <a:ln w="12700">
            <a:solidFill>
              <a:srgbClr val="F59E0B"/>
            </a:solidFill>
            <a:prstDash val="solid"/>
          </a:ln>
        </p:spPr>
        <p:txBody>
          <a:bodyPr/>
          <a:lstStyle/>
          <a:p>
            <a:endParaRPr lang="en-US"/>
          </a:p>
        </p:txBody>
      </p:sp>
      <p:sp>
        <p:nvSpPr>
          <p:cNvPr id="9" name="Text 7"/>
          <p:cNvSpPr/>
          <p:nvPr/>
        </p:nvSpPr>
        <p:spPr>
          <a:xfrm>
            <a:off x="640080" y="2103120"/>
            <a:ext cx="914400" cy="411480"/>
          </a:xfrm>
          <a:prstGeom prst="rect">
            <a:avLst/>
          </a:prstGeom>
          <a:noFill/>
          <a:ln/>
        </p:spPr>
        <p:txBody>
          <a:bodyPr wrap="square" lIns="0" tIns="0" rIns="0" bIns="0" rtlCol="0" anchor="ctr"/>
          <a:lstStyle/>
          <a:p>
            <a:pPr marL="0" indent="0">
              <a:buNone/>
            </a:pPr>
            <a:r>
              <a:rPr lang="en-US" sz="900" b="1" kern="0" spc="200" dirty="0">
                <a:solidFill>
                  <a:srgbClr val="F59E0B"/>
                </a:solidFill>
                <a:latin typeface="Calibri" pitchFamily="34" charset="0"/>
                <a:ea typeface="Calibri" pitchFamily="34" charset="-122"/>
                <a:cs typeface="Calibri" pitchFamily="34" charset="-120"/>
              </a:rPr>
              <a:t>TIME</a:t>
            </a:r>
            <a:endParaRPr lang="en-US" sz="900" dirty="0"/>
          </a:p>
        </p:txBody>
      </p:sp>
      <p:sp>
        <p:nvSpPr>
          <p:cNvPr id="10" name="Text 8"/>
          <p:cNvSpPr/>
          <p:nvPr/>
        </p:nvSpPr>
        <p:spPr>
          <a:xfrm>
            <a:off x="1463040" y="2103120"/>
            <a:ext cx="1005840" cy="41148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5 minutes</a:t>
            </a:r>
            <a:endParaRPr lang="en-US" sz="1200" dirty="0"/>
          </a:p>
        </p:txBody>
      </p:sp>
      <p:sp>
        <p:nvSpPr>
          <p:cNvPr id="11" name="Shape 9"/>
          <p:cNvSpPr/>
          <p:nvPr/>
        </p:nvSpPr>
        <p:spPr>
          <a:xfrm>
            <a:off x="2697480" y="2103120"/>
            <a:ext cx="4206240" cy="411480"/>
          </a:xfrm>
          <a:prstGeom prst="roundRect">
            <a:avLst>
              <a:gd name="adj" fmla="val 48889"/>
            </a:avLst>
          </a:prstGeom>
          <a:solidFill>
            <a:srgbClr val="FFFFFF"/>
          </a:solidFill>
          <a:ln w="12700">
            <a:solidFill>
              <a:srgbClr val="F59E0B"/>
            </a:solidFill>
            <a:prstDash val="solid"/>
          </a:ln>
        </p:spPr>
        <p:txBody>
          <a:bodyPr/>
          <a:lstStyle/>
          <a:p>
            <a:endParaRPr lang="en-US"/>
          </a:p>
        </p:txBody>
      </p:sp>
      <p:sp>
        <p:nvSpPr>
          <p:cNvPr id="12" name="Text 10"/>
          <p:cNvSpPr/>
          <p:nvPr/>
        </p:nvSpPr>
        <p:spPr>
          <a:xfrm>
            <a:off x="2880360" y="2103120"/>
            <a:ext cx="914400" cy="411480"/>
          </a:xfrm>
          <a:prstGeom prst="rect">
            <a:avLst/>
          </a:prstGeom>
          <a:noFill/>
          <a:ln/>
        </p:spPr>
        <p:txBody>
          <a:bodyPr wrap="square" lIns="0" tIns="0" rIns="0" bIns="0" rtlCol="0" anchor="ctr"/>
          <a:lstStyle/>
          <a:p>
            <a:pPr marL="0" indent="0">
              <a:buNone/>
            </a:pPr>
            <a:r>
              <a:rPr lang="en-US" sz="900" b="1" kern="0" spc="200" dirty="0">
                <a:solidFill>
                  <a:srgbClr val="F59E0B"/>
                </a:solidFill>
                <a:latin typeface="Calibri" pitchFamily="34" charset="0"/>
                <a:ea typeface="Calibri" pitchFamily="34" charset="-122"/>
                <a:cs typeface="Calibri" pitchFamily="34" charset="-120"/>
              </a:rPr>
              <a:t>FORMAT</a:t>
            </a:r>
            <a:endParaRPr lang="en-US" sz="900" dirty="0"/>
          </a:p>
        </p:txBody>
      </p:sp>
      <p:sp>
        <p:nvSpPr>
          <p:cNvPr id="13" name="Text 11"/>
          <p:cNvSpPr/>
          <p:nvPr/>
        </p:nvSpPr>
        <p:spPr>
          <a:xfrm>
            <a:off x="3703320" y="2103120"/>
            <a:ext cx="3108960" cy="41148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Round robin — everyone, no skips</a:t>
            </a:r>
            <a:endParaRPr lang="en-US" sz="1200" dirty="0"/>
          </a:p>
        </p:txBody>
      </p:sp>
      <p:sp>
        <p:nvSpPr>
          <p:cNvPr id="14" name="Shape 12"/>
          <p:cNvSpPr/>
          <p:nvPr/>
        </p:nvSpPr>
        <p:spPr>
          <a:xfrm>
            <a:off x="7040880" y="2103120"/>
            <a:ext cx="4480560" cy="411480"/>
          </a:xfrm>
          <a:prstGeom prst="roundRect">
            <a:avLst>
              <a:gd name="adj" fmla="val 48889"/>
            </a:avLst>
          </a:prstGeom>
          <a:solidFill>
            <a:srgbClr val="FFFFFF"/>
          </a:solidFill>
          <a:ln w="12700">
            <a:solidFill>
              <a:srgbClr val="0D9488"/>
            </a:solidFill>
            <a:prstDash val="solid"/>
          </a:ln>
        </p:spPr>
        <p:txBody>
          <a:bodyPr/>
          <a:lstStyle/>
          <a:p>
            <a:endParaRPr lang="en-US"/>
          </a:p>
        </p:txBody>
      </p:sp>
      <p:sp>
        <p:nvSpPr>
          <p:cNvPr id="15" name="Text 13"/>
          <p:cNvSpPr/>
          <p:nvPr/>
        </p:nvSpPr>
        <p:spPr>
          <a:xfrm>
            <a:off x="7223760" y="2103120"/>
            <a:ext cx="914400" cy="411480"/>
          </a:xfrm>
          <a:prstGeom prst="rect">
            <a:avLst/>
          </a:prstGeom>
          <a:noFill/>
          <a:ln/>
        </p:spPr>
        <p:txBody>
          <a:bodyPr wrap="square" lIns="0" tIns="0" rIns="0" bIns="0" rtlCol="0" anchor="ctr"/>
          <a:lstStyle/>
          <a:p>
            <a:pPr marL="0" indent="0">
              <a:buNone/>
            </a:pPr>
            <a:r>
              <a:rPr lang="en-US" sz="900" b="1" kern="0" spc="200" dirty="0">
                <a:solidFill>
                  <a:srgbClr val="0D9488"/>
                </a:solidFill>
                <a:latin typeface="Calibri" pitchFamily="34" charset="0"/>
                <a:ea typeface="Calibri" pitchFamily="34" charset="-122"/>
                <a:cs typeface="Calibri" pitchFamily="34" charset="-120"/>
              </a:rPr>
              <a:t>MATERIALS</a:t>
            </a:r>
            <a:endParaRPr lang="en-US" sz="900" dirty="0"/>
          </a:p>
        </p:txBody>
      </p:sp>
      <p:sp>
        <p:nvSpPr>
          <p:cNvPr id="16" name="Text 14"/>
          <p:cNvSpPr/>
          <p:nvPr/>
        </p:nvSpPr>
        <p:spPr>
          <a:xfrm>
            <a:off x="8046720" y="2103120"/>
            <a:ext cx="3383280" cy="41148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None (or one shared doc to capture)</a:t>
            </a:r>
            <a:endParaRPr lang="en-US" sz="1200" dirty="0"/>
          </a:p>
        </p:txBody>
      </p:sp>
      <p:sp>
        <p:nvSpPr>
          <p:cNvPr id="17" name="Shape 15"/>
          <p:cNvSpPr/>
          <p:nvPr/>
        </p:nvSpPr>
        <p:spPr>
          <a:xfrm>
            <a:off x="457200" y="2743200"/>
            <a:ext cx="5669280" cy="3657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8" name="Shape 16"/>
          <p:cNvSpPr/>
          <p:nvPr/>
        </p:nvSpPr>
        <p:spPr>
          <a:xfrm>
            <a:off x="457200" y="2743200"/>
            <a:ext cx="73152" cy="3657600"/>
          </a:xfrm>
          <a:prstGeom prst="rect">
            <a:avLst/>
          </a:prstGeom>
          <a:solidFill>
            <a:srgbClr val="F59E0B"/>
          </a:solidFill>
          <a:ln w="12700">
            <a:solidFill>
              <a:srgbClr val="F59E0B"/>
            </a:solidFill>
            <a:prstDash val="solid"/>
          </a:ln>
        </p:spPr>
        <p:txBody>
          <a:bodyPr/>
          <a:lstStyle/>
          <a:p>
            <a:endParaRPr lang="en-US"/>
          </a:p>
        </p:txBody>
      </p:sp>
      <p:sp>
        <p:nvSpPr>
          <p:cNvPr id="19" name="Text 17"/>
          <p:cNvSpPr/>
          <p:nvPr/>
        </p:nvSpPr>
        <p:spPr>
          <a:xfrm>
            <a:off x="685800" y="2880360"/>
            <a:ext cx="5029200" cy="365760"/>
          </a:xfrm>
          <a:prstGeom prst="rect">
            <a:avLst/>
          </a:prstGeom>
          <a:noFill/>
          <a:ln/>
        </p:spPr>
        <p:txBody>
          <a:bodyPr wrap="square" lIns="0" tIns="0" rIns="0" bIns="0" rtlCol="0" anchor="ctr"/>
          <a:lstStyle/>
          <a:p>
            <a:pPr marL="0" indent="0">
              <a:buNone/>
            </a:pPr>
            <a:r>
              <a:rPr lang="en-US" sz="1200" b="1" kern="0" spc="300" dirty="0">
                <a:solidFill>
                  <a:srgbClr val="64748B"/>
                </a:solidFill>
                <a:latin typeface="Calibri" pitchFamily="34" charset="0"/>
                <a:ea typeface="Calibri" pitchFamily="34" charset="-122"/>
                <a:cs typeface="Calibri" pitchFamily="34" charset="-120"/>
              </a:rPr>
              <a:t>How to play</a:t>
            </a:r>
            <a:endParaRPr lang="en-US" sz="1200" dirty="0"/>
          </a:p>
        </p:txBody>
      </p:sp>
      <p:sp>
        <p:nvSpPr>
          <p:cNvPr id="20" name="Text 18"/>
          <p:cNvSpPr/>
          <p:nvPr/>
        </p:nvSpPr>
        <p:spPr>
          <a:xfrm>
            <a:off x="685800" y="3246120"/>
            <a:ext cx="5212080" cy="3017520"/>
          </a:xfrm>
          <a:prstGeom prst="rect">
            <a:avLst/>
          </a:prstGeom>
          <a:noFill/>
          <a:ln/>
        </p:spPr>
        <p:txBody>
          <a:bodyPr wrap="square" lIns="0" tIns="0" rIns="0" bIns="0" rtlCol="0" anchor="t"/>
          <a:lstStyle/>
          <a:p>
            <a:pPr marL="0" indent="0">
              <a:spcAft>
                <a:spcPts val="800"/>
              </a:spcAft>
              <a:buNone/>
            </a:pPr>
            <a:r>
              <a:rPr lang="en-US" sz="1200" b="1" dirty="0">
                <a:solidFill>
                  <a:srgbClr val="F59E0B"/>
                </a:solidFill>
                <a:latin typeface="Calibri" pitchFamily="34" charset="0"/>
                <a:ea typeface="Calibri" pitchFamily="34" charset="-122"/>
                <a:cs typeface="Calibri" pitchFamily="34" charset="-120"/>
              </a:rPr>
              <a:t>1.  </a:t>
            </a:r>
            <a:r>
              <a:rPr lang="en-US" sz="1200" dirty="0">
                <a:solidFill>
                  <a:srgbClr val="334155"/>
                </a:solidFill>
                <a:latin typeface="Calibri" pitchFamily="34" charset="0"/>
                <a:ea typeface="Calibri" pitchFamily="34" charset="-122"/>
                <a:cs typeface="Calibri" pitchFamily="34" charset="-120"/>
              </a:rPr>
              <a:t>Each person summarizes the entire quarter in exactly six words. Not five. Not seven.</a:t>
            </a:r>
            <a:endParaRPr lang="en-US" sz="1200" dirty="0"/>
          </a:p>
          <a:p>
            <a:pPr marL="0" indent="0">
              <a:spcAft>
                <a:spcPts val="800"/>
              </a:spcAft>
              <a:buNone/>
            </a:pPr>
            <a:r>
              <a:rPr lang="en-US" sz="1200" b="1" dirty="0">
                <a:solidFill>
                  <a:srgbClr val="F59E0B"/>
                </a:solidFill>
                <a:latin typeface="Calibri" pitchFamily="34" charset="0"/>
                <a:ea typeface="Calibri" pitchFamily="34" charset="-122"/>
                <a:cs typeface="Calibri" pitchFamily="34" charset="-120"/>
              </a:rPr>
              <a:t>2.  </a:t>
            </a:r>
            <a:r>
              <a:rPr lang="en-US" sz="1200" dirty="0">
                <a:solidFill>
                  <a:srgbClr val="334155"/>
                </a:solidFill>
                <a:latin typeface="Calibri" pitchFamily="34" charset="0"/>
                <a:ea typeface="Calibri" pitchFamily="34" charset="-122"/>
                <a:cs typeface="Calibri" pitchFamily="34" charset="-120"/>
              </a:rPr>
              <a:t>30 seconds of silent thinking. Then mic goes around. No skipping.</a:t>
            </a:r>
            <a:endParaRPr lang="en-US" sz="1200" dirty="0"/>
          </a:p>
          <a:p>
            <a:pPr marL="0" indent="0">
              <a:spcAft>
                <a:spcPts val="800"/>
              </a:spcAft>
              <a:buNone/>
            </a:pPr>
            <a:r>
              <a:rPr lang="en-US" sz="1200" b="1" dirty="0">
                <a:solidFill>
                  <a:srgbClr val="F59E0B"/>
                </a:solidFill>
                <a:latin typeface="Calibri" pitchFamily="34" charset="0"/>
                <a:ea typeface="Calibri" pitchFamily="34" charset="-122"/>
                <a:cs typeface="Calibri" pitchFamily="34" charset="-120"/>
              </a:rPr>
              <a:t>3.  </a:t>
            </a:r>
            <a:r>
              <a:rPr lang="en-US" sz="1200" dirty="0">
                <a:solidFill>
                  <a:srgbClr val="334155"/>
                </a:solidFill>
                <a:latin typeface="Calibri" pitchFamily="34" charset="0"/>
                <a:ea typeface="Calibri" pitchFamily="34" charset="-122"/>
                <a:cs typeface="Calibri" pitchFamily="34" charset="-120"/>
              </a:rPr>
              <a:t>No commentary between answers. Just listen. Resist the urge to react.</a:t>
            </a:r>
            <a:endParaRPr lang="en-US" sz="1200" dirty="0"/>
          </a:p>
          <a:p>
            <a:pPr marL="0" indent="0">
              <a:spcAft>
                <a:spcPts val="800"/>
              </a:spcAft>
              <a:buNone/>
            </a:pPr>
            <a:r>
              <a:rPr lang="en-US" sz="1200" b="1" dirty="0">
                <a:solidFill>
                  <a:srgbClr val="F59E0B"/>
                </a:solidFill>
                <a:latin typeface="Calibri" pitchFamily="34" charset="0"/>
                <a:ea typeface="Calibri" pitchFamily="34" charset="-122"/>
                <a:cs typeface="Calibri" pitchFamily="34" charset="-120"/>
              </a:rPr>
              <a:t>4.  </a:t>
            </a:r>
            <a:r>
              <a:rPr lang="en-US" sz="1200" dirty="0">
                <a:solidFill>
                  <a:srgbClr val="334155"/>
                </a:solidFill>
                <a:latin typeface="Calibri" pitchFamily="34" charset="0"/>
                <a:ea typeface="Calibri" pitchFamily="34" charset="-122"/>
                <a:cs typeface="Calibri" pitchFamily="34" charset="-120"/>
              </a:rPr>
              <a:t>Designated scribe types every answer into a shared doc as people speak.</a:t>
            </a:r>
            <a:endParaRPr lang="en-US" sz="1200" dirty="0"/>
          </a:p>
          <a:p>
            <a:pPr marL="0" indent="0">
              <a:spcAft>
                <a:spcPts val="800"/>
              </a:spcAft>
              <a:buNone/>
            </a:pPr>
            <a:r>
              <a:rPr lang="en-US" sz="1200" b="1" dirty="0">
                <a:solidFill>
                  <a:srgbClr val="F59E0B"/>
                </a:solidFill>
                <a:latin typeface="Calibri" pitchFamily="34" charset="0"/>
                <a:ea typeface="Calibri" pitchFamily="34" charset="-122"/>
                <a:cs typeface="Calibri" pitchFamily="34" charset="-120"/>
              </a:rPr>
              <a:t>5.  </a:t>
            </a:r>
            <a:r>
              <a:rPr lang="en-US" sz="1200" dirty="0">
                <a:solidFill>
                  <a:srgbClr val="334155"/>
                </a:solidFill>
                <a:latin typeface="Calibri" pitchFamily="34" charset="0"/>
                <a:ea typeface="Calibri" pitchFamily="34" charset="-122"/>
                <a:cs typeface="Calibri" pitchFamily="34" charset="-120"/>
              </a:rPr>
              <a:t>Best as the closer — right before the Thank you slide.</a:t>
            </a:r>
            <a:endParaRPr lang="en-US" sz="1200" dirty="0"/>
          </a:p>
        </p:txBody>
      </p:sp>
      <p:sp>
        <p:nvSpPr>
          <p:cNvPr id="21" name="Shape 19"/>
          <p:cNvSpPr/>
          <p:nvPr/>
        </p:nvSpPr>
        <p:spPr>
          <a:xfrm>
            <a:off x="6355080" y="2743200"/>
            <a:ext cx="5379415" cy="3657600"/>
          </a:xfrm>
          <a:prstGeom prst="rect">
            <a:avLst/>
          </a:prstGeom>
          <a:solidFill>
            <a:srgbClr val="FFFFFF"/>
          </a:solidFill>
          <a:ln w="9525">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2" name="Shape 20"/>
          <p:cNvSpPr/>
          <p:nvPr/>
        </p:nvSpPr>
        <p:spPr>
          <a:xfrm>
            <a:off x="6355080" y="2743200"/>
            <a:ext cx="73152" cy="3657600"/>
          </a:xfrm>
          <a:prstGeom prst="rect">
            <a:avLst/>
          </a:prstGeom>
          <a:solidFill>
            <a:srgbClr val="0D9488"/>
          </a:solidFill>
          <a:ln w="12700">
            <a:solidFill>
              <a:srgbClr val="0D9488"/>
            </a:solidFill>
            <a:prstDash val="solid"/>
          </a:ln>
        </p:spPr>
        <p:txBody>
          <a:bodyPr/>
          <a:lstStyle/>
          <a:p>
            <a:endParaRPr lang="en-US"/>
          </a:p>
        </p:txBody>
      </p:sp>
      <p:sp>
        <p:nvSpPr>
          <p:cNvPr id="23" name="Text 21"/>
          <p:cNvSpPr/>
          <p:nvPr/>
        </p:nvSpPr>
        <p:spPr>
          <a:xfrm>
            <a:off x="6583680" y="2880360"/>
            <a:ext cx="5029200" cy="365760"/>
          </a:xfrm>
          <a:prstGeom prst="rect">
            <a:avLst/>
          </a:prstGeom>
          <a:noFill/>
          <a:ln/>
        </p:spPr>
        <p:txBody>
          <a:bodyPr wrap="square" lIns="0" tIns="0" rIns="0" bIns="0" rtlCol="0" anchor="ctr"/>
          <a:lstStyle/>
          <a:p>
            <a:pPr marL="0" indent="0">
              <a:buNone/>
            </a:pPr>
            <a:r>
              <a:rPr lang="en-US" sz="1200" b="1" kern="0" spc="300" dirty="0">
                <a:solidFill>
                  <a:srgbClr val="64748B"/>
                </a:solidFill>
                <a:latin typeface="Calibri" pitchFamily="34" charset="0"/>
                <a:ea typeface="Calibri" pitchFamily="34" charset="-122"/>
                <a:cs typeface="Calibri" pitchFamily="34" charset="-120"/>
              </a:rPr>
              <a:t>Examples to set the tone</a:t>
            </a:r>
            <a:endParaRPr lang="en-US" sz="1200" dirty="0"/>
          </a:p>
        </p:txBody>
      </p:sp>
      <p:sp>
        <p:nvSpPr>
          <p:cNvPr id="24" name="Text 22"/>
          <p:cNvSpPr/>
          <p:nvPr/>
        </p:nvSpPr>
        <p:spPr>
          <a:xfrm>
            <a:off x="6629400" y="3246120"/>
            <a:ext cx="5105095" cy="411480"/>
          </a:xfrm>
          <a:prstGeom prst="rect">
            <a:avLst/>
          </a:prstGeom>
          <a:noFill/>
          <a:ln/>
        </p:spPr>
        <p:txBody>
          <a:bodyPr wrap="square" lIns="0" tIns="0" rIns="0" bIns="0" rtlCol="0" anchor="ctr"/>
          <a:lstStyle/>
          <a:p>
            <a:pPr marL="0" indent="0">
              <a:buNone/>
            </a:pPr>
            <a:r>
              <a:rPr lang="en-US" sz="1400" i="1" dirty="0">
                <a:solidFill>
                  <a:srgbClr val="1E293B"/>
                </a:solidFill>
                <a:latin typeface="Calibri" pitchFamily="34" charset="0"/>
                <a:ea typeface="Calibri" pitchFamily="34" charset="-122"/>
                <a:cs typeface="Calibri" pitchFamily="34" charset="-120"/>
              </a:rPr>
              <a:t>"Built a lot. Slept too little."</a:t>
            </a:r>
            <a:endParaRPr lang="en-US" sz="1400" dirty="0"/>
          </a:p>
        </p:txBody>
      </p:sp>
      <p:sp>
        <p:nvSpPr>
          <p:cNvPr id="25" name="Text 23"/>
          <p:cNvSpPr/>
          <p:nvPr/>
        </p:nvSpPr>
        <p:spPr>
          <a:xfrm>
            <a:off x="6629400" y="3721608"/>
            <a:ext cx="5105095" cy="411480"/>
          </a:xfrm>
          <a:prstGeom prst="rect">
            <a:avLst/>
          </a:prstGeom>
          <a:noFill/>
          <a:ln/>
        </p:spPr>
        <p:txBody>
          <a:bodyPr wrap="square" lIns="0" tIns="0" rIns="0" bIns="0" rtlCol="0" anchor="ctr"/>
          <a:lstStyle/>
          <a:p>
            <a:pPr marL="0" indent="0">
              <a:buNone/>
            </a:pPr>
            <a:r>
              <a:rPr lang="en-US" sz="1400" i="1" dirty="0">
                <a:solidFill>
                  <a:srgbClr val="1E293B"/>
                </a:solidFill>
                <a:latin typeface="Calibri" pitchFamily="34" charset="0"/>
                <a:ea typeface="Calibri" pitchFamily="34" charset="-122"/>
                <a:cs typeface="Calibri" pitchFamily="34" charset="-120"/>
              </a:rPr>
              <a:t>"PCI scoping aged me ten years."</a:t>
            </a:r>
            <a:endParaRPr lang="en-US" sz="1400" dirty="0"/>
          </a:p>
        </p:txBody>
      </p:sp>
      <p:sp>
        <p:nvSpPr>
          <p:cNvPr id="26" name="Text 24"/>
          <p:cNvSpPr/>
          <p:nvPr/>
        </p:nvSpPr>
        <p:spPr>
          <a:xfrm>
            <a:off x="6629400" y="4197096"/>
            <a:ext cx="5105095" cy="411480"/>
          </a:xfrm>
          <a:prstGeom prst="rect">
            <a:avLst/>
          </a:prstGeom>
          <a:noFill/>
          <a:ln/>
        </p:spPr>
        <p:txBody>
          <a:bodyPr wrap="square" lIns="0" tIns="0" rIns="0" bIns="0" rtlCol="0" anchor="ctr"/>
          <a:lstStyle/>
          <a:p>
            <a:pPr marL="0" indent="0">
              <a:buNone/>
            </a:pPr>
            <a:r>
              <a:rPr lang="en-US" sz="1400" i="1" dirty="0">
                <a:solidFill>
                  <a:srgbClr val="1E293B"/>
                </a:solidFill>
                <a:latin typeface="Calibri" pitchFamily="34" charset="0"/>
                <a:ea typeface="Calibri" pitchFamily="34" charset="-122"/>
                <a:cs typeface="Calibri" pitchFamily="34" charset="-120"/>
              </a:rPr>
              <a:t>"Onboarding hell. Then everything else worked."</a:t>
            </a:r>
            <a:endParaRPr lang="en-US" sz="1400" dirty="0"/>
          </a:p>
        </p:txBody>
      </p:sp>
      <p:sp>
        <p:nvSpPr>
          <p:cNvPr id="27" name="Text 25"/>
          <p:cNvSpPr/>
          <p:nvPr/>
        </p:nvSpPr>
        <p:spPr>
          <a:xfrm>
            <a:off x="6629400" y="4672584"/>
            <a:ext cx="5105095" cy="411480"/>
          </a:xfrm>
          <a:prstGeom prst="rect">
            <a:avLst/>
          </a:prstGeom>
          <a:noFill/>
          <a:ln/>
        </p:spPr>
        <p:txBody>
          <a:bodyPr wrap="square" lIns="0" tIns="0" rIns="0" bIns="0" rtlCol="0" anchor="ctr"/>
          <a:lstStyle/>
          <a:p>
            <a:pPr marL="0" indent="0">
              <a:buNone/>
            </a:pPr>
            <a:r>
              <a:rPr lang="en-US" sz="1400" i="1" dirty="0">
                <a:solidFill>
                  <a:srgbClr val="1E293B"/>
                </a:solidFill>
                <a:latin typeface="Calibri" pitchFamily="34" charset="0"/>
                <a:ea typeface="Calibri" pitchFamily="34" charset="-122"/>
                <a:cs typeface="Calibri" pitchFamily="34" charset="-120"/>
              </a:rPr>
              <a:t>"Debezium said no. Then said yes."</a:t>
            </a:r>
            <a:endParaRPr lang="en-US" sz="1400" dirty="0"/>
          </a:p>
        </p:txBody>
      </p:sp>
      <p:sp>
        <p:nvSpPr>
          <p:cNvPr id="28" name="Text 26"/>
          <p:cNvSpPr/>
          <p:nvPr/>
        </p:nvSpPr>
        <p:spPr>
          <a:xfrm>
            <a:off x="6629400" y="5148072"/>
            <a:ext cx="5105095" cy="411480"/>
          </a:xfrm>
          <a:prstGeom prst="rect">
            <a:avLst/>
          </a:prstGeom>
          <a:noFill/>
          <a:ln/>
        </p:spPr>
        <p:txBody>
          <a:bodyPr wrap="square" lIns="0" tIns="0" rIns="0" bIns="0" rtlCol="0" anchor="ctr"/>
          <a:lstStyle/>
          <a:p>
            <a:pPr marL="0" indent="0">
              <a:buNone/>
            </a:pPr>
            <a:r>
              <a:rPr lang="en-US" sz="1400" i="1" dirty="0">
                <a:solidFill>
                  <a:srgbClr val="1E293B"/>
                </a:solidFill>
                <a:latin typeface="Calibri" pitchFamily="34" charset="0"/>
                <a:ea typeface="Calibri" pitchFamily="34" charset="-122"/>
                <a:cs typeface="Calibri" pitchFamily="34" charset="-120"/>
              </a:rPr>
              <a:t>"Webinars more popular than expected, honestly."</a:t>
            </a:r>
            <a:endParaRPr lang="en-US" sz="1400" dirty="0"/>
          </a:p>
        </p:txBody>
      </p:sp>
      <p:sp>
        <p:nvSpPr>
          <p:cNvPr id="29" name="Text 27"/>
          <p:cNvSpPr/>
          <p:nvPr/>
        </p:nvSpPr>
        <p:spPr>
          <a:xfrm>
            <a:off x="6629400" y="5623560"/>
            <a:ext cx="5105095" cy="411480"/>
          </a:xfrm>
          <a:prstGeom prst="rect">
            <a:avLst/>
          </a:prstGeom>
          <a:noFill/>
          <a:ln/>
        </p:spPr>
        <p:txBody>
          <a:bodyPr wrap="square" lIns="0" tIns="0" rIns="0" bIns="0" rtlCol="0" anchor="ctr"/>
          <a:lstStyle/>
          <a:p>
            <a:pPr marL="0" indent="0">
              <a:buNone/>
            </a:pPr>
            <a:r>
              <a:rPr lang="en-US" sz="1400" i="1" dirty="0">
                <a:solidFill>
                  <a:srgbClr val="1E293B"/>
                </a:solidFill>
                <a:latin typeface="Calibri" pitchFamily="34" charset="0"/>
                <a:ea typeface="Calibri" pitchFamily="34" charset="-122"/>
                <a:cs typeface="Calibri" pitchFamily="34" charset="-120"/>
              </a:rPr>
              <a:t>"Behind on schedule. Ahead on demand."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6030</Words>
  <Application>Microsoft Macintosh PowerPoint</Application>
  <PresentationFormat>Widescreen</PresentationFormat>
  <Paragraphs>727</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JHBI Quarterly Update</dc:title>
  <dc:subject>PptxGenJS Presentation</dc:subject>
  <dc:creator>Mike Ames</dc:creator>
  <cp:lastModifiedBy>Mike Ames</cp:lastModifiedBy>
  <cp:revision>2</cp:revision>
  <dcterms:created xsi:type="dcterms:W3CDTF">2026-05-11T16:04:29Z</dcterms:created>
  <dcterms:modified xsi:type="dcterms:W3CDTF">2026-05-11T16:13:20Z</dcterms:modified>
</cp:coreProperties>
</file>