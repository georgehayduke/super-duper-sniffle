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223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67160" y="0"/>
            <a:ext cx="164592" cy="22860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75520" y="-731520"/>
            <a:ext cx="2926080" cy="2926080"/>
          </a:xfrm>
          <a:prstGeom prst="ellipse">
            <a:avLst/>
          </a:prstGeom>
          <a:solidFill>
            <a:srgbClr val="0D7A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 |  DATA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Powering Intelligent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Across Banking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Data Science Resource for Internal Teams &amp; JHBI Clients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709160"/>
            <a:ext cx="50292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Central Data Science Resource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the Entire Enterprise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Jack Henry Data Science team operates as a shared center of excellence — embedded within the organization but serving every business unit. We partner with internal teams and JHBI to build models, analytics, and AI-powered applications that create measurable value for community and regional financial institutions.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566160"/>
            <a:ext cx="3474720" cy="228600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Across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3566160"/>
            <a:ext cx="3474720" cy="228600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3749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JHBI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389120" y="46177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Models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Applications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3566160"/>
            <a:ext cx="3474720" cy="228600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38160" y="3749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38160" y="46177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27048"/>
            <a:ext cx="256032" cy="256032"/>
          </a:xfrm>
          <a:prstGeom prst="ellipse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90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Models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risk, propensity scoring, fraud detection, and behavioral segmentation models tailored for financial institutions.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459736"/>
            <a:ext cx="256032" cy="256032"/>
          </a:xfrm>
          <a:prstGeom prst="ellipse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Applications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73405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AI-powered products integrated into JHBI and core banking workflows.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392424"/>
            <a:ext cx="256032" cy="256032"/>
          </a:xfrm>
          <a:prstGeom prst="ellipse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355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Engineering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66674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stores, data pipelines, and model infrastructure to support production deployments.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325112"/>
            <a:ext cx="256032" cy="256032"/>
          </a:xfrm>
          <a:prstGeom prst="ellipse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2885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59943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model explainability, fair lending analysis, and audit-ready documentation for every model.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5257800"/>
            <a:ext cx="256032" cy="256032"/>
          </a:xfrm>
          <a:prstGeom prst="ellipse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52212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&amp; Innovation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5321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novel ML approaches and evaluating third-party vendor models before adoption.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0" y="1280160"/>
            <a:ext cx="3520440" cy="512064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1280160"/>
            <a:ext cx="3520440" cy="73152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2480" y="1463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Stack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2057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12480" y="27157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AutoGluon · CatBoost · XGBoost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337413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(Tree Explainability)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412480" y="403250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LightGBM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12480" y="469087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/ dbt / Airflow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12480" y="5349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· Docker · CI/CD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PROJECTS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Serving Jack Henry Business Units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partner with internal teams across Jack Henry to solve complex data challenges — from operational analytics to model-driven automation — accelerating time to insight for every function.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5486400" cy="1828800"/>
          </a:xfrm>
          <a:prstGeom prst="rect">
            <a:avLst/>
          </a:prstGeom>
          <a:solidFill>
            <a:srgbClr val="0D2A50"/>
          </a:solidFill>
          <a:ln w="12700">
            <a:solidFill>
              <a:srgbClr val="0D7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109728" cy="1828800"/>
          </a:xfrm>
          <a:prstGeom prst="rect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2606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Analytics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063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models, KPI dashboards, and predictive capacity planning for internal teams.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423160"/>
            <a:ext cx="5486400" cy="1828800"/>
          </a:xfrm>
          <a:prstGeom prst="rect">
            <a:avLst/>
          </a:prstGeom>
          <a:solidFill>
            <a:srgbClr val="0D2A50"/>
          </a:solidFill>
          <a:ln w="12700">
            <a:solidFill>
              <a:srgbClr val="0D7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109728" cy="1828800"/>
          </a:xfrm>
          <a:prstGeom prst="rect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19672" y="2606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&amp; Compliance Tools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9672" y="3063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risk scoring, transaction anomaly detection, and regulatory data quality checks.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5486400" cy="1828800"/>
          </a:xfrm>
          <a:prstGeom prst="rect">
            <a:avLst/>
          </a:prstGeom>
          <a:solidFill>
            <a:srgbClr val="0D2A50"/>
          </a:solidFill>
          <a:ln w="12700">
            <a:solidFill>
              <a:srgbClr val="0D7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109728" cy="1828800"/>
          </a:xfrm>
          <a:prstGeom prst="rect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4617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Intelligence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5074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modeling and feature adoption analytics to guide product decisions across JH platforms.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4434840"/>
            <a:ext cx="5486400" cy="1828800"/>
          </a:xfrm>
          <a:prstGeom prst="rect">
            <a:avLst/>
          </a:prstGeom>
          <a:solidFill>
            <a:srgbClr val="0D2A50"/>
          </a:solidFill>
          <a:ln w="12700">
            <a:solidFill>
              <a:srgbClr val="0D7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63640" y="4434840"/>
            <a:ext cx="109728" cy="1828800"/>
          </a:xfrm>
          <a:prstGeom prst="rect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9672" y="4617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Automation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19672" y="5074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workflow optimization, NLP document processing, and intelligent routing systems.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PRODUCTS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JHBI: Intelligence Built Into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Financial Institution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Banking Intelligence (JHBI) delivers data science-powered applications directly to our bank and credit union clients. The Data Science team develops the models and analytical engines that fuel these products.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2606040" cy="2468880"/>
          </a:xfrm>
          <a:prstGeom prst="rect">
            <a:avLst/>
          </a:prstGeom>
          <a:solidFill>
            <a:srgbClr val="0D7A7A"/>
          </a:solidFill>
          <a:ln/>
          <a:effectLst>
            <a:outerShdw blurRad="127000" dist="508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606040" cy="73152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36576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Scoring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Segmentation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Data Science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3383280"/>
            <a:ext cx="2606040" cy="2468880"/>
          </a:xfrm>
          <a:prstGeom prst="rect">
            <a:avLst/>
          </a:prstGeom>
          <a:solidFill>
            <a:srgbClr val="0B5394"/>
          </a:solidFill>
          <a:ln/>
          <a:effectLst>
            <a:outerShdw blurRad="127000" dist="508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3383280"/>
            <a:ext cx="2606040" cy="73152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36576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&amp; Risk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4754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Data Science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383280"/>
            <a:ext cx="2606040" cy="2468880"/>
          </a:xfrm>
          <a:prstGeom prst="rect">
            <a:avLst/>
          </a:prstGeom>
          <a:solidFill>
            <a:srgbClr val="0B2545"/>
          </a:solidFill>
          <a:ln/>
          <a:effectLst>
            <a:outerShdw blurRad="127000" dist="508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3383280"/>
            <a:ext cx="2606040" cy="73152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36576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Deposit &amp; Loan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Propensity Models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4754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Data Science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3383280"/>
            <a:ext cx="2606040" cy="2468880"/>
          </a:xfrm>
          <a:prstGeom prst="rect">
            <a:avLst/>
          </a:prstGeom>
          <a:solidFill>
            <a:srgbClr val="0A4060"/>
          </a:solidFill>
          <a:ln/>
          <a:effectLst>
            <a:outerShdw blurRad="127000" dist="508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98280" y="3383280"/>
            <a:ext cx="2606040" cy="73152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35440" y="36576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Benchmarking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Peer Analytics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89720" y="4754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Data Science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0" y="1920240"/>
            <a:ext cx="2651760" cy="128016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35440" y="2011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built to meet</a:t>
            </a:r>
            <a:endParaRPr lang="en-US" sz="12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11-7 &amp; regulatory</a:t>
            </a:r>
            <a:endParaRPr lang="en-US" sz="12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standards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Development Lifecycle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56032" y="1645920"/>
            <a:ext cx="1783080" cy="4114800"/>
          </a:xfrm>
          <a:prstGeom prst="rect">
            <a:avLst/>
          </a:prstGeom>
          <a:solidFill>
            <a:srgbClr val="0D2A50"/>
          </a:solidFill>
          <a:ln w="12700">
            <a:solidFill>
              <a:srgbClr val="14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" y="17830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38912" y="2423160"/>
            <a:ext cx="1417320" cy="36576"/>
          </a:xfrm>
          <a:prstGeom prst="rect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1752" y="25603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347472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objective, use case scoping, regulatory constraints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48256" y="3017520"/>
            <a:ext cx="182880" cy="365760"/>
          </a:xfrm>
          <a:prstGeom prst="rightArrow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21992" y="1645920"/>
            <a:ext cx="1783080" cy="4114800"/>
          </a:xfrm>
          <a:prstGeom prst="rect">
            <a:avLst/>
          </a:prstGeom>
          <a:solidFill>
            <a:srgbClr val="0A3A60"/>
          </a:solidFill>
          <a:ln w="12700">
            <a:solidFill>
              <a:srgbClr val="14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67712" y="17830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404872" y="2423160"/>
            <a:ext cx="1417320" cy="36576"/>
          </a:xfrm>
          <a:prstGeom prst="rect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67712" y="25603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Assembly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13432" y="347472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data quality, lineage tracking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14216" y="3017520"/>
            <a:ext cx="182880" cy="365760"/>
          </a:xfrm>
          <a:prstGeom prst="rightArrow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87952" y="1645920"/>
            <a:ext cx="1783080" cy="4114800"/>
          </a:xfrm>
          <a:prstGeom prst="rect">
            <a:avLst/>
          </a:prstGeom>
          <a:solidFill>
            <a:srgbClr val="0D2A50"/>
          </a:solidFill>
          <a:ln w="12700">
            <a:solidFill>
              <a:srgbClr val="14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33672" y="17830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370832" y="2423160"/>
            <a:ext cx="1417320" cy="36576"/>
          </a:xfrm>
          <a:prstGeom prst="rect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33672" y="25603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79392" y="347472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selection, training, validation, tuning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0176" y="3017520"/>
            <a:ext cx="182880" cy="365760"/>
          </a:xfrm>
          <a:prstGeom prst="rightArrow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53912" y="1645920"/>
            <a:ext cx="1783080" cy="4114800"/>
          </a:xfrm>
          <a:prstGeom prst="rect">
            <a:avLst/>
          </a:prstGeom>
          <a:solidFill>
            <a:srgbClr val="0A3A60"/>
          </a:solidFill>
          <a:ln w="12700">
            <a:solidFill>
              <a:srgbClr val="14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99632" y="17830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336792" y="2423160"/>
            <a:ext cx="1417320" cy="36576"/>
          </a:xfrm>
          <a:prstGeom prst="rect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99632" y="25603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45352" y="347472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review, backtesting, stress testing (SR 11-7)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46136" y="3017520"/>
            <a:ext cx="182880" cy="365760"/>
          </a:xfrm>
          <a:prstGeom prst="rightArrow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19872" y="1645920"/>
            <a:ext cx="1783080" cy="4114800"/>
          </a:xfrm>
          <a:prstGeom prst="rect">
            <a:avLst/>
          </a:prstGeom>
          <a:solidFill>
            <a:srgbClr val="0D2A50"/>
          </a:solidFill>
          <a:ln w="12700">
            <a:solidFill>
              <a:srgbClr val="14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165592" y="17830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8302752" y="2423160"/>
            <a:ext cx="1417320" cy="36576"/>
          </a:xfrm>
          <a:prstGeom prst="rect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165592" y="25603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11312" y="347472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rollout, drift detection, ongoing KPIs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912096" y="3017520"/>
            <a:ext cx="182880" cy="365760"/>
          </a:xfrm>
          <a:prstGeom prst="rightArrow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085832" y="1645920"/>
            <a:ext cx="1783080" cy="4114800"/>
          </a:xfrm>
          <a:prstGeom prst="rect">
            <a:avLst/>
          </a:prstGeom>
          <a:solidFill>
            <a:srgbClr val="0A3A60"/>
          </a:solidFill>
          <a:ln w="12700">
            <a:solidFill>
              <a:srgbClr val="14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131552" y="17830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10268712" y="2423160"/>
            <a:ext cx="1417320" cy="36576"/>
          </a:xfrm>
          <a:prstGeom prst="rect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131552" y="25603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177272" y="347472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revalidation, documentation updates, retirement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 AI &amp;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Risk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we build or adopt is governed by a formal Model Risk Management framework aligned with SR 11-7 and OCC 2011-12 guidance. This means independent validation, documented assumptions, and ongoing performance monitoring — for both internally developed and third-party vendor models.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3566160" cy="25603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356616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663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SR 11-7 compliant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1389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Independent model 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561441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Documented assumptions &amp; limits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3749040"/>
            <a:ext cx="3566160" cy="25603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43400" y="3749040"/>
            <a:ext cx="3566160" cy="54864"/>
          </a:xfrm>
          <a:prstGeom prst="rect">
            <a:avLst/>
          </a:prstGeom>
          <a:solidFill>
            <a:srgbClr val="14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38404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4663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KPI &amp; drift tracking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51389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Threshold-based alerts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561441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Periodic revalidation cycles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3749040"/>
            <a:ext cx="3566160" cy="25603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0" y="3749040"/>
            <a:ext cx="3566160" cy="54864"/>
          </a:xfrm>
          <a:prstGeom prst="rect">
            <a:avLst/>
          </a:prstGeom>
          <a:solidFill>
            <a:srgbClr val="A0C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12480" y="38404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Third-Party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Models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4663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Vendor due diligence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51389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Equivalent validation standards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561441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Contractual MRM obligations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61120" y="548640"/>
            <a:ext cx="2743200" cy="3063240"/>
          </a:xfrm>
          <a:prstGeom prst="rect">
            <a:avLst/>
          </a:prstGeom>
          <a:solidFill>
            <a:srgbClr val="0D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052560" y="6858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98280" y="1508760"/>
            <a:ext cx="2468880" cy="384048"/>
          </a:xfrm>
          <a:prstGeom prst="rect">
            <a:avLst/>
          </a:prstGeom>
          <a:solidFill>
            <a:srgbClr val="0A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89720" y="15361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11-7 (Fed / OCC)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98280" y="2011680"/>
            <a:ext cx="2468880" cy="384048"/>
          </a:xfrm>
          <a:prstGeom prst="rect">
            <a:avLst/>
          </a:prstGeom>
          <a:solidFill>
            <a:srgbClr val="0A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89720" y="20391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 2011-12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098280" y="2514600"/>
            <a:ext cx="2468880" cy="384048"/>
          </a:xfrm>
          <a:prstGeom prst="rect">
            <a:avLst/>
          </a:prstGeom>
          <a:solidFill>
            <a:srgbClr val="0A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89720" y="25420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FFIEC AI/ML Guidance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098280" y="3017520"/>
            <a:ext cx="2468880" cy="384048"/>
          </a:xfrm>
          <a:prstGeom prst="rect">
            <a:avLst/>
          </a:prstGeom>
          <a:solidFill>
            <a:srgbClr val="0A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89720" y="3044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Lending &amp; ECOA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Keeping Models Healthy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Deployment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7472" y="2194560"/>
            <a:ext cx="2743200" cy="4114800"/>
          </a:xfrm>
          <a:prstGeom prst="rect">
            <a:avLst/>
          </a:prstGeom>
          <a:solidFill>
            <a:srgbClr val="0D2A50"/>
          </a:solidFill>
          <a:ln w="12700">
            <a:solidFill>
              <a:srgbClr val="14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2194560"/>
            <a:ext cx="2743200" cy="6400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2880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/ CSI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" y="3337560"/>
            <a:ext cx="2194560" cy="36576"/>
          </a:xfrm>
          <a:prstGeom prst="rect">
            <a:avLst/>
          </a:prstGeom>
          <a:solidFill>
            <a:srgbClr val="2A4A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347472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characteristic stability indices track input drift to flag when retraining is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194560"/>
            <a:ext cx="2743200" cy="4114800"/>
          </a:xfrm>
          <a:prstGeom prst="rect">
            <a:avLst/>
          </a:prstGeom>
          <a:solidFill>
            <a:srgbClr val="0D2A50"/>
          </a:solidFill>
          <a:ln w="12700">
            <a:solidFill>
              <a:srgbClr val="14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19272" y="2194560"/>
            <a:ext cx="2743200" cy="64008"/>
          </a:xfrm>
          <a:prstGeom prst="rect">
            <a:avLst/>
          </a:prstGeom>
          <a:solidFill>
            <a:srgbClr val="14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10712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10712" y="2880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· Gini · 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93592" y="3337560"/>
            <a:ext cx="2194560" cy="36576"/>
          </a:xfrm>
          <a:prstGeom prst="rect">
            <a:avLst/>
          </a:prstGeom>
          <a:solidFill>
            <a:srgbClr val="2A4A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56432" y="347472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discrimination metrics compared against development benchmarks with defined alert thresholds.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91072" y="2194560"/>
            <a:ext cx="2743200" cy="4114800"/>
          </a:xfrm>
          <a:prstGeom prst="rect">
            <a:avLst/>
          </a:prstGeom>
          <a:solidFill>
            <a:srgbClr val="0D2A50"/>
          </a:solidFill>
          <a:ln w="12700">
            <a:solidFill>
              <a:srgbClr val="14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91072" y="2194560"/>
            <a:ext cx="2743200" cy="64008"/>
          </a:xfrm>
          <a:prstGeom prst="rect">
            <a:avLst/>
          </a:prstGeom>
          <a:solidFill>
            <a:srgbClr val="339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82512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82512" y="2880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vs. Actual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65392" y="3337560"/>
            <a:ext cx="2194560" cy="36576"/>
          </a:xfrm>
          <a:prstGeom prst="rect">
            <a:avLst/>
          </a:prstGeom>
          <a:solidFill>
            <a:srgbClr val="2A4A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28232" y="347472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predictions are compared against realized outcomes to detect systematic over- or under-prediction.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62872" y="2194560"/>
            <a:ext cx="2743200" cy="4114800"/>
          </a:xfrm>
          <a:prstGeom prst="rect">
            <a:avLst/>
          </a:prstGeom>
          <a:solidFill>
            <a:srgbClr val="0D2A50"/>
          </a:solidFill>
          <a:ln w="12700">
            <a:solidFill>
              <a:srgbClr val="14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262872" y="2194560"/>
            <a:ext cx="2743200" cy="64008"/>
          </a:xfrm>
          <a:prstGeom prst="rect">
            <a:avLst/>
          </a:prstGeom>
          <a:solidFill>
            <a:srgbClr val="99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54312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Fairness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54312" y="2880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9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Impact Ratio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537192" y="3337560"/>
            <a:ext cx="2194560" cy="36576"/>
          </a:xfrm>
          <a:prstGeom prst="rect">
            <a:avLst/>
          </a:prstGeom>
          <a:solidFill>
            <a:srgbClr val="2A4A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400032" y="347472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fair lending analysis across protected classes, with remediation protocols where disparities emerge.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14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Build Something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Together?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you're an internal team with a data challenge or an institution looking to get more from JHBI —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Science team is your partner.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931920"/>
            <a:ext cx="3200400" cy="2377440"/>
          </a:xfrm>
          <a:prstGeom prst="rect">
            <a:avLst/>
          </a:prstGeom>
          <a:solidFill>
            <a:srgbClr val="0D2A50"/>
          </a:solidFill>
          <a:ln w="12700">
            <a:solidFill>
              <a:srgbClr val="0D7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8992" y="4008120"/>
            <a:ext cx="502920" cy="50292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4008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40721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Teams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4434840"/>
            <a:ext cx="2880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request through the DS intake process. We scope, prioritize, and partner on delivery.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3931920"/>
            <a:ext cx="3200400" cy="2377440"/>
          </a:xfrm>
          <a:prstGeom prst="rect">
            <a:avLst/>
          </a:prstGeom>
          <a:solidFill>
            <a:srgbClr val="0D2A50"/>
          </a:solidFill>
          <a:ln w="12700">
            <a:solidFill>
              <a:srgbClr val="0D7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99432" y="4008120"/>
            <a:ext cx="502920" cy="50292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9432" y="4008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40721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JHBI Product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9432" y="4434840"/>
            <a:ext cx="2880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your JHBI product manager to include data science capabilities in your roadmap.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3931920"/>
            <a:ext cx="3200400" cy="2377440"/>
          </a:xfrm>
          <a:prstGeom prst="rect">
            <a:avLst/>
          </a:prstGeom>
          <a:solidFill>
            <a:srgbClr val="0D2A50"/>
          </a:solidFill>
          <a:ln w="12700">
            <a:solidFill>
              <a:srgbClr val="0D7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19872" y="4008120"/>
            <a:ext cx="502920" cy="50292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19872" y="4008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40721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Models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19872" y="4434840"/>
            <a:ext cx="2880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before adopting any third-party AI — we perform due diligence and independent validation.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F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Data Science Team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805</Words>
  <Application>Microsoft Macintosh PowerPoint</Application>
  <PresentationFormat>Widescreen</PresentationFormat>
  <Paragraphs>161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Mike Ames</cp:lastModifiedBy>
  <cp:revision>2</cp:revision>
  <dcterms:created xsi:type="dcterms:W3CDTF">2026-05-19T15:03:23Z</dcterms:created>
  <dcterms:modified xsi:type="dcterms:W3CDTF">2026-05-19T16:17:10Z</dcterms:modified>
</cp:coreProperties>
</file>