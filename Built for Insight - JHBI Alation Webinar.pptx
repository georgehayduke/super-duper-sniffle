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90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0.png"/><Relationship Id="rId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23.png"/><Relationship Id="rId9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64808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94576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24344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54112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35040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64808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94576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24344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54112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64808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94576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24344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54112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64808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94576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24344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54112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0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64808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94576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24344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54112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64808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94576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24344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54112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35040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64808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94576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24344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754112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35040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64808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94576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324344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754112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35040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64808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894576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324344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754112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35040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64808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894576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324344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754112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84048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H B I  ·  D A T A  A S  A  S E R V I C 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84048" y="9144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Insight.</a:t>
            </a:r>
            <a:endParaRPr lang="en-US" sz="5600" dirty="0"/>
          </a:p>
        </p:txBody>
      </p:sp>
      <p:sp>
        <p:nvSpPr>
          <p:cNvPr id="55" name="Text 53"/>
          <p:cNvSpPr/>
          <p:nvPr/>
        </p:nvSpPr>
        <p:spPr>
          <a:xfrm>
            <a:off x="384048" y="1737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Compliance.</a:t>
            </a:r>
            <a:endParaRPr lang="en-US" sz="3800" dirty="0"/>
          </a:p>
        </p:txBody>
      </p:sp>
      <p:sp>
        <p:nvSpPr>
          <p:cNvPr id="56" name="Shape 54"/>
          <p:cNvSpPr/>
          <p:nvPr/>
        </p:nvSpPr>
        <p:spPr>
          <a:xfrm>
            <a:off x="384048" y="2542032"/>
            <a:ext cx="2560320" cy="457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84048" y="26974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Data Governance — Feature Showcase &amp; Live Demo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384048" y="3310128"/>
            <a:ext cx="2011680" cy="310896"/>
          </a:xfrm>
          <a:prstGeom prst="rect">
            <a:avLst/>
          </a:prstGeom>
          <a:solidFill>
            <a:srgbClr val="085CE5">
              <a:alpha val="35000"/>
            </a:srgbClr>
          </a:solidFill>
          <a:ln w="6350">
            <a:solidFill>
              <a:srgbClr val="085CE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84048" y="3310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Built for Insight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596896" y="3310128"/>
            <a:ext cx="2468880" cy="310896"/>
          </a:xfrm>
          <a:prstGeom prst="rect">
            <a:avLst/>
          </a:prstGeom>
          <a:solidFill>
            <a:srgbClr val="085CE5">
              <a:alpha val="35000"/>
            </a:srgbClr>
          </a:solidFill>
          <a:ln w="6350">
            <a:solidFill>
              <a:srgbClr val="085CE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596896" y="33101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Engineered for Compliance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266944" y="3310128"/>
            <a:ext cx="1920240" cy="310896"/>
          </a:xfrm>
          <a:prstGeom prst="rect">
            <a:avLst/>
          </a:prstGeom>
          <a:solidFill>
            <a:srgbClr val="085CE5">
              <a:alpha val="35000"/>
            </a:srgbClr>
          </a:solidFill>
          <a:ln w="6350">
            <a:solidFill>
              <a:srgbClr val="085CE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266944" y="33101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Governed by Alation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84048" y="473202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Alation  ·  JHBI Data &amp;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2834640" cy="505206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1371600" cy="54864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20299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Data as a Service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Series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4485132"/>
            <a:ext cx="2286000" cy="3474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4851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demos in every section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71800" y="164592"/>
            <a:ext cx="5943600" cy="32918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6459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Built for Insight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51206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JHBI Data as a Service Overview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8229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JHBI Platform Architecture — the full DaaS stack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13385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 Medallion Architecture (Bronze · Silver · Gold)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44475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Power BI — Self-Service Analytics on Certified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800" y="1847088"/>
            <a:ext cx="5943600" cy="329184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63240" y="184708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Engineered for Compliance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21945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Sensitive Data Classification (PII · PCI · Shared Responsibility)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250545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Dynamic Masking &amp; Tokenization in 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81635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Guardrails — Built-in Compliance at the AI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312724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 &amp; Access Logging — Full Traceability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71800" y="3529584"/>
            <a:ext cx="5943600" cy="32918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63240" y="352958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Governed by Alation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87705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 Catalog &amp; Discovery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46120" y="418795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Policies &amp; Governance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46120" y="449884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Lineage &amp; Trust Flags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480974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Collaboration &amp; Curation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51206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Number Station AI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Data as a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One source of truth. Complete governance.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43584"/>
            <a:ext cx="40050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243584"/>
            <a:ext cx="118872" cy="356616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JHBI DaaS?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1975104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1901952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governed access to all enterprise data assets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468880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239572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discovery for analysts, engineers &amp; business users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2889504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Policy-enforced data sharing across every business unit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456432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338328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trusted catalog spanning all data sources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950208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3877056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analytics powered by Number Station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1243584"/>
            <a:ext cx="4005072" cy="356616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47488" y="14173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Alation?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47488" y="199339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016752" y="19933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 Platform globally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by Gartner &amp; Forrester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7488" y="2743200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016752" y="274320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customers across financial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healthcare &amp; government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47488" y="3493008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16752" y="349300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— built on real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not just promises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47488" y="4242816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016752" y="424281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regulatory audit prep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lineage &amp; policy tracking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5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16168" y="-9144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45936" y="-9144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75704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05472" y="-9144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0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16168" y="42976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45936" y="42976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75704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05472" y="42976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0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16168" y="95097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45936" y="95097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75704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05472" y="95097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0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16168" y="147218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45936" y="147218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75704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05472" y="147218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0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16168" y="199339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45936" y="199339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75704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05472" y="199339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0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16168" y="251460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45936" y="251460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75704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05472" y="251460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0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16168" y="303580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45936" y="303580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75704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05472" y="303580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6400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16168" y="355701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45936" y="355701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775704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205472" y="355701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86400" y="407822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916168" y="407822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45936" y="407822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75704" y="407822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205472" y="407822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86400" y="459943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16168" y="459943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45936" y="459943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775704" y="459943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205472" y="459943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" y="438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01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84048" y="86868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5200" dirty="0"/>
          </a:p>
        </p:txBody>
      </p:sp>
      <p:sp>
        <p:nvSpPr>
          <p:cNvPr id="56" name="Shape 54"/>
          <p:cNvSpPr/>
          <p:nvPr/>
        </p:nvSpPr>
        <p:spPr>
          <a:xfrm>
            <a:off x="384048" y="2377440"/>
            <a:ext cx="2194560" cy="54864"/>
          </a:xfrm>
          <a:prstGeom prst="rect">
            <a:avLst/>
          </a:prstGeom>
          <a:solidFill>
            <a:srgbClr val="76DCFD">
              <a:alpha val="70000"/>
            </a:srgbClr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84048" y="25420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business-ready analytics.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384048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section: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84048" y="3529584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85216" y="3493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Platform Architecture — the full DaaS stack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84048" y="3895344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85216" y="3858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Medallion Architecture — Bronze, Silver &amp; Gold data layers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84048" y="4261104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85216" y="4224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Self-service analytics on certified, governed data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37160"/>
            <a:ext cx="47548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13716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109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JHBI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20116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a Service — from source to insight, governed end-to-end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" y="576072"/>
            <a:ext cx="8741664" cy="32918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" y="576072"/>
            <a:ext cx="8741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Portal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01168" y="923544"/>
            <a:ext cx="1438656" cy="932688"/>
          </a:xfrm>
          <a:prstGeom prst="rect">
            <a:avLst/>
          </a:prstGeom>
          <a:solidFill>
            <a:srgbClr val="085CE5"/>
          </a:solidFill>
          <a:ln w="889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1014984"/>
            <a:ext cx="1328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&amp; Quality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58112" y="923544"/>
            <a:ext cx="1438656" cy="932688"/>
          </a:xfrm>
          <a:prstGeom prst="rect">
            <a:avLst/>
          </a:prstGeom>
          <a:solidFill>
            <a:srgbClr val="085CE5"/>
          </a:solidFill>
          <a:ln w="889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12976" y="1014984"/>
            <a:ext cx="1328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15056" y="923544"/>
            <a:ext cx="1438656" cy="932688"/>
          </a:xfrm>
          <a:prstGeom prst="rect">
            <a:avLst/>
          </a:prstGeom>
          <a:solidFill>
            <a:srgbClr val="085CE5"/>
          </a:solidFill>
          <a:ln w="889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69920" y="1014984"/>
            <a:ext cx="1328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923544"/>
            <a:ext cx="1438656" cy="932688"/>
          </a:xfrm>
          <a:prstGeom prst="rect">
            <a:avLst/>
          </a:prstGeom>
          <a:solidFill>
            <a:srgbClr val="085CE5"/>
          </a:solidFill>
          <a:ln w="889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1014984"/>
            <a:ext cx="1328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Query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28944" y="923544"/>
            <a:ext cx="1438656" cy="932688"/>
          </a:xfrm>
          <a:prstGeom prst="rect">
            <a:avLst/>
          </a:prstGeom>
          <a:solidFill>
            <a:srgbClr val="085CE5"/>
          </a:solidFill>
          <a:ln w="889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83808" y="1014984"/>
            <a:ext cx="1328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85888" y="923544"/>
            <a:ext cx="1438656" cy="932688"/>
          </a:xfrm>
          <a:prstGeom prst="rect">
            <a:avLst/>
          </a:prstGeom>
          <a:solidFill>
            <a:srgbClr val="085CE5"/>
          </a:solidFill>
          <a:ln w="889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40752" y="1014984"/>
            <a:ext cx="1328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Apps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1874520"/>
            <a:ext cx="8741664" cy="256032"/>
          </a:xfrm>
          <a:prstGeom prst="rect">
            <a:avLst/>
          </a:prstGeom>
          <a:solidFill>
            <a:srgbClr val="B6BBC0"/>
          </a:solidFill>
          <a:ln w="12700">
            <a:solidFill>
              <a:srgbClr val="B6B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1168" y="1874520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   —   Row-Level Security  ·  Column Masking &amp; Tokenization  ·  Dynamic PII Masking  ·  Role-Based Access Control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" y="2148840"/>
            <a:ext cx="8741664" cy="457200"/>
          </a:xfrm>
          <a:prstGeom prst="rect">
            <a:avLst/>
          </a:prstGeom>
          <a:solidFill>
            <a:srgbClr val="06185F"/>
          </a:solidFill>
          <a:ln w="508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1945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(Production)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24048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Certified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32304" y="2240280"/>
            <a:ext cx="22860" cy="256032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60320" y="2221992"/>
            <a:ext cx="6199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Subject-specific data marts &amp; semantic models — Alation-endorsed, optimized for Power BI, reporting &amp; AI queries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1168" y="2624328"/>
            <a:ext cx="8741664" cy="457200"/>
          </a:xfrm>
          <a:prstGeom prst="rect">
            <a:avLst/>
          </a:prstGeom>
          <a:solidFill>
            <a:srgbClr val="1A4E9A"/>
          </a:solidFill>
          <a:ln w="508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26700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(Curated)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803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· Validated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32304" y="2715768"/>
            <a:ext cx="22860" cy="256032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60320" y="2697480"/>
            <a:ext cx="6199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checks, schema enforcement, identity resolution across all sources — PII/ACH flagged, classified &amp; masked at ingestion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01168" y="3099816"/>
            <a:ext cx="8741664" cy="457200"/>
          </a:xfrm>
          <a:prstGeom prst="rect">
            <a:avLst/>
          </a:prstGeom>
          <a:solidFill>
            <a:srgbClr val="085CE5"/>
          </a:solidFill>
          <a:ln w="508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31455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(Raw)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33558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· Data Hub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32304" y="3191256"/>
            <a:ext cx="22860" cy="256032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60320" y="3172968"/>
            <a:ext cx="6199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archive — every field, every rail, every transaction preserved exactly as received. System of record.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01168" y="3593592"/>
            <a:ext cx="8741664" cy="694944"/>
          </a:xfrm>
          <a:prstGeom prst="rect">
            <a:avLst/>
          </a:prstGeom>
          <a:solidFill>
            <a:srgbClr val="06185F">
              <a:alpha val="92000"/>
            </a:srgbClr>
          </a:solidFill>
          <a:ln w="10160">
            <a:solidFill>
              <a:srgbClr val="085CE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36667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Sources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755648" y="3685032"/>
            <a:ext cx="22860" cy="493776"/>
          </a:xfrm>
          <a:prstGeom prst="rect">
            <a:avLst/>
          </a:prstGeom>
          <a:solidFill>
            <a:srgbClr val="085CE5">
              <a:alpha val="55000"/>
            </a:srgbClr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883664" y="3685032"/>
            <a:ext cx="6876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 (Bank Core)   ·   Symitar / Episys (CU Core)   ·   Banno Digital   ·   Banno Business   ·   LoanVantage (LOS)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883664" y="3959352"/>
            <a:ext cx="6876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PayCenter   ·   Enterprise Payments (FedNow / RTP)   ·   jXchange / SymXchange APIs   ·   ACH Gateway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01168" y="4306824"/>
            <a:ext cx="8741664" cy="475488"/>
          </a:xfrm>
          <a:prstGeom prst="rect">
            <a:avLst/>
          </a:prstGeom>
          <a:solidFill>
            <a:srgbClr val="575A5D">
              <a:alpha val="85000"/>
            </a:srgbClr>
          </a:solidFill>
          <a:ln w="7620">
            <a:solidFill>
              <a:srgbClr val="B6B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3708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Data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755648" y="4389120"/>
            <a:ext cx="22860" cy="201168"/>
          </a:xfrm>
          <a:prstGeom prst="rect">
            <a:avLst/>
          </a:prstGeom>
          <a:solidFill>
            <a:srgbClr val="B6BBC0">
              <a:alpha val="55000"/>
            </a:srgbClr>
          </a:solidFill>
          <a:ln w="12700">
            <a:solidFill>
              <a:srgbClr val="B6B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883664" y="4370832"/>
            <a:ext cx="6876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NCUA Call Report Data   ·   FFIEC Call Reports   ·   HMDA Public Data   ·   Census / Demographic Data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01168" y="49057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JHBI Medallion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approach to data quality, trust, and analytics readiness.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" y="11704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" y="1426464"/>
            <a:ext cx="1024128" cy="20116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" y="142646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Sources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" y="1645920"/>
            <a:ext cx="1024128" cy="329184"/>
          </a:xfrm>
          <a:prstGeom prst="rect">
            <a:avLst/>
          </a:prstGeom>
          <a:solidFill>
            <a:srgbClr val="06185F">
              <a:alpha val="92000"/>
            </a:srgbClr>
          </a:solidFill>
          <a:ln w="6350">
            <a:solidFill>
              <a:srgbClr val="085CE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" y="165506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" y="1801368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Core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6576" y="2020824"/>
            <a:ext cx="1024128" cy="329184"/>
          </a:xfrm>
          <a:prstGeom prst="rect">
            <a:avLst/>
          </a:prstGeom>
          <a:solidFill>
            <a:srgbClr val="06185F">
              <a:alpha val="92000"/>
            </a:srgbClr>
          </a:solidFill>
          <a:ln w="6350">
            <a:solidFill>
              <a:srgbClr val="085CE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" y="202996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Symitar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" y="2176272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Core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6576" y="2395728"/>
            <a:ext cx="1024128" cy="329184"/>
          </a:xfrm>
          <a:prstGeom prst="rect">
            <a:avLst/>
          </a:prstGeom>
          <a:solidFill>
            <a:srgbClr val="06185F">
              <a:alpha val="92000"/>
            </a:srgbClr>
          </a:solidFill>
          <a:ln w="6350">
            <a:solidFill>
              <a:srgbClr val="085CE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" y="240487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" y="2551176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Business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6576" y="2770632"/>
            <a:ext cx="1024128" cy="329184"/>
          </a:xfrm>
          <a:prstGeom prst="rect">
            <a:avLst/>
          </a:prstGeom>
          <a:solidFill>
            <a:srgbClr val="06185F">
              <a:alpha val="92000"/>
            </a:srgbClr>
          </a:solidFill>
          <a:ln w="6350">
            <a:solidFill>
              <a:srgbClr val="085CE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" y="277977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LoanVantage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" y="292608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6576" y="3145536"/>
            <a:ext cx="1024128" cy="329184"/>
          </a:xfrm>
          <a:prstGeom prst="rect">
            <a:avLst/>
          </a:prstGeom>
          <a:solidFill>
            <a:srgbClr val="06185F">
              <a:alpha val="92000"/>
            </a:srgbClr>
          </a:solidFill>
          <a:ln w="6350">
            <a:solidFill>
              <a:srgbClr val="085CE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" y="315468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PayCenter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6576" y="330098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6576" y="3575304"/>
            <a:ext cx="1024128" cy="201168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" y="357530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" y="3794760"/>
            <a:ext cx="1024128" cy="329184"/>
          </a:xfrm>
          <a:prstGeom prst="rect">
            <a:avLst/>
          </a:prstGeom>
          <a:solidFill>
            <a:srgbClr val="575A5D">
              <a:alpha val="70000"/>
            </a:srgbClr>
          </a:solidFill>
          <a:ln w="10160">
            <a:solidFill>
              <a:srgbClr val="B6B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" y="381304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NCUA / FFIEC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576" y="3959352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7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Reports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042416" y="265176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207008" y="1170432"/>
            <a:ext cx="21945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207008" y="1170432"/>
            <a:ext cx="2194560" cy="502920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1234440"/>
            <a:ext cx="347472" cy="34747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755648" y="1234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755648" y="1453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· Data Hub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316736" y="1773936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historic archive. All data exactly as received — the system of record.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316736" y="2340864"/>
            <a:ext cx="1975104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316736" y="2487168"/>
            <a:ext cx="91440" cy="91440"/>
          </a:xfrm>
          <a:prstGeom prst="ellipse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481328" y="241401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SilverLake, Symitar, Banno, LoanVantage, PayCenter &amp; NCUA/FFIEC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316736" y="3035808"/>
            <a:ext cx="91440" cy="91440"/>
          </a:xfrm>
          <a:prstGeom prst="ellipse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481328" y="296265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— full historical fidelity preserved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1316736" y="3584448"/>
            <a:ext cx="91440" cy="91440"/>
          </a:xfrm>
          <a:prstGeom prst="ellipse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481328" y="351129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transformations — truth at the point of capture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1316736" y="4133088"/>
            <a:ext cx="91440" cy="91440"/>
          </a:xfrm>
          <a:prstGeom prst="ellipse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481328" y="405993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lineage, audit trails &amp; replay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438144" y="25877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45" name="Shape 42"/>
          <p:cNvSpPr/>
          <p:nvPr/>
        </p:nvSpPr>
        <p:spPr>
          <a:xfrm>
            <a:off x="3566160" y="1170432"/>
            <a:ext cx="21945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3566160" y="1170432"/>
            <a:ext cx="2194560" cy="5029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234440"/>
            <a:ext cx="347472" cy="347472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4114800" y="1234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49" name="Text 45"/>
          <p:cNvSpPr/>
          <p:nvPr/>
        </p:nvSpPr>
        <p:spPr>
          <a:xfrm>
            <a:off x="4114800" y="1453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· Validated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3675888" y="1773936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checks applied. Data standardized, deduplicated, and identity-resolved.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3675888" y="2340864"/>
            <a:ext cx="1975104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3675888" y="2487168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/>
          <p:nvPr/>
        </p:nvSpPr>
        <p:spPr>
          <a:xfrm>
            <a:off x="3840480" y="241401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 &amp; schema enforcement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3675888" y="3035808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3840480" y="296265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— entity matching across sources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3675888" y="3584448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/>
          <p:nvPr/>
        </p:nvSpPr>
        <p:spPr>
          <a:xfrm>
            <a:off x="3840480" y="351129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flagged, classified &amp; masked at ingestion</a:t>
            </a:r>
            <a:endParaRPr lang="en-US" sz="1000" dirty="0"/>
          </a:p>
        </p:txBody>
      </p:sp>
      <p:sp>
        <p:nvSpPr>
          <p:cNvPr id="58" name="Shape 54"/>
          <p:cNvSpPr/>
          <p:nvPr/>
        </p:nvSpPr>
        <p:spPr>
          <a:xfrm>
            <a:off x="3675888" y="4133088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5"/>
          <p:cNvSpPr/>
          <p:nvPr/>
        </p:nvSpPr>
        <p:spPr>
          <a:xfrm>
            <a:off x="3840480" y="405993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 — ready for analytical joins</a:t>
            </a:r>
            <a:endParaRPr lang="en-US" sz="1000" dirty="0"/>
          </a:p>
        </p:txBody>
      </p:sp>
      <p:sp>
        <p:nvSpPr>
          <p:cNvPr id="60" name="Text 56"/>
          <p:cNvSpPr/>
          <p:nvPr/>
        </p:nvSpPr>
        <p:spPr>
          <a:xfrm>
            <a:off x="5797296" y="25877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61" name="Shape 57"/>
          <p:cNvSpPr/>
          <p:nvPr/>
        </p:nvSpPr>
        <p:spPr>
          <a:xfrm>
            <a:off x="5925312" y="1170432"/>
            <a:ext cx="21945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5925312" y="1170432"/>
            <a:ext cx="2194560" cy="50292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234440"/>
            <a:ext cx="347472" cy="347472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6473952" y="1234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65" name="Text 60"/>
          <p:cNvSpPr/>
          <p:nvPr/>
        </p:nvSpPr>
        <p:spPr>
          <a:xfrm>
            <a:off x="6473952" y="1453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Certified</a:t>
            </a:r>
            <a:endParaRPr lang="en-US" sz="950" dirty="0"/>
          </a:p>
        </p:txBody>
      </p:sp>
      <p:sp>
        <p:nvSpPr>
          <p:cNvPr id="66" name="Text 61"/>
          <p:cNvSpPr/>
          <p:nvPr/>
        </p:nvSpPr>
        <p:spPr>
          <a:xfrm>
            <a:off x="6035040" y="1773936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Subject-specific data marts &amp; semantic models. Optimized for consumption.</a:t>
            </a:r>
            <a:endParaRPr lang="en-US" sz="1050" dirty="0"/>
          </a:p>
        </p:txBody>
      </p:sp>
      <p:sp>
        <p:nvSpPr>
          <p:cNvPr id="67" name="Shape 62"/>
          <p:cNvSpPr/>
          <p:nvPr/>
        </p:nvSpPr>
        <p:spPr>
          <a:xfrm>
            <a:off x="6035040" y="2340864"/>
            <a:ext cx="1975104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3"/>
          <p:cNvSpPr/>
          <p:nvPr/>
        </p:nvSpPr>
        <p:spPr>
          <a:xfrm>
            <a:off x="6035040" y="2487168"/>
            <a:ext cx="91440" cy="91440"/>
          </a:xfrm>
          <a:prstGeom prst="ellipse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4"/>
          <p:cNvSpPr/>
          <p:nvPr/>
        </p:nvSpPr>
        <p:spPr>
          <a:xfrm>
            <a:off x="6199632" y="241401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Domain-aligned data marts for each business unit</a:t>
            </a:r>
            <a:endParaRPr lang="en-US" sz="1000" dirty="0"/>
          </a:p>
        </p:txBody>
      </p:sp>
      <p:sp>
        <p:nvSpPr>
          <p:cNvPr id="70" name="Shape 65"/>
          <p:cNvSpPr/>
          <p:nvPr/>
        </p:nvSpPr>
        <p:spPr>
          <a:xfrm>
            <a:off x="6035040" y="3035808"/>
            <a:ext cx="91440" cy="91440"/>
          </a:xfrm>
          <a:prstGeom prst="ellipse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6"/>
          <p:cNvSpPr/>
          <p:nvPr/>
        </p:nvSpPr>
        <p:spPr>
          <a:xfrm>
            <a:off x="6199632" y="296265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Alation-endorsed — trust flags visible to all users</a:t>
            </a:r>
            <a:endParaRPr lang="en-US" sz="1000" dirty="0"/>
          </a:p>
        </p:txBody>
      </p:sp>
      <p:sp>
        <p:nvSpPr>
          <p:cNvPr id="72" name="Shape 67"/>
          <p:cNvSpPr/>
          <p:nvPr/>
        </p:nvSpPr>
        <p:spPr>
          <a:xfrm>
            <a:off x="6035040" y="3584448"/>
            <a:ext cx="91440" cy="91440"/>
          </a:xfrm>
          <a:prstGeom prst="ellipse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8"/>
          <p:cNvSpPr/>
          <p:nvPr/>
        </p:nvSpPr>
        <p:spPr>
          <a:xfrm>
            <a:off x="6199632" y="351129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Power BI, Data Science Apps &amp; AI queries</a:t>
            </a:r>
            <a:endParaRPr lang="en-US" sz="1000" dirty="0"/>
          </a:p>
        </p:txBody>
      </p:sp>
      <p:sp>
        <p:nvSpPr>
          <p:cNvPr id="74" name="Shape 69"/>
          <p:cNvSpPr/>
          <p:nvPr/>
        </p:nvSpPr>
        <p:spPr>
          <a:xfrm>
            <a:off x="6035040" y="4133088"/>
            <a:ext cx="91440" cy="91440"/>
          </a:xfrm>
          <a:prstGeom prst="ellipse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0"/>
          <p:cNvSpPr/>
          <p:nvPr/>
        </p:nvSpPr>
        <p:spPr>
          <a:xfrm>
            <a:off x="6199632" y="405993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access: who, what, when, and why</a:t>
            </a:r>
            <a:endParaRPr lang="en-US" sz="1000" dirty="0"/>
          </a:p>
        </p:txBody>
      </p:sp>
      <p:sp>
        <p:nvSpPr>
          <p:cNvPr id="76" name="Text 71"/>
          <p:cNvSpPr/>
          <p:nvPr/>
        </p:nvSpPr>
        <p:spPr>
          <a:xfrm>
            <a:off x="7936992" y="258775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7" name="Shape 72"/>
          <p:cNvSpPr/>
          <p:nvPr/>
        </p:nvSpPr>
        <p:spPr>
          <a:xfrm>
            <a:off x="8211312" y="2286000"/>
            <a:ext cx="731520" cy="104241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3"/>
          <p:cNvSpPr/>
          <p:nvPr/>
        </p:nvSpPr>
        <p:spPr>
          <a:xfrm>
            <a:off x="8211312" y="2286000"/>
            <a:ext cx="7315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900" dirty="0"/>
          </a:p>
        </p:txBody>
      </p:sp>
      <p:sp>
        <p:nvSpPr>
          <p:cNvPr id="79" name="Text 74"/>
          <p:cNvSpPr/>
          <p:nvPr/>
        </p:nvSpPr>
        <p:spPr>
          <a:xfrm>
            <a:off x="411480" y="47960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layers are cataloged in Alation — with lineage, ownership, and trust flags at every tier.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4920" cy="51435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21208" y="0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0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" y="521208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" y="521208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521208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" y="1042416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" y="1042416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0976" y="1042416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" y="1563624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1208" y="1563624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0976" y="1563624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" y="2084832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" y="2084832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" y="2084832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" y="2606040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1208" y="2606040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0976" y="2606040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" y="3127248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1208" y="3127248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0976" y="3127248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" y="3648456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1208" y="3648456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" y="3648456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" y="4169664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1208" y="4169664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" y="4169664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4048" y="384048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76DCF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66928" cy="56692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84048" y="1353312"/>
            <a:ext cx="4526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3400" dirty="0"/>
          </a:p>
        </p:txBody>
      </p:sp>
      <p:sp>
        <p:nvSpPr>
          <p:cNvPr id="33" name="Shape 30"/>
          <p:cNvSpPr/>
          <p:nvPr/>
        </p:nvSpPr>
        <p:spPr>
          <a:xfrm>
            <a:off x="384048" y="2432304"/>
            <a:ext cx="1645920" cy="50292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84048" y="25603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analytics on certified, governed data.</a:t>
            </a:r>
            <a:endParaRPr lang="en-US" sz="1550" dirty="0"/>
          </a:p>
        </p:txBody>
      </p:sp>
      <p:sp>
        <p:nvSpPr>
          <p:cNvPr id="35" name="Shape 32"/>
          <p:cNvSpPr/>
          <p:nvPr/>
        </p:nvSpPr>
        <p:spPr>
          <a:xfrm>
            <a:off x="384048" y="31089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76072" y="30358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directly to Gold layer — one version of truth for all reports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84048" y="35661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76072" y="34930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datasets visible &amp; searchable inside Alation catalog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84048" y="40233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76072" y="39502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inherits from platform access policies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84048" y="44805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76072" y="44074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trust flags surface in Power BI dataset metadata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FEFDF8"/>
          </a:solidFill>
          <a:ln w="12700">
            <a:solidFill>
              <a:srgbClr val="FEF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5257800" y="256032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5285232" y="804672"/>
            <a:ext cx="3611880" cy="4754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5376672" y="84124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5376672" y="10515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 · Symitar · Banno · LoanVantage · JHA PayCenter · NCUA · FFIEC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5285232" y="12801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285232" y="1609344"/>
            <a:ext cx="3611880" cy="475488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376672" y="16459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— DATA HUB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5376672" y="185623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 — immutable archive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5285232" y="20848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5285232" y="2414016"/>
            <a:ext cx="3611880" cy="47548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5376672" y="245059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CURATED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5376672" y="266090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checks, identity resolution, PII masked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285232" y="28895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5285232" y="3218688"/>
            <a:ext cx="3611880" cy="47548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376672" y="32552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PRODUCTION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5376672" y="346557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data marts, Alation-certified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5285232" y="369417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5285232" y="4023360"/>
            <a:ext cx="3611880" cy="475488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376672" y="405993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PORTAL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5376672" y="42702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dashboards, AI queries &amp; apps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5285232" y="47777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end-to-end — from source to screen.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5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16168" y="-9144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45936" y="-9144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75704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05472" y="-9144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0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16168" y="42976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45936" y="42976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75704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05472" y="42976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0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16168" y="95097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45936" y="95097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75704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05472" y="95097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0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16168" y="147218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45936" y="147218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75704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05472" y="147218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0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16168" y="199339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45936" y="199339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75704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05472" y="199339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0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16168" y="251460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45936" y="251460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75704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05472" y="251460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0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16168" y="303580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45936" y="303580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75704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05472" y="303580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6400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16168" y="355701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45936" y="355701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775704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205472" y="355701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86400" y="407822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916168" y="407822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45936" y="407822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75704" y="407822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205472" y="407822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86400" y="459943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16168" y="459943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45936" y="459943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775704" y="459943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205472" y="459943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" y="438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02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84048" y="86868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Compliance</a:t>
            </a:r>
            <a:endParaRPr lang="en-US" sz="5200" dirty="0"/>
          </a:p>
        </p:txBody>
      </p:sp>
      <p:sp>
        <p:nvSpPr>
          <p:cNvPr id="56" name="Shape 54"/>
          <p:cNvSpPr/>
          <p:nvPr/>
        </p:nvSpPr>
        <p:spPr>
          <a:xfrm>
            <a:off x="384048" y="2377440"/>
            <a:ext cx="2194560" cy="54864"/>
          </a:xfrm>
          <a:prstGeom prst="rect">
            <a:avLst/>
          </a:prstGeom>
          <a:solidFill>
            <a:srgbClr val="76DCFD">
              <a:alpha val="70000"/>
            </a:srgbClr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84048" y="25420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 — not an afterthought.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384048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section: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84048" y="3529584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85216" y="3493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Classification — PII, PCI &amp; Shared Responsibility model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84048" y="384048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85216" y="38039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Masking &amp; Tokenization — row, column &amp; role-based controls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84048" y="415137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85216" y="41148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— built-in compliance at the intelligence layer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84048" y="4462272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85216" y="44256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Access Logging — full traceability for every data event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Classification &amp; Shared Responsibility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classifies and protects sensitive data — then puts access control in your hands.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43200" cy="3611880"/>
          </a:xfrm>
          <a:prstGeom prst="rect">
            <a:avLst/>
          </a:prstGeom>
          <a:solidFill>
            <a:srgbClr val="FFF5F5"/>
          </a:solidFill>
          <a:ln w="19050">
            <a:solidFill>
              <a:srgbClr val="EE999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43200" cy="5029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2344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216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Identifiable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02336" y="1764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Examples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02336" y="2048256"/>
            <a:ext cx="91440" cy="9144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6928" y="1984248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&amp; date of birth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02336" y="2313432"/>
            <a:ext cx="91440" cy="9144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" y="2249424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 Number (SSN)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02336" y="2578608"/>
            <a:ext cx="91440" cy="9144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66928" y="2514600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 &amp; phone number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02336" y="2843784"/>
            <a:ext cx="91440" cy="9144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" y="2779776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address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02336" y="3108960"/>
            <a:ext cx="91440" cy="9144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66928" y="3044952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Driver's license / passport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02336" y="3383280"/>
            <a:ext cx="2487168" cy="18288"/>
          </a:xfrm>
          <a:prstGeom prst="rect">
            <a:avLst/>
          </a:prstGeom>
          <a:solidFill>
            <a:srgbClr val="EE9999"/>
          </a:solidFill>
          <a:ln w="12700">
            <a:solidFill>
              <a:srgbClr val="EE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02336" y="3456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 It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02336" y="3749040"/>
            <a:ext cx="91440" cy="9144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66928" y="369417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masking at query time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02336" y="3986784"/>
            <a:ext cx="91440" cy="9144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66928" y="393192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column suppression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02336" y="4224528"/>
            <a:ext cx="91440" cy="9144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66928" y="416966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PII policy tag enforced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02336" y="4462272"/>
            <a:ext cx="91440" cy="9144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66928" y="4407408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on every access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182112" y="1170432"/>
            <a:ext cx="2743200" cy="3611880"/>
          </a:xfrm>
          <a:prstGeom prst="rect">
            <a:avLst/>
          </a:prstGeom>
          <a:solidFill>
            <a:srgbClr val="FFFBF0"/>
          </a:solidFill>
          <a:ln w="19050">
            <a:solidFill>
              <a:srgbClr val="FFC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182112" y="1170432"/>
            <a:ext cx="2743200" cy="502920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34440"/>
            <a:ext cx="347472" cy="34747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730752" y="1216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3730752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Data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310128" y="1764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Examples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310128" y="2048256"/>
            <a:ext cx="91440" cy="91440"/>
          </a:xfrm>
          <a:prstGeom prst="ellipse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3474720" y="1984248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Account Number (PAN)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3310128" y="2313432"/>
            <a:ext cx="91440" cy="91440"/>
          </a:xfrm>
          <a:prstGeom prst="ellipse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3474720" y="2249424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verification value (CVV)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3310128" y="2578608"/>
            <a:ext cx="91440" cy="91440"/>
          </a:xfrm>
          <a:prstGeom prst="ellipse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3474720" y="2514600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date &amp; cardholder name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3310128" y="2843784"/>
            <a:ext cx="91440" cy="91440"/>
          </a:xfrm>
          <a:prstGeom prst="ellipse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3474720" y="2779776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account &amp; routing numbers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3310128" y="3108960"/>
            <a:ext cx="91440" cy="91440"/>
          </a:xfrm>
          <a:prstGeom prst="ellipse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3474720" y="3044952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identifiers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3310128" y="3383280"/>
            <a:ext cx="2487168" cy="18288"/>
          </a:xfrm>
          <a:prstGeom prst="rect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3310128" y="3456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 It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310128" y="3749040"/>
            <a:ext cx="91440" cy="91440"/>
          </a:xfrm>
          <a:prstGeom prst="ellipse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3474720" y="369417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Format-preserving tokenization (card PAN)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3310128" y="3986784"/>
            <a:ext cx="91440" cy="91440"/>
          </a:xfrm>
          <a:prstGeom prst="ellipse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3474720" y="393192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account # tokenization (Nacha-compliant)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3310128" y="4224528"/>
            <a:ext cx="91440" cy="91440"/>
          </a:xfrm>
          <a:prstGeom prst="ellipse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3474720" y="416966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(AES-256)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3310128" y="4462272"/>
            <a:ext cx="91440" cy="91440"/>
          </a:xfrm>
          <a:prstGeom prst="ellipse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3474720" y="4407408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compliant access controls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6089904" y="1170432"/>
            <a:ext cx="2743200" cy="3611880"/>
          </a:xfrm>
          <a:prstGeom prst="rect">
            <a:avLst/>
          </a:prstGeom>
          <a:solidFill>
            <a:srgbClr val="E8F7F7"/>
          </a:solidFill>
          <a:ln w="19050">
            <a:solidFill>
              <a:srgbClr val="A8C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6089904" y="1170432"/>
            <a:ext cx="2743200" cy="5029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234440"/>
            <a:ext cx="347472" cy="347472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6638544" y="1216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800" dirty="0"/>
          </a:p>
        </p:txBody>
      </p:sp>
      <p:sp>
        <p:nvSpPr>
          <p:cNvPr id="61" name="Text 56"/>
          <p:cNvSpPr/>
          <p:nvPr/>
        </p:nvSpPr>
        <p:spPr>
          <a:xfrm>
            <a:off x="6638544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Your Rules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 Responsibility)</a:t>
            </a:r>
            <a:endParaRPr lang="en-US" sz="900" dirty="0"/>
          </a:p>
        </p:txBody>
      </p:sp>
      <p:sp>
        <p:nvSpPr>
          <p:cNvPr id="62" name="Text 57"/>
          <p:cNvSpPr/>
          <p:nvPr/>
        </p:nvSpPr>
        <p:spPr>
          <a:xfrm>
            <a:off x="6217920" y="1764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Examples</a:t>
            </a:r>
            <a:endParaRPr lang="en-US" sz="950" dirty="0"/>
          </a:p>
        </p:txBody>
      </p:sp>
      <p:sp>
        <p:nvSpPr>
          <p:cNvPr id="63" name="Shape 58"/>
          <p:cNvSpPr/>
          <p:nvPr/>
        </p:nvSpPr>
        <p:spPr>
          <a:xfrm>
            <a:off x="6217920" y="2048256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9"/>
          <p:cNvSpPr/>
          <p:nvPr/>
        </p:nvSpPr>
        <p:spPr>
          <a:xfrm>
            <a:off x="6382512" y="1984248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by user or role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6217920" y="2313432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1"/>
          <p:cNvSpPr/>
          <p:nvPr/>
        </p:nvSpPr>
        <p:spPr>
          <a:xfrm>
            <a:off x="6382512" y="2249424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access suppression</a:t>
            </a:r>
            <a:endParaRPr lang="en-US" sz="900" dirty="0"/>
          </a:p>
        </p:txBody>
      </p:sp>
      <p:sp>
        <p:nvSpPr>
          <p:cNvPr id="67" name="Shape 62"/>
          <p:cNvSpPr/>
          <p:nvPr/>
        </p:nvSpPr>
        <p:spPr>
          <a:xfrm>
            <a:off x="6217920" y="2578608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3"/>
          <p:cNvSpPr/>
          <p:nvPr/>
        </p:nvSpPr>
        <p:spPr>
          <a:xfrm>
            <a:off x="6382512" y="2514600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masking per query context</a:t>
            </a:r>
            <a:endParaRPr lang="en-US" sz="900" dirty="0"/>
          </a:p>
        </p:txBody>
      </p:sp>
      <p:sp>
        <p:nvSpPr>
          <p:cNvPr id="69" name="Shape 64"/>
          <p:cNvSpPr/>
          <p:nvPr/>
        </p:nvSpPr>
        <p:spPr>
          <a:xfrm>
            <a:off x="6217920" y="2843784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5"/>
          <p:cNvSpPr/>
          <p:nvPr/>
        </p:nvSpPr>
        <p:spPr>
          <a:xfrm>
            <a:off x="6382512" y="2779776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Customer-defined data stewards</a:t>
            </a:r>
            <a:endParaRPr lang="en-US" sz="900" dirty="0"/>
          </a:p>
        </p:txBody>
      </p:sp>
      <p:sp>
        <p:nvSpPr>
          <p:cNvPr id="71" name="Shape 66"/>
          <p:cNvSpPr/>
          <p:nvPr/>
        </p:nvSpPr>
        <p:spPr>
          <a:xfrm>
            <a:off x="6217920" y="3108960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7"/>
          <p:cNvSpPr/>
          <p:nvPr/>
        </p:nvSpPr>
        <p:spPr>
          <a:xfrm>
            <a:off x="6382512" y="3044952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permissions from your IdP</a:t>
            </a:r>
            <a:endParaRPr lang="en-US" sz="900" dirty="0"/>
          </a:p>
        </p:txBody>
      </p:sp>
      <p:sp>
        <p:nvSpPr>
          <p:cNvPr id="73" name="Shape 68"/>
          <p:cNvSpPr/>
          <p:nvPr/>
        </p:nvSpPr>
        <p:spPr>
          <a:xfrm>
            <a:off x="6217920" y="3383280"/>
            <a:ext cx="2487168" cy="18288"/>
          </a:xfrm>
          <a:prstGeom prst="rect">
            <a:avLst/>
          </a:prstGeom>
          <a:solidFill>
            <a:srgbClr val="A8CCE8"/>
          </a:solidFill>
          <a:ln w="12700">
            <a:solidFill>
              <a:srgbClr val="A8C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9"/>
          <p:cNvSpPr/>
          <p:nvPr/>
        </p:nvSpPr>
        <p:spPr>
          <a:xfrm>
            <a:off x="6217920" y="3456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 It</a:t>
            </a:r>
            <a:endParaRPr lang="en-US" sz="950" dirty="0"/>
          </a:p>
        </p:txBody>
      </p:sp>
      <p:sp>
        <p:nvSpPr>
          <p:cNvPr id="75" name="Shape 70"/>
          <p:cNvSpPr/>
          <p:nvPr/>
        </p:nvSpPr>
        <p:spPr>
          <a:xfrm>
            <a:off x="6217920" y="3749040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1"/>
          <p:cNvSpPr/>
          <p:nvPr/>
        </p:nvSpPr>
        <p:spPr>
          <a:xfrm>
            <a:off x="6382512" y="369417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provides the tooling — you control who sees what</a:t>
            </a:r>
            <a:endParaRPr lang="en-US" sz="850" dirty="0"/>
          </a:p>
        </p:txBody>
      </p:sp>
      <p:sp>
        <p:nvSpPr>
          <p:cNvPr id="77" name="Shape 72"/>
          <p:cNvSpPr/>
          <p:nvPr/>
        </p:nvSpPr>
        <p:spPr>
          <a:xfrm>
            <a:off x="6217920" y="3986784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3"/>
          <p:cNvSpPr/>
          <p:nvPr/>
        </p:nvSpPr>
        <p:spPr>
          <a:xfrm>
            <a:off x="6382512" y="393192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data for Analyst; show full to DBA</a:t>
            </a:r>
            <a:endParaRPr lang="en-US" sz="850" dirty="0"/>
          </a:p>
        </p:txBody>
      </p:sp>
      <p:sp>
        <p:nvSpPr>
          <p:cNvPr id="79" name="Shape 74"/>
          <p:cNvSpPr/>
          <p:nvPr/>
        </p:nvSpPr>
        <p:spPr>
          <a:xfrm>
            <a:off x="6217920" y="4224528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5"/>
          <p:cNvSpPr/>
          <p:nvPr/>
        </p:nvSpPr>
        <p:spPr>
          <a:xfrm>
            <a:off x="6382512" y="416966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copies — access enforced at query time</a:t>
            </a:r>
            <a:endParaRPr lang="en-US" sz="850" dirty="0"/>
          </a:p>
        </p:txBody>
      </p:sp>
      <p:sp>
        <p:nvSpPr>
          <p:cNvPr id="81" name="Shape 76"/>
          <p:cNvSpPr/>
          <p:nvPr/>
        </p:nvSpPr>
        <p:spPr>
          <a:xfrm>
            <a:off x="6217920" y="4462272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7"/>
          <p:cNvSpPr/>
          <p:nvPr/>
        </p:nvSpPr>
        <p:spPr>
          <a:xfrm>
            <a:off x="6382512" y="4407408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permission change is audit-logged</a:t>
            </a:r>
            <a:endParaRPr lang="en-US" sz="850" dirty="0"/>
          </a:p>
        </p:txBody>
      </p:sp>
      <p:sp>
        <p:nvSpPr>
          <p:cNvPr id="83" name="Text 78"/>
          <p:cNvSpPr/>
          <p:nvPr/>
        </p:nvSpPr>
        <p:spPr>
          <a:xfrm>
            <a:off x="411480" y="47960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enforces classifications via Alation policy tags — and puts the access keys in your hands.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&amp; Tokenization — Your Rules, Our Tooling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Row-level, column-level, and role-aware protection — you decide who sees what, we enforce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749808"/>
          </a:xfrm>
          <a:prstGeom prst="rect">
            <a:avLst/>
          </a:prstGeom>
          <a:solidFill>
            <a:srgbClr val="085CE5">
              <a:alpha val="18000"/>
            </a:srgbClr>
          </a:solidFill>
          <a:ln w="6350">
            <a:solidFill>
              <a:srgbClr val="085CE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441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435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Masking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15087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masked at query time based on user role. Analysts see *** while authorized users see full values. Zero data copies.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" y="2066544"/>
            <a:ext cx="4023360" cy="749808"/>
          </a:xfrm>
          <a:prstGeom prst="rect">
            <a:avLst/>
          </a:prstGeom>
          <a:solidFill>
            <a:srgbClr val="085CE5">
              <a:alpha val="18000"/>
            </a:srgbClr>
          </a:solidFill>
          <a:ln w="6350">
            <a:solidFill>
              <a:srgbClr val="085CE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22199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1214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Masking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68680" y="23865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permanently removed or replaced in Silver layer during transformation. Used for dev/test environments.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" y="2944368"/>
            <a:ext cx="4023360" cy="749808"/>
          </a:xfrm>
          <a:prstGeom prst="rect">
            <a:avLst/>
          </a:prstGeom>
          <a:solidFill>
            <a:srgbClr val="085CE5">
              <a:alpha val="18000"/>
            </a:srgbClr>
          </a:solidFill>
          <a:ln w="6350">
            <a:solidFill>
              <a:srgbClr val="085CE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09981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9992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(PCI / ACH)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68680" y="32644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&amp; ACH account numbers replaced with irreversible tokens per PCI-DSS and Nacha AFDS requirements. Vault-stored — never in the warehouse.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20040" y="3822192"/>
            <a:ext cx="4023360" cy="749808"/>
          </a:xfrm>
          <a:prstGeom prst="rect">
            <a:avLst/>
          </a:prstGeom>
          <a:solidFill>
            <a:srgbClr val="085CE5">
              <a:alpha val="18000"/>
            </a:srgbClr>
          </a:solidFill>
          <a:ln w="6350">
            <a:solidFill>
              <a:srgbClr val="085CE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97764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8770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Format-Preserving Encryption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68680" y="41422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encrypted while preserving format (e.g. 16-digit card length). Downstream systems work without modification.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663440" y="11430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663440" y="1517904"/>
            <a:ext cx="987552" cy="31089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4718304" y="1517904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669280" y="1517904"/>
            <a:ext cx="1664208" cy="31089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724144" y="151790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351776" y="1517904"/>
            <a:ext cx="1481328" cy="31089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7406640" y="151790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663440" y="1828800"/>
            <a:ext cx="4187952" cy="402336"/>
          </a:xfrm>
          <a:prstGeom prst="rect">
            <a:avLst/>
          </a:prstGeom>
          <a:solidFill>
            <a:srgbClr val="0D2B7A"/>
          </a:solidFill>
          <a:ln w="12700">
            <a:solidFill>
              <a:srgbClr val="0D2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4718304" y="18653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724144" y="18653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123-45-6789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351776" y="186537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XXX-XX-6789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663440" y="2286000"/>
            <a:ext cx="4187952" cy="402336"/>
          </a:xfrm>
          <a:prstGeom prst="rect">
            <a:avLst/>
          </a:prstGeom>
          <a:solidFill>
            <a:srgbClr val="0A2060"/>
          </a:solidFill>
          <a:ln w="12700">
            <a:solidFill>
              <a:srgbClr val="0A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4718304" y="23225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5724144" y="2322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4111-1111-1111-1111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351776" y="232257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TKN_cc_7b3d92f1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4663440" y="2743200"/>
            <a:ext cx="4187952" cy="402336"/>
          </a:xfrm>
          <a:prstGeom prst="rect">
            <a:avLst/>
          </a:prstGeom>
          <a:solidFill>
            <a:srgbClr val="0D2B7A"/>
          </a:solidFill>
          <a:ln w="12700">
            <a:solidFill>
              <a:srgbClr val="0D2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4718304" y="27797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5724144" y="27797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jane.doe@jh.com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7351776" y="277977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j***.***@***.com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4663440" y="3200400"/>
            <a:ext cx="4187952" cy="402336"/>
          </a:xfrm>
          <a:prstGeom prst="rect">
            <a:avLst/>
          </a:prstGeom>
          <a:solidFill>
            <a:srgbClr val="0A2060"/>
          </a:solidFill>
          <a:ln w="12700">
            <a:solidFill>
              <a:srgbClr val="0A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4718304" y="32369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5724144" y="32369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Doe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7351776" y="323697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J*** D**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4663440" y="3657600"/>
            <a:ext cx="4187952" cy="402336"/>
          </a:xfrm>
          <a:prstGeom prst="rect">
            <a:avLst/>
          </a:prstGeom>
          <a:solidFill>
            <a:srgbClr val="0D2B7A"/>
          </a:solidFill>
          <a:ln w="12700">
            <a:solidFill>
              <a:srgbClr val="0D2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4718304" y="36941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Expiry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5724144" y="36941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09/27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7351776" y="369417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**/**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4663440" y="4114800"/>
            <a:ext cx="4187952" cy="402336"/>
          </a:xfrm>
          <a:prstGeom prst="rect">
            <a:avLst/>
          </a:prstGeom>
          <a:solidFill>
            <a:srgbClr val="0A2060"/>
          </a:solidFill>
          <a:ln w="12700">
            <a:solidFill>
              <a:srgbClr val="0A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4718304" y="41513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#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5724144" y="41513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00482910-001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7351776" y="415137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TKN_ach_f9c3e817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411480" y="48143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rules per user, role, or team — JHBI enforces them at query time,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— Compliance Built into the Intelligence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Station AI respects every policy, mask, and permission — automatically.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52144"/>
            <a:ext cx="4983480" cy="621792"/>
          </a:xfrm>
          <a:prstGeom prst="rect">
            <a:avLst/>
          </a:prstGeom>
          <a:solidFill>
            <a:srgbClr val="085CE5">
              <a:alpha val="20000"/>
            </a:srgbClr>
          </a:solidFill>
          <a:ln w="6350">
            <a:solidFill>
              <a:srgbClr val="085CE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801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19786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Boundaries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1248" y="143560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queries are scoped to assets a user is permitted to see. Number Station cannot surface data outside their access policy — even via natural language.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" y="1883664"/>
            <a:ext cx="4983480" cy="621792"/>
          </a:xfrm>
          <a:prstGeom prst="rect">
            <a:avLst/>
          </a:prstGeom>
          <a:solidFill>
            <a:srgbClr val="085CE5">
              <a:alpha val="20000"/>
            </a:srgbClr>
          </a:solidFill>
          <a:ln w="6350">
            <a:solidFill>
              <a:srgbClr val="085CE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0116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192938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PII/PCI Always Masked at AI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41248" y="216712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fields are masked before any data reaches the LLM. Users never see raw PII or card data in AI-generated query results.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0040" y="2615184"/>
            <a:ext cx="4983480" cy="621792"/>
          </a:xfrm>
          <a:prstGeom prst="rect">
            <a:avLst/>
          </a:prstGeom>
          <a:solidFill>
            <a:srgbClr val="085CE5">
              <a:alpha val="20000"/>
            </a:srgbClr>
          </a:solidFill>
          <a:ln w="6350">
            <a:solidFill>
              <a:srgbClr val="085CE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74320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248" y="266090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on AI Queries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841248" y="289864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NL→SQL query generated by Number Station is logged — who asked, what was generated, which data was accessed, and when.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20040" y="3346704"/>
            <a:ext cx="4983480" cy="621792"/>
          </a:xfrm>
          <a:prstGeom prst="rect">
            <a:avLst/>
          </a:prstGeom>
          <a:solidFill>
            <a:srgbClr val="085CE5">
              <a:alpha val="20000"/>
            </a:srgbClr>
          </a:solidFill>
          <a:ln w="6350">
            <a:solidFill>
              <a:srgbClr val="085CE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4747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" y="339242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AI Access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41248" y="36301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Station inherits row-level and column-level security from the platform. Analysts get analyst results. Admins get admin results.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20040" y="4078224"/>
            <a:ext cx="4983480" cy="621792"/>
          </a:xfrm>
          <a:prstGeom prst="rect">
            <a:avLst/>
          </a:prstGeom>
          <a:solidFill>
            <a:srgbClr val="085CE5">
              <a:alpha val="20000"/>
            </a:srgbClr>
          </a:solidFill>
          <a:ln w="6350">
            <a:solidFill>
              <a:srgbClr val="085CE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420624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1248" y="412394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Catalog-Grounded Responses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841248" y="436168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are anchored to Alation-certified Gold layer assets only — preventing hallucinations by keeping AI within governed data boundaries.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486400" y="1060704"/>
            <a:ext cx="3337560" cy="3749040"/>
          </a:xfrm>
          <a:prstGeom prst="rect">
            <a:avLst/>
          </a:prstGeom>
          <a:solidFill>
            <a:srgbClr val="085CE5">
              <a:alpha val="12000"/>
            </a:srgbClr>
          </a:solidFill>
          <a:ln w="12700">
            <a:solidFill>
              <a:srgbClr val="085CE5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5623560" y="11704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623560" y="1499616"/>
            <a:ext cx="2743200" cy="3657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5623560" y="1627632"/>
            <a:ext cx="237744" cy="237744"/>
          </a:xfrm>
          <a:prstGeom prst="ellipse">
            <a:avLst/>
          </a:prstGeom>
          <a:solidFill>
            <a:srgbClr val="085CE5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5623560" y="1627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5961888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NL question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961888" y="1783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5623560" y="2194560"/>
            <a:ext cx="237744" cy="237744"/>
          </a:xfrm>
          <a:prstGeom prst="ellipse">
            <a:avLst/>
          </a:prstGeom>
          <a:solidFill>
            <a:srgbClr val="085CE5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5623560" y="2194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961888" y="2167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checks permissions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961888" y="23500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query is built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5623560" y="2761488"/>
            <a:ext cx="237744" cy="237744"/>
          </a:xfrm>
          <a:prstGeom prst="ellipse">
            <a:avLst/>
          </a:prstGeom>
          <a:solidFill>
            <a:srgbClr val="085CE5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5623560" y="2761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961888" y="2734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SQL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5961888" y="29169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over allowed assets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5623560" y="3328416"/>
            <a:ext cx="237744" cy="237744"/>
          </a:xfrm>
          <a:prstGeom prst="ellipse">
            <a:avLst/>
          </a:prstGeom>
          <a:solidFill>
            <a:srgbClr val="085CE5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5623560" y="3328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5961888" y="33009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data returned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5961888" y="34838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never exposed to LLM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623560" y="3895344"/>
            <a:ext cx="237744" cy="237744"/>
          </a:xfrm>
          <a:prstGeom prst="ellipse">
            <a:avLst/>
          </a:prstGeom>
          <a:solidFill>
            <a:srgbClr val="085CE5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5623560" y="3895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5961888" y="3867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logged to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5961888" y="4050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5623560" y="4480560"/>
            <a:ext cx="3063240" cy="164592"/>
          </a:xfrm>
          <a:prstGeom prst="rect">
            <a:avLst/>
          </a:prstGeom>
          <a:solidFill>
            <a:srgbClr val="085CE5">
              <a:alpha val="60000"/>
            </a:srgbClr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5623560" y="448970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knows what it's allowed to know.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Access Logging — Full Traceability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query, every access, every policy event — captured, timestamped, and searchable.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229600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25296"/>
            <a:ext cx="263347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225296"/>
            <a:ext cx="109728" cy="159105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71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3502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Accessed What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773936"/>
            <a:ext cx="2313432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1847088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asset access is logged — user identity, timestamp, asset path, and query text captured in full.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45536" y="1225296"/>
            <a:ext cx="263347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45536" y="1225296"/>
            <a:ext cx="109728" cy="159105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3716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03904" y="133502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Event Log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46704" y="1773936"/>
            <a:ext cx="2313432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346704" y="1847088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attach, detach, or modification is recorded with before/after state and responsible user.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43600" y="1225296"/>
            <a:ext cx="263347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943600" y="1225296"/>
            <a:ext cx="109728" cy="159105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3716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01968" y="133502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Access Alerts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44768" y="1773936"/>
            <a:ext cx="2313432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144768" y="1847088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when PII or PCI columns are accessed outside approved roles or unexpected query patterns detected.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47472" y="3017520"/>
            <a:ext cx="263347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47472" y="3017520"/>
            <a:ext cx="109728" cy="1591056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163824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05840" y="31272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History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3566160"/>
            <a:ext cx="2313432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548640" y="3639312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data is append-only and tamper-evident. Alation maintains the chain of custody for compliance and legal hold.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145536" y="3017520"/>
            <a:ext cx="263347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145536" y="3017520"/>
            <a:ext cx="109728" cy="159105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163824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03904" y="31272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 Reports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46704" y="3566160"/>
            <a:ext cx="2313432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3346704" y="3639312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audit reports formatted for regulatory review (NCUA, FFIEC, SOX). Export to PDF in one click.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5943600" y="3017520"/>
            <a:ext cx="263347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5943600" y="3017520"/>
            <a:ext cx="109728" cy="159105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163824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01968" y="31272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&amp; Monitoring Integration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144768" y="3566160"/>
            <a:ext cx="2313432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6144768" y="3639312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events stream to your SIEM (Splunk, DataDog, etc.) via API — security teams get real-time visibility.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411480" y="47960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makes audit readiness a continuous state — not a quarterly scramble.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5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16168" y="-9144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45936" y="-9144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75704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05472" y="-9144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0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16168" y="42976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45936" y="42976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75704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05472" y="42976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0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16168" y="95097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45936" y="95097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75704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05472" y="95097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0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16168" y="147218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45936" y="147218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75704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05472" y="147218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0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16168" y="199339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45936" y="199339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75704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05472" y="199339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0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16168" y="251460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45936" y="251460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75704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05472" y="251460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0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16168" y="303580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45936" y="303580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75704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05472" y="303580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6400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16168" y="355701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45936" y="355701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775704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205472" y="355701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86400" y="407822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916168" y="407822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45936" y="407822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75704" y="407822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205472" y="407822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86400" y="459943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16168" y="459943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45936" y="459943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775704" y="459943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205472" y="459943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" y="438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03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84048" y="86868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Alation</a:t>
            </a:r>
            <a:endParaRPr lang="en-US" sz="5200" dirty="0"/>
          </a:p>
        </p:txBody>
      </p:sp>
      <p:sp>
        <p:nvSpPr>
          <p:cNvPr id="56" name="Shape 54"/>
          <p:cNvSpPr/>
          <p:nvPr/>
        </p:nvSpPr>
        <p:spPr>
          <a:xfrm>
            <a:off x="384048" y="2377440"/>
            <a:ext cx="2194560" cy="54864"/>
          </a:xfrm>
          <a:prstGeom prst="rect">
            <a:avLst/>
          </a:prstGeom>
          <a:solidFill>
            <a:srgbClr val="76DCFD">
              <a:alpha val="70000"/>
            </a:srgbClr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84048" y="25420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trace, and collaborate on every data asset.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384048" y="3218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section: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84048" y="3639312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85216" y="360273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 &amp; Discovery — find trusted data, fast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84048" y="405993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85216" y="40233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Lineage, Collaboration &amp; Number Station AI — live demos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4920" cy="51435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21208" y="0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0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" y="521208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" y="521208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521208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" y="1042416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" y="1042416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0976" y="1042416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" y="1563624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1208" y="1563624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0976" y="1563624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" y="2084832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" y="2084832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" y="2084832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" y="2606040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1208" y="2606040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0976" y="2606040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" y="3127248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1208" y="3127248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0976" y="3127248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" y="3648456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1208" y="3648456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" y="3648456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" y="4169664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1208" y="4169664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" y="4169664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4048" y="384048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76DCF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66928" cy="56692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84048" y="1353312"/>
            <a:ext cx="4526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Discovery</a:t>
            </a:r>
            <a:endParaRPr lang="en-US" sz="3400" dirty="0"/>
          </a:p>
        </p:txBody>
      </p:sp>
      <p:sp>
        <p:nvSpPr>
          <p:cNvPr id="33" name="Shape 30"/>
          <p:cNvSpPr/>
          <p:nvPr/>
        </p:nvSpPr>
        <p:spPr>
          <a:xfrm>
            <a:off x="384048" y="2432304"/>
            <a:ext cx="1645920" cy="50292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84048" y="25603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trusted data, fast.</a:t>
            </a:r>
            <a:endParaRPr lang="en-US" sz="1550" dirty="0"/>
          </a:p>
        </p:txBody>
      </p:sp>
      <p:sp>
        <p:nvSpPr>
          <p:cNvPr id="35" name="Shape 32"/>
          <p:cNvSpPr/>
          <p:nvPr/>
        </p:nvSpPr>
        <p:spPr>
          <a:xfrm>
            <a:off x="384048" y="31089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76072" y="30358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catalog spanning databases, lakes, BI tools &amp; APIs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84048" y="35661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76072" y="34930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with auto-complete, faceted filters &amp; relevance ranking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84048" y="40233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76072" y="39502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glossary with certified definitions &amp; steward assignments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84048" y="44805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76072" y="44074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 — see who uses what, and how often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FEFDF8"/>
          </a:solidFill>
          <a:ln w="12700">
            <a:solidFill>
              <a:srgbClr val="FEF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5257800" y="256032"/>
            <a:ext cx="1417320" cy="3474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257800" y="256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257800" y="749808"/>
            <a:ext cx="3675888" cy="2633472"/>
          </a:xfrm>
          <a:prstGeom prst="rect">
            <a:avLst/>
          </a:prstGeom>
          <a:solidFill>
            <a:srgbClr val="06185F">
              <a:alpha val="96000"/>
            </a:srgbClr>
          </a:solidFill>
          <a:ln w="25400">
            <a:solidFill>
              <a:srgbClr val="06185F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5394960" y="841248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5577840" y="841248"/>
            <a:ext cx="109728" cy="109728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5760720" y="84124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257800" y="1536192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Alation Platform ]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5257800" y="1965960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5257800" y="3547872"/>
            <a:ext cx="3675888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257800" y="363931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in this demo: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257800" y="3931920"/>
            <a:ext cx="3675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search for 'customer revenue' data assets, explore the business glossary, and show how trust indicators surface the right data — instantly.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4920" cy="514350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21208" y="0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0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" y="521208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" y="521208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521208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" y="1042416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" y="1042416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0976" y="1042416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" y="1563624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1208" y="1563624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0976" y="1563624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" y="2084832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" y="2084832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" y="2084832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" y="2606040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1208" y="2606040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0976" y="2606040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" y="3127248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1208" y="3127248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0976" y="3127248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" y="3648456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1208" y="3648456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" y="3648456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" y="4169664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1208" y="4169664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" y="4169664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4048" y="384048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76DCF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66928" cy="56692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84048" y="1353312"/>
            <a:ext cx="4526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3400" dirty="0"/>
          </a:p>
        </p:txBody>
      </p:sp>
      <p:sp>
        <p:nvSpPr>
          <p:cNvPr id="33" name="Shape 30"/>
          <p:cNvSpPr/>
          <p:nvPr/>
        </p:nvSpPr>
        <p:spPr>
          <a:xfrm>
            <a:off x="384048" y="2432304"/>
            <a:ext cx="1645920" cy="50292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84048" y="25603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rules. Enforce them at scale.</a:t>
            </a:r>
            <a:endParaRPr lang="en-US" sz="1550" dirty="0"/>
          </a:p>
        </p:txBody>
      </p:sp>
      <p:sp>
        <p:nvSpPr>
          <p:cNvPr id="35" name="Shape 32"/>
          <p:cNvSpPr/>
          <p:nvPr/>
        </p:nvSpPr>
        <p:spPr>
          <a:xfrm>
            <a:off x="384048" y="31089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76072" y="30358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policies tied to data classifications: PII, PCI, SOX, NCUA, FFIEC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84048" y="35661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76072" y="34930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policy enforcement at the data access layer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84048" y="40233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76072" y="39502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— who accessed what, when, and under which policy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84048" y="44805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76072" y="44074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dashboards ready for regulatory review in one click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FEFDF8"/>
          </a:solidFill>
          <a:ln w="12700">
            <a:solidFill>
              <a:srgbClr val="FEF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5257800" y="256032"/>
            <a:ext cx="1417320" cy="3474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257800" y="256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257800" y="749808"/>
            <a:ext cx="3675888" cy="2633472"/>
          </a:xfrm>
          <a:prstGeom prst="rect">
            <a:avLst/>
          </a:prstGeom>
          <a:solidFill>
            <a:srgbClr val="06185F">
              <a:alpha val="96000"/>
            </a:srgbClr>
          </a:solidFill>
          <a:ln w="25400">
            <a:solidFill>
              <a:srgbClr val="06185F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5394960" y="841248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5577840" y="841248"/>
            <a:ext cx="109728" cy="109728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5760720" y="84124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257800" y="1536192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Alation Platform ]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5257800" y="1965960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5257800" y="3547872"/>
            <a:ext cx="3675888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257800" y="363931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in this demo: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257800" y="3931920"/>
            <a:ext cx="3675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classify a sensitive dataset as PII, attach a governance policy, and walk through the automated enforcement workflow — no code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4920" cy="51435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21208" y="0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0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" y="521208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" y="521208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521208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" y="1042416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" y="1042416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0976" y="1042416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" y="1563624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1208" y="1563624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0976" y="1563624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" y="2084832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" y="2084832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" y="2084832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" y="2606040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1208" y="2606040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0976" y="2606040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" y="3127248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1208" y="3127248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0976" y="3127248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" y="3648456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1208" y="3648456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" y="3648456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" y="4169664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1208" y="4169664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" y="4169664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4048" y="384048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76DCF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66928" cy="56692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84048" y="1353312"/>
            <a:ext cx="4526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Trust Flags</a:t>
            </a:r>
            <a:endParaRPr lang="en-US" sz="3400" dirty="0"/>
          </a:p>
        </p:txBody>
      </p:sp>
      <p:sp>
        <p:nvSpPr>
          <p:cNvPr id="33" name="Shape 30"/>
          <p:cNvSpPr/>
          <p:nvPr/>
        </p:nvSpPr>
        <p:spPr>
          <a:xfrm>
            <a:off x="384048" y="2432304"/>
            <a:ext cx="1645920" cy="50292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84048" y="25603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byte. Trust every result.</a:t>
            </a:r>
            <a:endParaRPr lang="en-US" sz="1550" dirty="0"/>
          </a:p>
        </p:txBody>
      </p:sp>
      <p:sp>
        <p:nvSpPr>
          <p:cNvPr id="35" name="Shape 32"/>
          <p:cNvSpPr/>
          <p:nvPr/>
        </p:nvSpPr>
        <p:spPr>
          <a:xfrm>
            <a:off x="384048" y="31089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76072" y="30358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lineage from source system to executive dashboard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84048" y="35661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76072" y="34930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lineage for granular impact analysis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84048" y="40233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76072" y="39502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flags: Endorsed ✓  ·  Warned ⚠  ·  Deprecated ✗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84048" y="44805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76072" y="44074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— know downstream effects before making changes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FEFDF8"/>
          </a:solidFill>
          <a:ln w="12700">
            <a:solidFill>
              <a:srgbClr val="FEF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5257800" y="256032"/>
            <a:ext cx="1417320" cy="3474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257800" y="256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257800" y="749808"/>
            <a:ext cx="3675888" cy="2633472"/>
          </a:xfrm>
          <a:prstGeom prst="rect">
            <a:avLst/>
          </a:prstGeom>
          <a:solidFill>
            <a:srgbClr val="06185F">
              <a:alpha val="96000"/>
            </a:srgbClr>
          </a:solidFill>
          <a:ln w="25400">
            <a:solidFill>
              <a:srgbClr val="06185F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5394960" y="841248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5577840" y="841248"/>
            <a:ext cx="109728" cy="109728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5760720" y="84124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257800" y="1536192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Alation Platform ]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5257800" y="1965960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5257800" y="3547872"/>
            <a:ext cx="3675888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257800" y="363931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in this demo: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257800" y="3931920"/>
            <a:ext cx="3675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trace a revenue metric from raw source tables through all medallion layers to a Power BI dashboard, then apply a trust flag live.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4920" cy="514350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21208" y="0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0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" y="521208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" y="521208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521208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" y="1042416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" y="1042416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0976" y="1042416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" y="1563624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1208" y="1563624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0976" y="1563624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" y="2084832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" y="2084832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" y="2084832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" y="2606040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1208" y="2606040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0976" y="2606040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" y="3127248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1208" y="3127248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0976" y="3127248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" y="3648456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1208" y="3648456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" y="3648456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" y="4169664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1208" y="4169664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" y="4169664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4048" y="384048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76DCF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66928" cy="56692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84048" y="1353312"/>
            <a:ext cx="4526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Curation</a:t>
            </a:r>
            <a:endParaRPr lang="en-US" sz="3400" dirty="0"/>
          </a:p>
        </p:txBody>
      </p:sp>
      <p:sp>
        <p:nvSpPr>
          <p:cNvPr id="33" name="Shape 30"/>
          <p:cNvSpPr/>
          <p:nvPr/>
        </p:nvSpPr>
        <p:spPr>
          <a:xfrm>
            <a:off x="384048" y="2432304"/>
            <a:ext cx="1645920" cy="50292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84048" y="25603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that grows with your team.</a:t>
            </a:r>
            <a:endParaRPr lang="en-US" sz="1550" dirty="0"/>
          </a:p>
        </p:txBody>
      </p:sp>
      <p:sp>
        <p:nvSpPr>
          <p:cNvPr id="35" name="Shape 32"/>
          <p:cNvSpPr/>
          <p:nvPr/>
        </p:nvSpPr>
        <p:spPr>
          <a:xfrm>
            <a:off x="384048" y="31089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76072" y="30358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threads directly on data assets — no Slack silos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84048" y="35661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76072" y="34930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Wiki-style descriptions authored and maintained by data stewards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84048" y="40233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76072" y="39502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on datasets captures institutional knowledge permanently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84048" y="44805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76072" y="44074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nudges to curate high-traffic but undocumented assets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FEFDF8"/>
          </a:solidFill>
          <a:ln w="12700">
            <a:solidFill>
              <a:srgbClr val="FEF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5257800" y="256032"/>
            <a:ext cx="1417320" cy="3474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257800" y="256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257800" y="749808"/>
            <a:ext cx="3675888" cy="2633472"/>
          </a:xfrm>
          <a:prstGeom prst="rect">
            <a:avLst/>
          </a:prstGeom>
          <a:solidFill>
            <a:srgbClr val="06185F">
              <a:alpha val="96000"/>
            </a:srgbClr>
          </a:solidFill>
          <a:ln w="25400">
            <a:solidFill>
              <a:srgbClr val="06185F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5394960" y="841248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5577840" y="841248"/>
            <a:ext cx="109728" cy="109728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5760720" y="84124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257800" y="1536192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Alation Platform ]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5257800" y="1965960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5257800" y="3547872"/>
            <a:ext cx="3675888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257800" y="363931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in this demo: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257800" y="3931920"/>
            <a:ext cx="3675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post a question on a dataset, watch a steward respond, and show how curation activity flows into the catalog's trust score.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4920" cy="51435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21208" y="0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0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" y="521208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" y="521208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521208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" y="1042416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" y="1042416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0976" y="1042416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" y="1563624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1208" y="1563624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0976" y="1563624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" y="2084832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" y="2084832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" y="2084832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" y="2606040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1208" y="2606040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0976" y="2606040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" y="3127248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1208" y="3127248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0976" y="3127248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" y="3648456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1208" y="3648456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" y="3648456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" y="4169664"/>
            <a:ext cx="3657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1208" y="4169664"/>
            <a:ext cx="365760" cy="457200"/>
          </a:xfrm>
          <a:prstGeom prst="rect">
            <a:avLst/>
          </a:prstGeom>
          <a:solidFill>
            <a:srgbClr val="FFFFFF">
              <a:alpha val="22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" y="4169664"/>
            <a:ext cx="365760" cy="457200"/>
          </a:xfrm>
          <a:prstGeom prst="rect">
            <a:avLst/>
          </a:prstGeom>
          <a:solidFill>
            <a:srgbClr val="FFFFFF">
              <a:alpha val="14000"/>
            </a:srgbClr>
          </a:solidFill>
          <a:ln w="508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4048" y="384048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76DCF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66928" cy="56692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84048" y="1353312"/>
            <a:ext cx="4526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Station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3400" dirty="0"/>
          </a:p>
        </p:txBody>
      </p:sp>
      <p:sp>
        <p:nvSpPr>
          <p:cNvPr id="33" name="Shape 30"/>
          <p:cNvSpPr/>
          <p:nvPr/>
        </p:nvSpPr>
        <p:spPr>
          <a:xfrm>
            <a:off x="384048" y="2432304"/>
            <a:ext cx="1645920" cy="50292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84048" y="25603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English. Get answers in seconds.</a:t>
            </a:r>
            <a:endParaRPr lang="en-US" sz="1550" dirty="0"/>
          </a:p>
        </p:txBody>
      </p:sp>
      <p:sp>
        <p:nvSpPr>
          <p:cNvPr id="35" name="Shape 32"/>
          <p:cNvSpPr/>
          <p:nvPr/>
        </p:nvSpPr>
        <p:spPr>
          <a:xfrm>
            <a:off x="384048" y="31089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76072" y="30358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SQL — ask business questions, get working queries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84048" y="35661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76072" y="34930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data discovery surfaces relevant Gold layer assets automatically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84048" y="40233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76072" y="39502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metadata suggestions based on historical usage patterns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84048" y="44805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76072" y="4407408"/>
            <a:ext cx="4315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 from your organization's best analysts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FEFDF8"/>
          </a:solidFill>
          <a:ln w="12700">
            <a:solidFill>
              <a:srgbClr val="FEF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5257800" y="256032"/>
            <a:ext cx="1417320" cy="3474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257800" y="256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257800" y="749808"/>
            <a:ext cx="3675888" cy="2633472"/>
          </a:xfrm>
          <a:prstGeom prst="rect">
            <a:avLst/>
          </a:prstGeom>
          <a:solidFill>
            <a:srgbClr val="06185F">
              <a:alpha val="96000"/>
            </a:srgbClr>
          </a:solidFill>
          <a:ln w="25400">
            <a:solidFill>
              <a:srgbClr val="06185F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5394960" y="841248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5577840" y="841248"/>
            <a:ext cx="109728" cy="109728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5760720" y="84124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257800" y="1536192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Alation Platform ]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5257800" y="1965960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5257800" y="3547872"/>
            <a:ext cx="3675888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257800" y="363931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in this demo: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257800" y="3931920"/>
            <a:ext cx="3675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ask 'What were our top revenue products last quarter by region?' and watch Number Station generate, explain, and execute the query — zero SQL.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1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Flywheel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strengthens the others,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self-reinforcing cycle of data trust.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together: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202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892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provides the foundation of knowledge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4688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441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enforces standards automatically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1752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2990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reveals how data flows &amp; transforms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56616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7240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keeps knowledge alive &amp; current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11480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7240" y="4087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it all accessible to every user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5166360" y="1371600"/>
            <a:ext cx="2834640" cy="2834640"/>
          </a:xfrm>
          <a:prstGeom prst="ellipse">
            <a:avLst/>
          </a:prstGeom>
          <a:solidFill>
            <a:srgbClr val="085CE5">
              <a:alpha val="5000"/>
            </a:srgbClr>
          </a:solidFill>
          <a:ln w="19050">
            <a:solidFill>
              <a:srgbClr val="085CE5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5742432" y="1947672"/>
            <a:ext cx="1682496" cy="1682496"/>
          </a:xfrm>
          <a:prstGeom prst="ellipse">
            <a:avLst/>
          </a:prstGeom>
          <a:solidFill>
            <a:srgbClr val="085CE5"/>
          </a:solidFill>
          <a:ln w="254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5742432" y="224028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016752" y="804672"/>
            <a:ext cx="1133856" cy="1133856"/>
          </a:xfrm>
          <a:prstGeom prst="ellipse">
            <a:avLst/>
          </a:prstGeom>
          <a:solidFill>
            <a:srgbClr val="06185F">
              <a:alpha val="95000"/>
            </a:srgbClr>
          </a:solidFill>
          <a:ln w="254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868680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16752" y="1316736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Discovery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7364703" y="1784016"/>
            <a:ext cx="1133856" cy="1133856"/>
          </a:xfrm>
          <a:prstGeom prst="ellipse">
            <a:avLst/>
          </a:prstGeom>
          <a:solidFill>
            <a:srgbClr val="06185F">
              <a:alpha val="95000"/>
            </a:srgbClr>
          </a:solidFill>
          <a:ln w="254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2175" y="1848024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364703" y="2296080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850" dirty="0"/>
          </a:p>
        </p:txBody>
      </p:sp>
      <p:sp>
        <p:nvSpPr>
          <p:cNvPr id="25" name="Shape 16"/>
          <p:cNvSpPr/>
          <p:nvPr/>
        </p:nvSpPr>
        <p:spPr>
          <a:xfrm>
            <a:off x="6849832" y="3368628"/>
            <a:ext cx="1133856" cy="1133856"/>
          </a:xfrm>
          <a:prstGeom prst="ellipse">
            <a:avLst/>
          </a:prstGeom>
          <a:solidFill>
            <a:srgbClr val="06185F">
              <a:alpha val="95000"/>
            </a:srgbClr>
          </a:solidFill>
          <a:ln w="254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7304" y="3432636"/>
            <a:ext cx="438912" cy="43891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49832" y="3880692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Trust</a:t>
            </a:r>
            <a:endParaRPr lang="en-US" sz="850" dirty="0"/>
          </a:p>
        </p:txBody>
      </p:sp>
      <p:sp>
        <p:nvSpPr>
          <p:cNvPr id="28" name="Shape 18"/>
          <p:cNvSpPr/>
          <p:nvPr/>
        </p:nvSpPr>
        <p:spPr>
          <a:xfrm>
            <a:off x="5183672" y="3368628"/>
            <a:ext cx="1133856" cy="1133856"/>
          </a:xfrm>
          <a:prstGeom prst="ellipse">
            <a:avLst/>
          </a:prstGeom>
          <a:solidFill>
            <a:srgbClr val="06185F">
              <a:alpha val="95000"/>
            </a:srgbClr>
          </a:solidFill>
          <a:ln w="254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31144" y="3432636"/>
            <a:ext cx="438912" cy="43891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83672" y="3880692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Curation</a:t>
            </a:r>
            <a:endParaRPr lang="en-US" sz="850" dirty="0"/>
          </a:p>
        </p:txBody>
      </p:sp>
      <p:sp>
        <p:nvSpPr>
          <p:cNvPr id="31" name="Shape 20"/>
          <p:cNvSpPr/>
          <p:nvPr/>
        </p:nvSpPr>
        <p:spPr>
          <a:xfrm>
            <a:off x="4668801" y="1784016"/>
            <a:ext cx="1133856" cy="1133856"/>
          </a:xfrm>
          <a:prstGeom prst="ellipse">
            <a:avLst/>
          </a:prstGeom>
          <a:solidFill>
            <a:srgbClr val="06185F">
              <a:alpha val="95000"/>
            </a:srgbClr>
          </a:solidFill>
          <a:ln w="254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6273" y="1848024"/>
            <a:ext cx="438912" cy="43891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668801" y="2296080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AI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to your governed, insight-driven, compliant data future.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274320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2743200" cy="1188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1316736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12064" y="1865376"/>
            <a:ext cx="2423160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19202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Access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" y="235915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access request through the JHBI Data Portal. Our team will provision your Alation account and Power BI workspace within 2 business days.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" y="3913632"/>
            <a:ext cx="2423160" cy="347472"/>
          </a:xfrm>
          <a:prstGeom prst="rect">
            <a:avLst/>
          </a:prstGeom>
          <a:solidFill>
            <a:srgbClr val="E8F7F7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" y="3913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data.jhbi.com/access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73552" y="1170432"/>
            <a:ext cx="274320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1170432"/>
            <a:ext cx="2743200" cy="1188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1316736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3438144" y="1865376"/>
            <a:ext cx="2423160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38144" y="19202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Onboarding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38144" y="235915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30-minute Alation orientation course covering catalog navigation, trust flags, policies, data lineage, and how to curate your first data assets.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38144" y="3913632"/>
            <a:ext cx="2423160" cy="347472"/>
          </a:xfrm>
          <a:prstGeom prst="rect">
            <a:avLst/>
          </a:prstGeom>
          <a:solidFill>
            <a:srgbClr val="E8F7F7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38144" y="3913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self-paced course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99632" y="1170432"/>
            <a:ext cx="274320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99632" y="1170432"/>
            <a:ext cx="2743200" cy="1188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64224" y="1316736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364224" y="1865376"/>
            <a:ext cx="2423160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64224" y="19202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Collaborating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64224" y="235915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Gold layer for your team's certified data assets, endorse what you trust, document what you know, and ask Number Station your first business question.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64224" y="3913632"/>
            <a:ext cx="2423160" cy="347472"/>
          </a:xfrm>
          <a:prstGeom prst="rect">
            <a:avLst/>
          </a:prstGeom>
          <a:solidFill>
            <a:srgbClr val="E8F7F7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64224" y="3913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data.jhbi.com/catalog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41164"/>
            <a:ext cx="9144000" cy="40233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the JHBI Data &amp; Analytics Team  ·  data-analytics@jhbi.com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1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3816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43584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45720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3816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43584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45720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3816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43584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45720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3816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43584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-45720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3816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43584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-45720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3816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243584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-45720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048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3816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243584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-45720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4048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3816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243584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-45720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84048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13816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243584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-45720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84048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13816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243584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903720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333488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763256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193024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903720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333488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763256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193024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903720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333488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763256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193024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903720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333488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763256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193024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903720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333488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763256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193024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903720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333488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763256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193024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903720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333488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763256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193024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903720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333488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763256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193024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903720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333488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7763256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193024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903720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333488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763256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193024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965960" y="0"/>
            <a:ext cx="5212080" cy="514350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2103120" y="4572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kern="0" spc="14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5000" dirty="0"/>
          </a:p>
        </p:txBody>
      </p:sp>
      <p:sp>
        <p:nvSpPr>
          <p:cNvPr id="85" name="Text 83"/>
          <p:cNvSpPr/>
          <p:nvPr/>
        </p:nvSpPr>
        <p:spPr>
          <a:xfrm>
            <a:off x="2103120" y="117043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6" name="Shape 84"/>
          <p:cNvSpPr/>
          <p:nvPr/>
        </p:nvSpPr>
        <p:spPr>
          <a:xfrm>
            <a:off x="3200400" y="1993392"/>
            <a:ext cx="2743200" cy="457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2103120" y="21488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Insight. Engineered for Compliance.</a:t>
            </a:r>
            <a:endParaRPr lang="en-US" sz="1450" dirty="0"/>
          </a:p>
        </p:txBody>
      </p:sp>
      <p:sp>
        <p:nvSpPr>
          <p:cNvPr id="88" name="Text 86"/>
          <p:cNvSpPr/>
          <p:nvPr/>
        </p:nvSpPr>
        <p:spPr>
          <a:xfrm>
            <a:off x="2651760" y="2907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anytime: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265176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data-analytics@jhbi.com  ·  data.jhbi.com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2240280" y="4160520"/>
            <a:ext cx="1645920" cy="292608"/>
          </a:xfrm>
          <a:prstGeom prst="rect">
            <a:avLst/>
          </a:prstGeom>
          <a:solidFill>
            <a:srgbClr val="085CE5">
              <a:alpha val="40000"/>
            </a:srgbClr>
          </a:solidFill>
          <a:ln w="6350">
            <a:solidFill>
              <a:srgbClr val="085CE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240280" y="4160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Built for Insight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032504" y="4160520"/>
            <a:ext cx="2286000" cy="292608"/>
          </a:xfrm>
          <a:prstGeom prst="rect">
            <a:avLst/>
          </a:prstGeom>
          <a:solidFill>
            <a:srgbClr val="085CE5">
              <a:alpha val="40000"/>
            </a:srgbClr>
          </a:solidFill>
          <a:ln w="6350">
            <a:solidFill>
              <a:srgbClr val="085CE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032504" y="4160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Engineered for Compliance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464808" y="4160520"/>
            <a:ext cx="1737360" cy="292608"/>
          </a:xfrm>
          <a:prstGeom prst="rect">
            <a:avLst/>
          </a:prstGeom>
          <a:solidFill>
            <a:srgbClr val="085CE5">
              <a:alpha val="40000"/>
            </a:srgbClr>
          </a:solidFill>
          <a:ln w="6350">
            <a:solidFill>
              <a:srgbClr val="085CE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6464808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Governed by Alation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18288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Data &amp; Analytics  ·  Data as a Service  ·  Powered by Alation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2567</Words>
  <Application>Microsoft Macintosh PowerPoint</Application>
  <PresentationFormat>On-screen Show (16:9)</PresentationFormat>
  <Paragraphs>429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Built for Insight. Engineered for Compliance.</dc:title>
  <dc:subject>PptxGenJS Presentation</dc:subject>
  <dc:creator>JHBI Data &amp; Analytics</dc:creator>
  <cp:lastModifiedBy>Mike Ames</cp:lastModifiedBy>
  <cp:revision>1</cp:revision>
  <dcterms:created xsi:type="dcterms:W3CDTF">2026-05-14T12:31:58Z</dcterms:created>
  <dcterms:modified xsi:type="dcterms:W3CDTF">2026-05-14T12:59:20Z</dcterms:modified>
</cp:coreProperties>
</file>